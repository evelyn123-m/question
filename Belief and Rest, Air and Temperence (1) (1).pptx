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87" r:id="rId22"/>
    <p:sldId id="275" r:id="rId23"/>
    <p:sldId id="277" r:id="rId24"/>
    <p:sldId id="278" r:id="rId25"/>
    <p:sldId id="279" r:id="rId26"/>
    <p:sldId id="280" r:id="rId27"/>
    <p:sldId id="283" r:id="rId28"/>
    <p:sldId id="284" r:id="rId29"/>
    <p:sldId id="285" r:id="rId30"/>
    <p:sldId id="286" r:id="rId31"/>
    <p:sldId id="281"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282" r:id="rId60"/>
    <p:sldId id="315"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9419959-832A-423E-906C-3F4B3203E2FD}" type="datetimeFigureOut">
              <a:rPr lang="en-US" smtClean="0"/>
              <a:t>6/28/25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FAB77F46-FCD5-4FEF-B933-323D646506F6}"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35665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419959-832A-423E-906C-3F4B3203E2FD}" type="datetimeFigureOut">
              <a:rPr lang="en-US" smtClean="0"/>
              <a:t>6/28/25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77F46-FCD5-4FEF-B933-323D646506F6}"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06285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419959-832A-423E-906C-3F4B3203E2FD}" type="datetimeFigureOut">
              <a:rPr lang="en-US" smtClean="0"/>
              <a:t>6/28/25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77F46-FCD5-4FEF-B933-323D646506F6}"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00673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419959-832A-423E-906C-3F4B3203E2FD}" type="datetimeFigureOut">
              <a:rPr lang="en-US" smtClean="0"/>
              <a:t>6/28/25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77F46-FCD5-4FEF-B933-323D646506F6}"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13954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419959-832A-423E-906C-3F4B3203E2FD}" type="datetimeFigureOut">
              <a:rPr lang="en-US" smtClean="0"/>
              <a:t>6/28/25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B77F46-FCD5-4FEF-B933-323D646506F6}"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96867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419959-832A-423E-906C-3F4B3203E2FD}" type="datetimeFigureOut">
              <a:rPr lang="en-US" smtClean="0"/>
              <a:t>6/28/25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B77F46-FCD5-4FEF-B933-323D646506F6}"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31630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419959-832A-423E-906C-3F4B3203E2FD}" type="datetimeFigureOut">
              <a:rPr lang="en-US" smtClean="0"/>
              <a:t>6/28/25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B77F46-FCD5-4FEF-B933-323D646506F6}" type="slidenum">
              <a:rPr lang="en-US" smtClean="0"/>
              <a:t>‹#›</a:t>
            </a:fld>
            <a:endParaRPr lang="en-US"/>
          </a:p>
        </p:txBody>
      </p:sp>
    </p:spTree>
    <p:extLst>
      <p:ext uri="{BB962C8B-B14F-4D97-AF65-F5344CB8AC3E}">
        <p14:creationId xmlns:p14="http://schemas.microsoft.com/office/powerpoint/2010/main" val="373816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419959-832A-423E-906C-3F4B3203E2FD}" type="datetimeFigureOut">
              <a:rPr lang="en-US" smtClean="0"/>
              <a:t>6/28/25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77F46-FCD5-4FEF-B933-323D646506F6}"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21766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C9419959-832A-423E-906C-3F4B3203E2FD}" type="datetimeFigureOut">
              <a:rPr lang="en-US" smtClean="0"/>
              <a:t>6/28/25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FAB77F46-FCD5-4FEF-B933-323D646506F6}"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66241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419959-832A-423E-906C-3F4B3203E2FD}" type="datetimeFigureOut">
              <a:rPr lang="en-US" smtClean="0"/>
              <a:t>6/28/25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77F46-FCD5-4FEF-B933-323D646506F6}"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54754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419959-832A-423E-906C-3F4B3203E2FD}" type="datetimeFigureOut">
              <a:rPr lang="en-US" smtClean="0"/>
              <a:t>6/28/25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77F46-FCD5-4FEF-B933-323D646506F6}"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74533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C9419959-832A-423E-906C-3F4B3203E2FD}" type="datetimeFigureOut">
              <a:rPr lang="en-US" smtClean="0"/>
              <a:t>6/28/25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FAB77F46-FCD5-4FEF-B933-323D646506F6}"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63271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0A986-25D6-2368-381D-B506A4C38935}"/>
              </a:ext>
            </a:extLst>
          </p:cNvPr>
          <p:cNvSpPr>
            <a:spLocks noGrp="1"/>
          </p:cNvSpPr>
          <p:nvPr>
            <p:ph type="ctrTitle"/>
          </p:nvPr>
        </p:nvSpPr>
        <p:spPr/>
        <p:txBody>
          <a:bodyPr/>
          <a:lstStyle/>
          <a:p>
            <a:r>
              <a:rPr lang="en-US" dirty="0"/>
              <a:t>Belief </a:t>
            </a:r>
          </a:p>
        </p:txBody>
      </p:sp>
    </p:spTree>
    <p:extLst>
      <p:ext uri="{BB962C8B-B14F-4D97-AF65-F5344CB8AC3E}">
        <p14:creationId xmlns:p14="http://schemas.microsoft.com/office/powerpoint/2010/main" val="2474550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D030C-7437-0180-B6DB-20A19DD15CF3}"/>
              </a:ext>
            </a:extLst>
          </p:cNvPr>
          <p:cNvSpPr>
            <a:spLocks noGrp="1"/>
          </p:cNvSpPr>
          <p:nvPr>
            <p:ph type="title"/>
          </p:nvPr>
        </p:nvSpPr>
        <p:spPr/>
        <p:txBody>
          <a:bodyPr/>
          <a:lstStyle/>
          <a:p>
            <a:pPr algn="ctr"/>
            <a:br>
              <a:rPr lang="en-US" dirty="0"/>
            </a:br>
            <a:r>
              <a:rPr lang="en-US" b="1" dirty="0">
                <a:solidFill>
                  <a:srgbClr val="FF0000"/>
                </a:solidFill>
              </a:rPr>
              <a:t>belief (</a:t>
            </a:r>
            <a:r>
              <a:rPr lang="en-US" b="0" i="0" dirty="0">
                <a:solidFill>
                  <a:srgbClr val="000000"/>
                </a:solidFill>
                <a:effectLst/>
                <a:latin typeface="system-ui"/>
              </a:rPr>
              <a:t>Hebrews 11:30</a:t>
            </a:r>
            <a:r>
              <a:rPr lang="en-US" b="1" dirty="0">
                <a:solidFill>
                  <a:srgbClr val="FF0000"/>
                </a:solidFill>
              </a:rPr>
              <a:t>)</a:t>
            </a:r>
          </a:p>
        </p:txBody>
      </p:sp>
      <p:sp>
        <p:nvSpPr>
          <p:cNvPr id="4" name="TextBox 3">
            <a:extLst>
              <a:ext uri="{FF2B5EF4-FFF2-40B4-BE49-F238E27FC236}">
                <a16:creationId xmlns:a16="http://schemas.microsoft.com/office/drawing/2014/main" id="{5801D219-7417-1E2F-74BB-02E001F739BB}"/>
              </a:ext>
            </a:extLst>
          </p:cNvPr>
          <p:cNvSpPr txBox="1"/>
          <p:nvPr/>
        </p:nvSpPr>
        <p:spPr>
          <a:xfrm>
            <a:off x="122548" y="2091907"/>
            <a:ext cx="11906054" cy="3785652"/>
          </a:xfrm>
          <a:prstGeom prst="rect">
            <a:avLst/>
          </a:prstGeom>
          <a:noFill/>
        </p:spPr>
        <p:txBody>
          <a:bodyPr wrap="square">
            <a:spAutoFit/>
          </a:bodyPr>
          <a:lstStyle/>
          <a:p>
            <a:pPr marL="342900" indent="-342900">
              <a:buFont typeface="Arial" panose="020B0604020202020204" pitchFamily="34" charset="0"/>
              <a:buChar char="•"/>
            </a:pPr>
            <a:r>
              <a:rPr lang="en-US" sz="2400" b="0" i="0" dirty="0">
                <a:solidFill>
                  <a:srgbClr val="000000"/>
                </a:solidFill>
                <a:effectLst/>
                <a:latin typeface="docs-Calibri"/>
              </a:rPr>
              <a:t>What if your professor tells you that everything you’ve been taught in class will help, but the half of them, will be proven incorrect. The bad news is we have no way of knowing which half is which!</a:t>
            </a:r>
          </a:p>
          <a:p>
            <a:pPr marL="342900" indent="-342900">
              <a:buFont typeface="Arial" panose="020B0604020202020204" pitchFamily="34" charset="0"/>
              <a:buChar char="•"/>
            </a:pPr>
            <a:r>
              <a:rPr lang="en-US" sz="2400" b="1" dirty="0">
                <a:solidFill>
                  <a:schemeClr val="accent1"/>
                </a:solidFill>
                <a:latin typeface="docs-Calibri"/>
              </a:rPr>
              <a:t>It is some time difficult to know what to believe about much of the information we’re fed</a:t>
            </a:r>
            <a:r>
              <a:rPr lang="en-US" sz="2400" dirty="0">
                <a:solidFill>
                  <a:srgbClr val="000000"/>
                </a:solidFill>
                <a:latin typeface="docs-Calibri"/>
              </a:rPr>
              <a:t>.</a:t>
            </a:r>
          </a:p>
          <a:p>
            <a:pPr marL="342900" indent="-342900">
              <a:buFont typeface="Arial" panose="020B0604020202020204" pitchFamily="34" charset="0"/>
              <a:buChar char="•"/>
            </a:pPr>
            <a:r>
              <a:rPr lang="en-US" sz="2400" dirty="0">
                <a:solidFill>
                  <a:srgbClr val="000000"/>
                </a:solidFill>
                <a:latin typeface="docs-Calibri"/>
              </a:rPr>
              <a:t>One day we read that </a:t>
            </a:r>
            <a:r>
              <a:rPr lang="en-US" sz="2400" b="1" dirty="0">
                <a:solidFill>
                  <a:srgbClr val="FF0000"/>
                </a:solidFill>
                <a:latin typeface="docs-Calibri"/>
              </a:rPr>
              <a:t>drinking alcohol </a:t>
            </a:r>
            <a:r>
              <a:rPr lang="en-US" sz="2400" dirty="0">
                <a:solidFill>
                  <a:srgbClr val="000000"/>
                </a:solidFill>
                <a:latin typeface="docs-Calibri"/>
              </a:rPr>
              <a:t>is harmful. The next week other reports indicate that it is protective of good health. </a:t>
            </a:r>
          </a:p>
          <a:p>
            <a:pPr marL="342900" indent="-342900">
              <a:buFont typeface="Arial" panose="020B0604020202020204" pitchFamily="34" charset="0"/>
              <a:buChar char="•"/>
            </a:pPr>
            <a:r>
              <a:rPr lang="en-US" sz="2400" b="1" dirty="0">
                <a:solidFill>
                  <a:srgbClr val="C00000"/>
                </a:solidFill>
                <a:latin typeface="docs-Calibri"/>
              </a:rPr>
              <a:t>Chocolate</a:t>
            </a:r>
            <a:r>
              <a:rPr lang="en-US" sz="2400" dirty="0">
                <a:solidFill>
                  <a:srgbClr val="000000"/>
                </a:solidFill>
                <a:latin typeface="docs-Calibri"/>
              </a:rPr>
              <a:t> is </a:t>
            </a:r>
            <a:r>
              <a:rPr lang="en-US" sz="2400" b="1" dirty="0">
                <a:solidFill>
                  <a:srgbClr val="00B050"/>
                </a:solidFill>
                <a:latin typeface="docs-Calibri"/>
              </a:rPr>
              <a:t>fattening</a:t>
            </a:r>
            <a:r>
              <a:rPr lang="en-US" sz="2400" dirty="0">
                <a:solidFill>
                  <a:srgbClr val="000000"/>
                </a:solidFill>
                <a:latin typeface="docs-Calibri"/>
              </a:rPr>
              <a:t>, right? Wait a </a:t>
            </a:r>
            <a:r>
              <a:rPr lang="en-US" sz="2400" dirty="0" err="1">
                <a:solidFill>
                  <a:srgbClr val="000000"/>
                </a:solidFill>
                <a:latin typeface="docs-Calibri"/>
              </a:rPr>
              <a:t>munite</a:t>
            </a:r>
            <a:r>
              <a:rPr lang="en-US" sz="2400" dirty="0">
                <a:solidFill>
                  <a:srgbClr val="000000"/>
                </a:solidFill>
                <a:latin typeface="docs-Calibri"/>
              </a:rPr>
              <a:t> now a group of researchers has reported that it actually helps to </a:t>
            </a:r>
            <a:r>
              <a:rPr lang="en-US" sz="2400" b="1" dirty="0">
                <a:solidFill>
                  <a:srgbClr val="00B050"/>
                </a:solidFill>
                <a:latin typeface="docs-Calibri"/>
              </a:rPr>
              <a:t>lose weight</a:t>
            </a:r>
            <a:r>
              <a:rPr lang="en-US" sz="2400" dirty="0">
                <a:solidFill>
                  <a:srgbClr val="000000"/>
                </a:solidFill>
                <a:latin typeface="docs-Calibri"/>
              </a:rPr>
              <a:t>. </a:t>
            </a:r>
          </a:p>
          <a:p>
            <a:pPr marL="342900" indent="-342900">
              <a:buFont typeface="Arial" panose="020B0604020202020204" pitchFamily="34" charset="0"/>
              <a:buChar char="•"/>
            </a:pPr>
            <a:r>
              <a:rPr lang="en-US" sz="2400" b="1" dirty="0">
                <a:solidFill>
                  <a:srgbClr val="C00000"/>
                </a:solidFill>
                <a:latin typeface="docs-Calibri"/>
              </a:rPr>
              <a:t>Coffee</a:t>
            </a:r>
            <a:r>
              <a:rPr lang="en-US" sz="2400" dirty="0">
                <a:solidFill>
                  <a:srgbClr val="000000"/>
                </a:solidFill>
                <a:latin typeface="docs-Calibri"/>
              </a:rPr>
              <a:t> is harmful, we’ve been told. But then we learn that in a significant study those who drank large amounts of coffee lived longer! </a:t>
            </a:r>
            <a:endParaRPr lang="en-US" sz="2400" dirty="0"/>
          </a:p>
        </p:txBody>
      </p:sp>
    </p:spTree>
    <p:extLst>
      <p:ext uri="{BB962C8B-B14F-4D97-AF65-F5344CB8AC3E}">
        <p14:creationId xmlns:p14="http://schemas.microsoft.com/office/powerpoint/2010/main" val="3523537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AE5E3-3F85-36EA-B1E3-1B8820B623AD}"/>
              </a:ext>
            </a:extLst>
          </p:cNvPr>
          <p:cNvSpPr>
            <a:spLocks noGrp="1"/>
          </p:cNvSpPr>
          <p:nvPr>
            <p:ph type="title"/>
          </p:nvPr>
        </p:nvSpPr>
        <p:spPr/>
        <p:txBody>
          <a:bodyPr/>
          <a:lstStyle/>
          <a:p>
            <a:pPr algn="ctr"/>
            <a:r>
              <a:rPr lang="en-US" dirty="0"/>
              <a:t>Cont’d...</a:t>
            </a:r>
          </a:p>
        </p:txBody>
      </p:sp>
      <p:sp>
        <p:nvSpPr>
          <p:cNvPr id="4" name="TextBox 3">
            <a:extLst>
              <a:ext uri="{FF2B5EF4-FFF2-40B4-BE49-F238E27FC236}">
                <a16:creationId xmlns:a16="http://schemas.microsoft.com/office/drawing/2014/main" id="{8F04DDE8-82F5-4342-A577-9EF7D42AFD5D}"/>
              </a:ext>
            </a:extLst>
          </p:cNvPr>
          <p:cNvSpPr txBox="1"/>
          <p:nvPr/>
        </p:nvSpPr>
        <p:spPr>
          <a:xfrm>
            <a:off x="280448" y="2016492"/>
            <a:ext cx="11587898" cy="4031873"/>
          </a:xfrm>
          <a:prstGeom prst="rect">
            <a:avLst/>
          </a:prstGeom>
          <a:noFill/>
        </p:spPr>
        <p:txBody>
          <a:bodyPr wrap="square">
            <a:spAutoFit/>
          </a:bodyPr>
          <a:lstStyle/>
          <a:p>
            <a:pPr marL="457200" indent="-457200">
              <a:buFont typeface="Arial" panose="020B0604020202020204" pitchFamily="34" charset="0"/>
              <a:buChar char="•"/>
            </a:pPr>
            <a:r>
              <a:rPr lang="en-US" sz="3200" b="1" i="0" dirty="0">
                <a:solidFill>
                  <a:schemeClr val="accent1"/>
                </a:solidFill>
                <a:effectLst/>
                <a:latin typeface="Century Gothic" panose="020B0502020202020204" pitchFamily="34" charset="0"/>
              </a:rPr>
              <a:t>In what or who can we truly believe</a:t>
            </a:r>
            <a:r>
              <a:rPr lang="en-US" sz="3200" b="0" i="0" dirty="0">
                <a:effectLst/>
                <a:latin typeface="Century Gothic" panose="020B0502020202020204" pitchFamily="34" charset="0"/>
              </a:rPr>
              <a:t>? </a:t>
            </a:r>
          </a:p>
          <a:p>
            <a:pPr marL="457200" indent="-457200">
              <a:buFont typeface="Arial" panose="020B0604020202020204" pitchFamily="34" charset="0"/>
              <a:buChar char="•"/>
            </a:pPr>
            <a:r>
              <a:rPr lang="en-US" sz="3200" b="0" i="0" dirty="0">
                <a:effectLst/>
                <a:latin typeface="Century Gothic" panose="020B0502020202020204" pitchFamily="34" charset="0"/>
              </a:rPr>
              <a:t>It is difficult to answer this question! </a:t>
            </a:r>
          </a:p>
          <a:p>
            <a:pPr marL="457200" indent="-457200">
              <a:buFont typeface="Arial" panose="020B0604020202020204" pitchFamily="34" charset="0"/>
              <a:buChar char="•"/>
            </a:pPr>
            <a:r>
              <a:rPr lang="en-US" sz="3200" b="0" i="0" dirty="0">
                <a:effectLst/>
                <a:latin typeface="Century Gothic" panose="020B0502020202020204" pitchFamily="34" charset="0"/>
              </a:rPr>
              <a:t>Yet, we all believe in something. </a:t>
            </a:r>
          </a:p>
          <a:p>
            <a:pPr marL="457200" indent="-457200">
              <a:buFont typeface="Arial" panose="020B0604020202020204" pitchFamily="34" charset="0"/>
              <a:buChar char="•"/>
            </a:pPr>
            <a:r>
              <a:rPr lang="en-US" sz="3200" b="0" i="0" dirty="0">
                <a:effectLst/>
                <a:latin typeface="Century Gothic" panose="020B0502020202020204" pitchFamily="34" charset="0"/>
              </a:rPr>
              <a:t>The greatest skeptics (attitude, doubt) have beliefs, </a:t>
            </a:r>
            <a:r>
              <a:rPr lang="en-US" sz="3200" b="1" i="0" dirty="0">
                <a:effectLst/>
                <a:latin typeface="Century Gothic" panose="020B0502020202020204" pitchFamily="34" charset="0"/>
              </a:rPr>
              <a:t>even if it is the belief that no one can be trusted</a:t>
            </a:r>
            <a:r>
              <a:rPr lang="en-US" sz="3200" b="0" i="0" dirty="0">
                <a:effectLst/>
                <a:latin typeface="Century Gothic" panose="020B0502020202020204" pitchFamily="34" charset="0"/>
              </a:rPr>
              <a:t>. </a:t>
            </a:r>
          </a:p>
          <a:p>
            <a:pPr marL="457200" indent="-457200">
              <a:buFont typeface="Arial" panose="020B0604020202020204" pitchFamily="34" charset="0"/>
              <a:buChar char="•"/>
            </a:pPr>
            <a:r>
              <a:rPr lang="en-US" sz="3200" b="0" i="0" dirty="0">
                <a:effectLst/>
                <a:latin typeface="Century Gothic" panose="020B0502020202020204" pitchFamily="34" charset="0"/>
              </a:rPr>
              <a:t>The survival of </a:t>
            </a:r>
            <a:r>
              <a:rPr lang="en-US" sz="3200" b="1" i="0" dirty="0">
                <a:solidFill>
                  <a:schemeClr val="accent1"/>
                </a:solidFill>
                <a:effectLst/>
                <a:latin typeface="Century Gothic" panose="020B0502020202020204" pitchFamily="34" charset="0"/>
              </a:rPr>
              <a:t>all humans is based on beliefs </a:t>
            </a:r>
            <a:r>
              <a:rPr lang="en-US" sz="3200" b="0" i="0" dirty="0">
                <a:effectLst/>
                <a:latin typeface="Century Gothic" panose="020B0502020202020204" pitchFamily="34" charset="0"/>
              </a:rPr>
              <a:t>of some kind. </a:t>
            </a:r>
          </a:p>
          <a:p>
            <a:pPr marL="457200" indent="-457200">
              <a:buFont typeface="Arial" panose="020B0604020202020204" pitchFamily="34" charset="0"/>
              <a:buChar char="•"/>
            </a:pPr>
            <a:r>
              <a:rPr lang="en-US" sz="3200" b="1" i="0" dirty="0">
                <a:effectLst/>
                <a:latin typeface="Century Gothic" panose="020B0502020202020204" pitchFamily="34" charset="0"/>
              </a:rPr>
              <a:t>Belief is essential </a:t>
            </a:r>
            <a:r>
              <a:rPr lang="en-US" sz="3200" b="0" i="0" dirty="0">
                <a:effectLst/>
                <a:latin typeface="Century Gothic" panose="020B0502020202020204" pitchFamily="34" charset="0"/>
              </a:rPr>
              <a:t>to human existence and organization.</a:t>
            </a:r>
            <a:endParaRPr lang="en-US" sz="3200" dirty="0">
              <a:latin typeface="Century Gothic" panose="020B0502020202020204" pitchFamily="34" charset="0"/>
            </a:endParaRPr>
          </a:p>
        </p:txBody>
      </p:sp>
    </p:spTree>
    <p:extLst>
      <p:ext uri="{BB962C8B-B14F-4D97-AF65-F5344CB8AC3E}">
        <p14:creationId xmlns:p14="http://schemas.microsoft.com/office/powerpoint/2010/main" val="2449281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1A4CB-CA3F-DD74-ECCC-1732BC55288D}"/>
              </a:ext>
            </a:extLst>
          </p:cNvPr>
          <p:cNvSpPr>
            <a:spLocks noGrp="1"/>
          </p:cNvSpPr>
          <p:nvPr>
            <p:ph type="title"/>
          </p:nvPr>
        </p:nvSpPr>
        <p:spPr/>
        <p:txBody>
          <a:bodyPr>
            <a:normAutofit fontScale="90000"/>
          </a:bodyPr>
          <a:lstStyle/>
          <a:p>
            <a:pPr algn="ctr"/>
            <a:br>
              <a:rPr lang="en-US" dirty="0">
                <a:solidFill>
                  <a:srgbClr val="FF0000"/>
                </a:solidFill>
              </a:rPr>
            </a:br>
            <a:r>
              <a:rPr lang="en-US" sz="4000" b="1" dirty="0">
                <a:solidFill>
                  <a:srgbClr val="FF0000"/>
                </a:solidFill>
              </a:rPr>
              <a:t>Power of belief</a:t>
            </a:r>
          </a:p>
        </p:txBody>
      </p:sp>
      <p:sp>
        <p:nvSpPr>
          <p:cNvPr id="4" name="TextBox 3">
            <a:extLst>
              <a:ext uri="{FF2B5EF4-FFF2-40B4-BE49-F238E27FC236}">
                <a16:creationId xmlns:a16="http://schemas.microsoft.com/office/drawing/2014/main" id="{E50295DB-0CFA-58F4-27A8-1EBD1DD253A2}"/>
              </a:ext>
            </a:extLst>
          </p:cNvPr>
          <p:cNvSpPr txBox="1"/>
          <p:nvPr/>
        </p:nvSpPr>
        <p:spPr>
          <a:xfrm>
            <a:off x="43992" y="1676409"/>
            <a:ext cx="12104016" cy="4708981"/>
          </a:xfrm>
          <a:prstGeom prst="rect">
            <a:avLst/>
          </a:prstGeom>
          <a:noFill/>
        </p:spPr>
        <p:txBody>
          <a:bodyPr wrap="square">
            <a:spAutoFit/>
          </a:bodyPr>
          <a:lstStyle/>
          <a:p>
            <a:pPr marL="457200" indent="-457200">
              <a:buFont typeface="Arial" panose="020B0604020202020204" pitchFamily="34" charset="0"/>
              <a:buChar char="•"/>
            </a:pPr>
            <a:r>
              <a:rPr lang="en-US" sz="2900" b="0" i="0" dirty="0">
                <a:effectLst/>
                <a:latin typeface="Times New Roman" panose="02020603050405020304" pitchFamily="18" charset="0"/>
                <a:cs typeface="Times New Roman" panose="02020603050405020304" pitchFamily="18" charset="0"/>
              </a:rPr>
              <a:t>Beliefs are the </a:t>
            </a:r>
            <a:r>
              <a:rPr lang="en-US" sz="2900" b="0" i="0" dirty="0">
                <a:solidFill>
                  <a:schemeClr val="accent1"/>
                </a:solidFill>
                <a:effectLst/>
                <a:latin typeface="Times New Roman" panose="02020603050405020304" pitchFamily="18" charset="0"/>
                <a:cs typeface="Times New Roman" panose="02020603050405020304" pitchFamily="18" charset="0"/>
              </a:rPr>
              <a:t>mental attitudes and convictions we hold about ourselves</a:t>
            </a:r>
            <a:r>
              <a:rPr lang="en-US" sz="2900" b="0" i="0" dirty="0">
                <a:effectLst/>
                <a:latin typeface="Times New Roman" panose="02020603050405020304" pitchFamily="18" charset="0"/>
                <a:cs typeface="Times New Roman" panose="02020603050405020304" pitchFamily="18" charset="0"/>
              </a:rPr>
              <a:t>, others, and the world around us. They shape our perceptions, determine our behaviors, and impact our overall well-being.</a:t>
            </a:r>
          </a:p>
          <a:p>
            <a:pPr marL="457200" indent="-457200">
              <a:buFont typeface="Arial" panose="020B0604020202020204" pitchFamily="34" charset="0"/>
              <a:buChar char="•"/>
            </a:pPr>
            <a:r>
              <a:rPr lang="en-US" sz="2900" b="1" i="0" dirty="0">
                <a:solidFill>
                  <a:schemeClr val="accent1"/>
                </a:solidFill>
                <a:effectLst/>
                <a:latin typeface="Times New Roman" panose="02020603050405020304" pitchFamily="18" charset="0"/>
                <a:cs typeface="Times New Roman" panose="02020603050405020304" pitchFamily="18" charset="0"/>
              </a:rPr>
              <a:t>Self-fulfilling prophecy</a:t>
            </a:r>
            <a:r>
              <a:rPr lang="en-US" sz="2900" b="0" i="0" dirty="0">
                <a:effectLst/>
                <a:latin typeface="Times New Roman" panose="02020603050405020304" pitchFamily="18" charset="0"/>
                <a:cs typeface="Times New Roman" panose="02020603050405020304" pitchFamily="18" charset="0"/>
              </a:rPr>
              <a:t>: When </a:t>
            </a:r>
            <a:r>
              <a:rPr lang="en-US" sz="2900" b="1" i="0" dirty="0">
                <a:effectLst/>
                <a:latin typeface="Times New Roman" panose="02020603050405020304" pitchFamily="18" charset="0"/>
                <a:cs typeface="Times New Roman" panose="02020603050405020304" pitchFamily="18" charset="0"/>
              </a:rPr>
              <a:t>we strongly believe in something</a:t>
            </a:r>
            <a:r>
              <a:rPr lang="en-US" sz="2900" b="0" i="0" dirty="0">
                <a:effectLst/>
                <a:latin typeface="Times New Roman" panose="02020603050405020304" pitchFamily="18" charset="0"/>
                <a:cs typeface="Times New Roman" panose="02020603050405020304" pitchFamily="18" charset="0"/>
              </a:rPr>
              <a:t>, it can become a self-fulfilling prophecy. </a:t>
            </a:r>
          </a:p>
          <a:p>
            <a:pPr marL="457200" indent="-457200">
              <a:buFont typeface="Arial" panose="020B0604020202020204" pitchFamily="34" charset="0"/>
              <a:buChar char="•"/>
            </a:pPr>
            <a:r>
              <a:rPr lang="en-US" sz="2900" b="1" i="0" dirty="0">
                <a:solidFill>
                  <a:srgbClr val="7030A0"/>
                </a:solidFill>
                <a:effectLst/>
                <a:latin typeface="Times New Roman" panose="02020603050405020304" pitchFamily="18" charset="0"/>
                <a:cs typeface="Times New Roman" panose="02020603050405020304" pitchFamily="18" charset="0"/>
              </a:rPr>
              <a:t>Our beliefs influence our thoughts and actions, which in turn shape our behaviors and outcomes.</a:t>
            </a:r>
            <a:r>
              <a:rPr lang="en-US" sz="2900" b="0" i="0" dirty="0">
                <a:effectLst/>
                <a:latin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r>
              <a:rPr lang="en-US" sz="2900" b="1" i="0" u="sng" dirty="0">
                <a:solidFill>
                  <a:srgbClr val="FF0000"/>
                </a:solidFill>
                <a:effectLst/>
                <a:latin typeface="Times New Roman" panose="02020603050405020304" pitchFamily="18" charset="0"/>
                <a:cs typeface="Times New Roman" panose="02020603050405020304" pitchFamily="18" charset="0"/>
              </a:rPr>
              <a:t>For example</a:t>
            </a:r>
            <a:r>
              <a:rPr lang="en-US" sz="2900" b="0" i="0" dirty="0">
                <a:effectLst/>
                <a:latin typeface="Times New Roman" panose="02020603050405020304" pitchFamily="18" charset="0"/>
                <a:cs typeface="Times New Roman" panose="02020603050405020304" pitchFamily="18" charset="0"/>
              </a:rPr>
              <a:t>, </a:t>
            </a:r>
            <a:r>
              <a:rPr lang="en-US" sz="2900" b="1" i="0" dirty="0">
                <a:solidFill>
                  <a:srgbClr val="00B050"/>
                </a:solidFill>
                <a:effectLst/>
                <a:latin typeface="Times New Roman" panose="02020603050405020304" pitchFamily="18" charset="0"/>
                <a:cs typeface="Times New Roman" panose="02020603050405020304" pitchFamily="18" charset="0"/>
              </a:rPr>
              <a:t>if someone strongly believes they are not good enough to succeed</a:t>
            </a:r>
            <a:r>
              <a:rPr lang="en-US" sz="2900" b="0" i="0" dirty="0">
                <a:effectLst/>
                <a:latin typeface="Times New Roman" panose="02020603050405020304" pitchFamily="18" charset="0"/>
                <a:cs typeface="Times New Roman" panose="02020603050405020304" pitchFamily="18" charset="0"/>
              </a:rPr>
              <a:t>, they may not put in the necessary effort, leading to a lack of success and reinforcing their initial belief.</a:t>
            </a:r>
            <a:endParaRPr lang="en-US" sz="2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3763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787EE-DC24-7EA8-C348-BF4D36F8DF5F}"/>
              </a:ext>
            </a:extLst>
          </p:cNvPr>
          <p:cNvSpPr>
            <a:spLocks noGrp="1"/>
          </p:cNvSpPr>
          <p:nvPr>
            <p:ph type="title"/>
          </p:nvPr>
        </p:nvSpPr>
        <p:spPr/>
        <p:txBody>
          <a:bodyPr/>
          <a:lstStyle/>
          <a:p>
            <a:pPr algn="ctr"/>
            <a:br>
              <a:rPr lang="en-US" dirty="0"/>
            </a:br>
            <a:r>
              <a:rPr lang="en-US" dirty="0"/>
              <a:t>Cont’d...</a:t>
            </a:r>
          </a:p>
        </p:txBody>
      </p:sp>
      <p:sp>
        <p:nvSpPr>
          <p:cNvPr id="4" name="TextBox 3">
            <a:extLst>
              <a:ext uri="{FF2B5EF4-FFF2-40B4-BE49-F238E27FC236}">
                <a16:creationId xmlns:a16="http://schemas.microsoft.com/office/drawing/2014/main" id="{336C2196-CA97-9444-59E5-5793E9CA46D4}"/>
              </a:ext>
            </a:extLst>
          </p:cNvPr>
          <p:cNvSpPr txBox="1"/>
          <p:nvPr/>
        </p:nvSpPr>
        <p:spPr>
          <a:xfrm>
            <a:off x="207390" y="2015055"/>
            <a:ext cx="11887200" cy="4031873"/>
          </a:xfrm>
          <a:prstGeom prst="rect">
            <a:avLst/>
          </a:prstGeom>
          <a:noFill/>
        </p:spPr>
        <p:txBody>
          <a:bodyPr wrap="square">
            <a:spAutoFit/>
          </a:bodyPr>
          <a:lstStyle/>
          <a:p>
            <a:pPr marL="285750" indent="-285750">
              <a:buFont typeface="Arial" panose="020B0604020202020204" pitchFamily="34" charset="0"/>
              <a:buChar char="•"/>
            </a:pPr>
            <a:r>
              <a:rPr lang="en-US" sz="3200" b="1" i="0" dirty="0">
                <a:solidFill>
                  <a:srgbClr val="FF0000"/>
                </a:solidFill>
                <a:effectLst/>
                <a:latin typeface="Times New Roman" panose="02020603050405020304" pitchFamily="18" charset="0"/>
                <a:cs typeface="Times New Roman" panose="02020603050405020304" pitchFamily="18" charset="0"/>
              </a:rPr>
              <a:t>Mind-body connection</a:t>
            </a:r>
            <a:r>
              <a:rPr lang="en-US" sz="3200" b="0" i="0" dirty="0">
                <a:effectLst/>
                <a:latin typeface="Times New Roman" panose="02020603050405020304" pitchFamily="18" charset="0"/>
                <a:cs typeface="Times New Roman" panose="02020603050405020304" pitchFamily="18" charset="0"/>
              </a:rPr>
              <a:t>: Beliefs can have a </a:t>
            </a:r>
            <a:r>
              <a:rPr lang="en-US" sz="3200" b="1" i="0" dirty="0">
                <a:effectLst/>
                <a:latin typeface="Times New Roman" panose="02020603050405020304" pitchFamily="18" charset="0"/>
                <a:cs typeface="Times New Roman" panose="02020603050405020304" pitchFamily="18" charset="0"/>
              </a:rPr>
              <a:t>profound impact on our physical and mental health</a:t>
            </a:r>
            <a:r>
              <a:rPr lang="en-US" sz="3200" b="0" i="0" dirty="0">
                <a:effectLst/>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3200" b="0" i="0" dirty="0">
                <a:effectLst/>
                <a:latin typeface="Times New Roman" panose="02020603050405020304" pitchFamily="18" charset="0"/>
                <a:cs typeface="Times New Roman" panose="02020603050405020304" pitchFamily="18" charset="0"/>
              </a:rPr>
              <a:t>Research has shown that </a:t>
            </a:r>
            <a:r>
              <a:rPr lang="en-US" sz="3200" b="1" i="0" dirty="0">
                <a:solidFill>
                  <a:srgbClr val="7030A0"/>
                </a:solidFill>
                <a:effectLst/>
                <a:latin typeface="Times New Roman" panose="02020603050405020304" pitchFamily="18" charset="0"/>
                <a:cs typeface="Times New Roman" panose="02020603050405020304" pitchFamily="18" charset="0"/>
              </a:rPr>
              <a:t>positive beliefs</a:t>
            </a:r>
            <a:r>
              <a:rPr lang="en-US" sz="3200" b="0" i="0" dirty="0">
                <a:effectLst/>
                <a:latin typeface="Times New Roman" panose="02020603050405020304" pitchFamily="18" charset="0"/>
                <a:cs typeface="Times New Roman" panose="02020603050405020304" pitchFamily="18" charset="0"/>
              </a:rPr>
              <a:t>, such as </a:t>
            </a:r>
            <a:r>
              <a:rPr lang="en-US" sz="3200" b="1" i="0" dirty="0">
                <a:solidFill>
                  <a:srgbClr val="0070C0"/>
                </a:solidFill>
                <a:effectLst/>
                <a:latin typeface="Times New Roman" panose="02020603050405020304" pitchFamily="18" charset="0"/>
                <a:cs typeface="Times New Roman" panose="02020603050405020304" pitchFamily="18" charset="0"/>
              </a:rPr>
              <a:t>believing in one's ability to recover from an illness</a:t>
            </a:r>
            <a:r>
              <a:rPr lang="en-US" sz="3200" b="0" i="0" dirty="0">
                <a:effectLst/>
                <a:latin typeface="Times New Roman" panose="02020603050405020304" pitchFamily="18" charset="0"/>
                <a:cs typeface="Times New Roman" panose="02020603050405020304" pitchFamily="18" charset="0"/>
              </a:rPr>
              <a:t>, can </a:t>
            </a:r>
            <a:r>
              <a:rPr lang="en-US" sz="3200" b="1" i="0" dirty="0">
                <a:solidFill>
                  <a:schemeClr val="accent1">
                    <a:lumMod val="75000"/>
                  </a:schemeClr>
                </a:solidFill>
                <a:effectLst/>
                <a:latin typeface="Times New Roman" panose="02020603050405020304" pitchFamily="18" charset="0"/>
                <a:cs typeface="Times New Roman" panose="02020603050405020304" pitchFamily="18" charset="0"/>
              </a:rPr>
              <a:t>enhance the healing process</a:t>
            </a:r>
            <a:r>
              <a:rPr lang="en-US" sz="3200" b="0" i="0" dirty="0">
                <a:effectLst/>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3200" b="0" i="0" dirty="0">
                <a:effectLst/>
                <a:latin typeface="Times New Roman" panose="02020603050405020304" pitchFamily="18" charset="0"/>
                <a:cs typeface="Times New Roman" panose="02020603050405020304" pitchFamily="18" charset="0"/>
              </a:rPr>
              <a:t>Similarly, </a:t>
            </a:r>
            <a:r>
              <a:rPr lang="en-US" sz="3200" b="1" i="0" dirty="0">
                <a:solidFill>
                  <a:srgbClr val="7030A0"/>
                </a:solidFill>
                <a:effectLst/>
                <a:latin typeface="Times New Roman" panose="02020603050405020304" pitchFamily="18" charset="0"/>
                <a:cs typeface="Times New Roman" panose="02020603050405020304" pitchFamily="18" charset="0"/>
              </a:rPr>
              <a:t>negative beliefs </a:t>
            </a:r>
            <a:r>
              <a:rPr lang="en-US" sz="3200" b="0" i="0" dirty="0">
                <a:effectLst/>
                <a:latin typeface="Times New Roman" panose="02020603050405020304" pitchFamily="18" charset="0"/>
                <a:cs typeface="Times New Roman" panose="02020603050405020304" pitchFamily="18" charset="0"/>
              </a:rPr>
              <a:t>and </a:t>
            </a:r>
            <a:r>
              <a:rPr lang="en-US" sz="3200" b="1" i="0" dirty="0">
                <a:solidFill>
                  <a:srgbClr val="7030A0"/>
                </a:solidFill>
                <a:effectLst/>
                <a:latin typeface="Times New Roman" panose="02020603050405020304" pitchFamily="18" charset="0"/>
                <a:cs typeface="Times New Roman" panose="02020603050405020304" pitchFamily="18" charset="0"/>
              </a:rPr>
              <a:t>stress</a:t>
            </a:r>
            <a:r>
              <a:rPr lang="en-US" sz="3200" b="0" i="0" dirty="0">
                <a:effectLst/>
                <a:latin typeface="Times New Roman" panose="02020603050405020304" pitchFamily="18" charset="0"/>
                <a:cs typeface="Times New Roman" panose="02020603050405020304" pitchFamily="18" charset="0"/>
              </a:rPr>
              <a:t> can have </a:t>
            </a:r>
            <a:r>
              <a:rPr lang="en-US" sz="3200" b="1" i="0" dirty="0">
                <a:effectLst/>
                <a:latin typeface="Times New Roman" panose="02020603050405020304" pitchFamily="18" charset="0"/>
                <a:cs typeface="Times New Roman" panose="02020603050405020304" pitchFamily="18" charset="0"/>
              </a:rPr>
              <a:t>detrimental effects</a:t>
            </a:r>
            <a:r>
              <a:rPr lang="en-US" sz="3200" b="0" i="0" dirty="0">
                <a:effectLst/>
                <a:latin typeface="Times New Roman" panose="02020603050405020304" pitchFamily="18" charset="0"/>
                <a:cs typeface="Times New Roman" panose="02020603050405020304" pitchFamily="18" charset="0"/>
              </a:rPr>
              <a:t> on our well-being. </a:t>
            </a:r>
          </a:p>
          <a:p>
            <a:pPr marL="285750" indent="-285750">
              <a:buFont typeface="Arial" panose="020B0604020202020204" pitchFamily="34" charset="0"/>
              <a:buChar char="•"/>
            </a:pPr>
            <a:r>
              <a:rPr lang="en-US" sz="3200" b="0" i="0" dirty="0">
                <a:effectLst/>
                <a:latin typeface="Times New Roman" panose="02020603050405020304" pitchFamily="18" charset="0"/>
                <a:cs typeface="Times New Roman" panose="02020603050405020304" pitchFamily="18" charset="0"/>
              </a:rPr>
              <a:t>The mind-body connection highlights the interplay between our thoughts, beliefs, emotions, and physical health.</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8351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588B2-72C2-E0C0-8FFB-BE0C2B75632F}"/>
              </a:ext>
            </a:extLst>
          </p:cNvPr>
          <p:cNvSpPr>
            <a:spLocks noGrp="1"/>
          </p:cNvSpPr>
          <p:nvPr>
            <p:ph type="title"/>
          </p:nvPr>
        </p:nvSpPr>
        <p:spPr/>
        <p:txBody>
          <a:bodyPr/>
          <a:lstStyle/>
          <a:p>
            <a:pPr algn="ctr"/>
            <a:br>
              <a:rPr lang="en-US" dirty="0"/>
            </a:br>
            <a:r>
              <a:rPr lang="en-US" dirty="0"/>
              <a:t>Cont’d...</a:t>
            </a:r>
          </a:p>
        </p:txBody>
      </p:sp>
      <p:sp>
        <p:nvSpPr>
          <p:cNvPr id="4" name="TextBox 3">
            <a:extLst>
              <a:ext uri="{FF2B5EF4-FFF2-40B4-BE49-F238E27FC236}">
                <a16:creationId xmlns:a16="http://schemas.microsoft.com/office/drawing/2014/main" id="{A1942559-63C7-89D6-468A-ECE7EACAE70B}"/>
              </a:ext>
            </a:extLst>
          </p:cNvPr>
          <p:cNvSpPr txBox="1"/>
          <p:nvPr/>
        </p:nvSpPr>
        <p:spPr>
          <a:xfrm>
            <a:off x="223101" y="2083163"/>
            <a:ext cx="11745798" cy="3970318"/>
          </a:xfrm>
          <a:prstGeom prst="rect">
            <a:avLst/>
          </a:prstGeom>
          <a:noFill/>
        </p:spPr>
        <p:txBody>
          <a:bodyPr wrap="square">
            <a:spAutoFit/>
          </a:bodyPr>
          <a:lstStyle/>
          <a:p>
            <a:pPr marL="285750" indent="-285750">
              <a:buFont typeface="Arial" panose="020B0604020202020204" pitchFamily="34" charset="0"/>
              <a:buChar char="•"/>
            </a:pPr>
            <a:r>
              <a:rPr lang="en-US" sz="3600" b="1" i="0" dirty="0">
                <a:solidFill>
                  <a:srgbClr val="FF0000"/>
                </a:solidFill>
                <a:effectLst/>
                <a:latin typeface="Söhne"/>
              </a:rPr>
              <a:t>Motivation and goal achievement</a:t>
            </a:r>
            <a:r>
              <a:rPr lang="en-US" sz="3600" b="0" i="0" dirty="0">
                <a:effectLst/>
                <a:latin typeface="Söhne"/>
              </a:rPr>
              <a:t>: Beliefs play a </a:t>
            </a:r>
            <a:r>
              <a:rPr lang="en-US" sz="3600" b="1" i="0" dirty="0">
                <a:solidFill>
                  <a:srgbClr val="7030A0"/>
                </a:solidFill>
                <a:effectLst/>
                <a:latin typeface="Söhne"/>
              </a:rPr>
              <a:t>crucial role in motivation</a:t>
            </a:r>
            <a:r>
              <a:rPr lang="en-US" sz="3600" b="0" i="0" dirty="0">
                <a:effectLst/>
                <a:latin typeface="Söhne"/>
              </a:rPr>
              <a:t> and </a:t>
            </a:r>
            <a:r>
              <a:rPr lang="en-US" sz="3600" b="1" i="0" dirty="0">
                <a:solidFill>
                  <a:srgbClr val="7030A0"/>
                </a:solidFill>
                <a:effectLst/>
                <a:latin typeface="Söhne"/>
              </a:rPr>
              <a:t>goal achievement</a:t>
            </a:r>
            <a:r>
              <a:rPr lang="en-US" sz="3600" b="0" i="0" dirty="0">
                <a:effectLst/>
                <a:latin typeface="Söhne"/>
              </a:rPr>
              <a:t>. </a:t>
            </a:r>
          </a:p>
          <a:p>
            <a:pPr marL="285750" indent="-285750">
              <a:buFont typeface="Arial" panose="020B0604020202020204" pitchFamily="34" charset="0"/>
              <a:buChar char="•"/>
            </a:pPr>
            <a:r>
              <a:rPr lang="en-US" sz="3600" b="0" i="0" dirty="0">
                <a:effectLst/>
                <a:latin typeface="Söhne"/>
              </a:rPr>
              <a:t>When we believe in our capabilities and have a </a:t>
            </a:r>
            <a:r>
              <a:rPr lang="en-US" sz="3600" b="1" i="0" dirty="0">
                <a:solidFill>
                  <a:srgbClr val="002060"/>
                </a:solidFill>
                <a:effectLst/>
                <a:latin typeface="Söhne"/>
              </a:rPr>
              <a:t>strong belief in the possibility of achieving our goals</a:t>
            </a:r>
            <a:r>
              <a:rPr lang="en-US" sz="3600" b="0" i="0" dirty="0">
                <a:effectLst/>
                <a:latin typeface="Söhne"/>
              </a:rPr>
              <a:t>, </a:t>
            </a:r>
            <a:r>
              <a:rPr lang="en-US" sz="3600" b="1" i="0" dirty="0">
                <a:effectLst/>
                <a:latin typeface="Söhne"/>
              </a:rPr>
              <a:t>we are more likely to take action and persist in the face of challenges</a:t>
            </a:r>
            <a:r>
              <a:rPr lang="en-US" sz="3600" b="0" i="0" dirty="0">
                <a:effectLst/>
                <a:latin typeface="Söhne"/>
              </a:rPr>
              <a:t>. </a:t>
            </a:r>
          </a:p>
          <a:p>
            <a:pPr marL="285750" indent="-285750">
              <a:buFont typeface="Arial" panose="020B0604020202020204" pitchFamily="34" charset="0"/>
              <a:buChar char="•"/>
            </a:pPr>
            <a:r>
              <a:rPr lang="en-US" sz="3600" b="0" i="0" dirty="0">
                <a:effectLst/>
                <a:latin typeface="Söhne"/>
              </a:rPr>
              <a:t>Belief acts as a driving force that fuels our efforts and helps us overcome obstacles.</a:t>
            </a:r>
            <a:endParaRPr lang="en-US" sz="3600" dirty="0"/>
          </a:p>
        </p:txBody>
      </p:sp>
    </p:spTree>
    <p:extLst>
      <p:ext uri="{BB962C8B-B14F-4D97-AF65-F5344CB8AC3E}">
        <p14:creationId xmlns:p14="http://schemas.microsoft.com/office/powerpoint/2010/main" val="1088232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8B330-3EB7-8DEA-80DA-C41BE4DE8425}"/>
              </a:ext>
            </a:extLst>
          </p:cNvPr>
          <p:cNvSpPr>
            <a:spLocks noGrp="1"/>
          </p:cNvSpPr>
          <p:nvPr>
            <p:ph type="title"/>
          </p:nvPr>
        </p:nvSpPr>
        <p:spPr/>
        <p:txBody>
          <a:bodyPr>
            <a:noAutofit/>
          </a:bodyPr>
          <a:lstStyle/>
          <a:p>
            <a:br>
              <a:rPr lang="en-US" sz="3600" b="1" dirty="0">
                <a:solidFill>
                  <a:srgbClr val="FF0000"/>
                </a:solidFill>
              </a:rPr>
            </a:br>
            <a:r>
              <a:rPr lang="en-US" sz="3600" b="1" dirty="0">
                <a:solidFill>
                  <a:srgbClr val="FF0000"/>
                </a:solidFill>
              </a:rPr>
              <a:t>Improved quality of life</a:t>
            </a:r>
          </a:p>
        </p:txBody>
      </p:sp>
      <p:sp>
        <p:nvSpPr>
          <p:cNvPr id="4" name="TextBox 3">
            <a:extLst>
              <a:ext uri="{FF2B5EF4-FFF2-40B4-BE49-F238E27FC236}">
                <a16:creationId xmlns:a16="http://schemas.microsoft.com/office/drawing/2014/main" id="{D19300F5-1847-148A-2706-050D66935199}"/>
              </a:ext>
            </a:extLst>
          </p:cNvPr>
          <p:cNvSpPr txBox="1"/>
          <p:nvPr/>
        </p:nvSpPr>
        <p:spPr>
          <a:xfrm>
            <a:off x="103696" y="1936738"/>
            <a:ext cx="11858918" cy="3416320"/>
          </a:xfrm>
          <a:prstGeom prst="rect">
            <a:avLst/>
          </a:prstGeom>
          <a:noFill/>
        </p:spPr>
        <p:txBody>
          <a:bodyPr wrap="square">
            <a:spAutoFit/>
          </a:bodyPr>
          <a:lstStyle/>
          <a:p>
            <a:pPr marL="285750" indent="-285750">
              <a:buFont typeface="Arial" panose="020B0604020202020204" pitchFamily="34" charset="0"/>
              <a:buChar char="•"/>
            </a:pPr>
            <a:r>
              <a:rPr lang="en-US" sz="3600" b="0" i="0" dirty="0">
                <a:effectLst/>
                <a:latin typeface="Söhne"/>
              </a:rPr>
              <a:t>Spirituality can play a significant role in </a:t>
            </a:r>
            <a:r>
              <a:rPr lang="en-US" sz="3600" b="1" i="0" dirty="0">
                <a:solidFill>
                  <a:srgbClr val="7030A0"/>
                </a:solidFill>
                <a:effectLst/>
                <a:latin typeface="Söhne"/>
              </a:rPr>
              <a:t>improving the quality of life</a:t>
            </a:r>
            <a:r>
              <a:rPr lang="en-US" sz="3600" b="0" i="0" dirty="0">
                <a:effectLst/>
                <a:latin typeface="Söhne"/>
              </a:rPr>
              <a:t> for many individuals. </a:t>
            </a:r>
          </a:p>
          <a:p>
            <a:pPr marL="285750" indent="-285750">
              <a:buFont typeface="Arial" panose="020B0604020202020204" pitchFamily="34" charset="0"/>
              <a:buChar char="•"/>
            </a:pPr>
            <a:r>
              <a:rPr lang="en-US" sz="3600" b="0" i="0" dirty="0">
                <a:effectLst/>
                <a:latin typeface="Söhne"/>
              </a:rPr>
              <a:t>While spirituality can </a:t>
            </a:r>
            <a:r>
              <a:rPr lang="en-US" sz="3600" b="1" i="0" dirty="0">
                <a:effectLst/>
                <a:latin typeface="Söhne"/>
              </a:rPr>
              <a:t>have different meanings for different people</a:t>
            </a:r>
            <a:r>
              <a:rPr lang="en-US" sz="3600" b="0" i="0" dirty="0">
                <a:effectLst/>
                <a:latin typeface="Söhne"/>
              </a:rPr>
              <a:t>, it generally </a:t>
            </a:r>
            <a:r>
              <a:rPr lang="en-US" sz="3600" b="1" i="0" dirty="0">
                <a:solidFill>
                  <a:srgbClr val="7030A0"/>
                </a:solidFill>
                <a:effectLst/>
                <a:latin typeface="Söhne"/>
              </a:rPr>
              <a:t>involves seeking a sense of connection, meaning, and purpose in life, and </a:t>
            </a:r>
            <a:r>
              <a:rPr lang="en-US" sz="3600" b="1" i="0" dirty="0">
                <a:solidFill>
                  <a:srgbClr val="0070C0"/>
                </a:solidFill>
                <a:effectLst/>
                <a:latin typeface="Söhne"/>
              </a:rPr>
              <a:t>exploring deeper questions about existence and the nature of reality</a:t>
            </a:r>
            <a:r>
              <a:rPr lang="en-US" sz="3600" b="0" i="0" dirty="0">
                <a:effectLst/>
                <a:latin typeface="Söhne"/>
              </a:rPr>
              <a:t>.</a:t>
            </a:r>
            <a:endParaRPr lang="en-US" sz="3600" dirty="0"/>
          </a:p>
        </p:txBody>
      </p:sp>
    </p:spTree>
    <p:extLst>
      <p:ext uri="{BB962C8B-B14F-4D97-AF65-F5344CB8AC3E}">
        <p14:creationId xmlns:p14="http://schemas.microsoft.com/office/powerpoint/2010/main" val="1008905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F2E11-7075-0CF4-6683-61774E26E7C8}"/>
              </a:ext>
            </a:extLst>
          </p:cNvPr>
          <p:cNvSpPr>
            <a:spLocks noGrp="1"/>
          </p:cNvSpPr>
          <p:nvPr>
            <p:ph type="title"/>
          </p:nvPr>
        </p:nvSpPr>
        <p:spPr/>
        <p:txBody>
          <a:bodyPr/>
          <a:lstStyle/>
          <a:p>
            <a:pPr algn="ctr"/>
            <a:br>
              <a:rPr lang="en-US" dirty="0"/>
            </a:br>
            <a:r>
              <a:rPr lang="en-US" dirty="0"/>
              <a:t>Cont’d...</a:t>
            </a:r>
          </a:p>
        </p:txBody>
      </p:sp>
      <p:sp>
        <p:nvSpPr>
          <p:cNvPr id="4" name="TextBox 3">
            <a:extLst>
              <a:ext uri="{FF2B5EF4-FFF2-40B4-BE49-F238E27FC236}">
                <a16:creationId xmlns:a16="http://schemas.microsoft.com/office/drawing/2014/main" id="{62060EC2-4AC2-5757-FA3A-D4331FF973EF}"/>
              </a:ext>
            </a:extLst>
          </p:cNvPr>
          <p:cNvSpPr txBox="1"/>
          <p:nvPr/>
        </p:nvSpPr>
        <p:spPr>
          <a:xfrm>
            <a:off x="318154" y="1917385"/>
            <a:ext cx="11616179" cy="4031873"/>
          </a:xfrm>
          <a:prstGeom prst="rect">
            <a:avLst/>
          </a:prstGeom>
          <a:noFill/>
        </p:spPr>
        <p:txBody>
          <a:bodyPr wrap="square">
            <a:spAutoFit/>
          </a:bodyPr>
          <a:lstStyle/>
          <a:p>
            <a:pPr marL="285750" indent="-285750">
              <a:buFont typeface="Arial" panose="020B0604020202020204" pitchFamily="34" charset="0"/>
              <a:buChar char="•"/>
            </a:pPr>
            <a:r>
              <a:rPr lang="en-US" sz="3200" b="0" i="0" dirty="0">
                <a:solidFill>
                  <a:srgbClr val="374151"/>
                </a:solidFill>
                <a:effectLst/>
                <a:latin typeface="Söhne"/>
              </a:rPr>
              <a:t>Individuals with strong </a:t>
            </a:r>
            <a:r>
              <a:rPr lang="en-US" sz="3200" b="1" i="0" dirty="0">
                <a:solidFill>
                  <a:srgbClr val="374151"/>
                </a:solidFill>
                <a:effectLst/>
                <a:latin typeface="Söhne"/>
              </a:rPr>
              <a:t>religious faith report </a:t>
            </a:r>
            <a:r>
              <a:rPr lang="en-US" sz="3200" b="1" i="0" dirty="0">
                <a:solidFill>
                  <a:srgbClr val="0070C0"/>
                </a:solidFill>
                <a:effectLst/>
                <a:latin typeface="Söhne"/>
              </a:rPr>
              <a:t>higher levels of life satisfaction</a:t>
            </a:r>
            <a:r>
              <a:rPr lang="en-US" sz="3200" b="0" i="0" dirty="0">
                <a:solidFill>
                  <a:srgbClr val="374151"/>
                </a:solidFill>
                <a:effectLst/>
                <a:latin typeface="Söhne"/>
              </a:rPr>
              <a:t>, </a:t>
            </a:r>
            <a:r>
              <a:rPr lang="en-US" sz="3200" b="1" i="0" dirty="0">
                <a:solidFill>
                  <a:srgbClr val="0070C0"/>
                </a:solidFill>
                <a:effectLst/>
                <a:latin typeface="Söhne"/>
              </a:rPr>
              <a:t>greater personal happiness</a:t>
            </a:r>
            <a:r>
              <a:rPr lang="en-US" sz="3200" b="0" i="0" dirty="0">
                <a:solidFill>
                  <a:srgbClr val="374151"/>
                </a:solidFill>
                <a:effectLst/>
                <a:latin typeface="Söhne"/>
              </a:rPr>
              <a:t>, and </a:t>
            </a:r>
            <a:r>
              <a:rPr lang="en-US" sz="3200" b="1" i="0" dirty="0">
                <a:solidFill>
                  <a:srgbClr val="374151"/>
                </a:solidFill>
                <a:effectLst/>
                <a:latin typeface="Söhne"/>
              </a:rPr>
              <a:t>fewer negative psychological consequences</a:t>
            </a:r>
            <a:r>
              <a:rPr lang="en-US" sz="3200" b="0" i="0" dirty="0">
                <a:solidFill>
                  <a:srgbClr val="374151"/>
                </a:solidFill>
                <a:effectLst/>
                <a:latin typeface="Söhne"/>
              </a:rPr>
              <a:t> of traumatic life events.</a:t>
            </a:r>
          </a:p>
          <a:p>
            <a:pPr marL="285750" indent="-285750">
              <a:buFont typeface="Arial" panose="020B0604020202020204" pitchFamily="34" charset="0"/>
              <a:buChar char="•"/>
            </a:pPr>
            <a:r>
              <a:rPr lang="en-US" sz="3200" b="1" dirty="0">
                <a:solidFill>
                  <a:srgbClr val="00B050"/>
                </a:solidFill>
                <a:latin typeface="Söhne"/>
              </a:rPr>
              <a:t>Spirituality not only helps believers but also benefits the non believers in their community</a:t>
            </a:r>
            <a:r>
              <a:rPr lang="en-US" sz="3200" dirty="0">
                <a:solidFill>
                  <a:srgbClr val="374151"/>
                </a:solidFill>
                <a:latin typeface="Söhne"/>
              </a:rPr>
              <a:t>.</a:t>
            </a:r>
          </a:p>
          <a:p>
            <a:pPr marL="285750" indent="-285750">
              <a:buFont typeface="Arial" panose="020B0604020202020204" pitchFamily="34" charset="0"/>
              <a:buChar char="•"/>
            </a:pPr>
            <a:r>
              <a:rPr lang="en-US" sz="3200" dirty="0">
                <a:solidFill>
                  <a:srgbClr val="374151"/>
                </a:solidFill>
                <a:latin typeface="Söhne"/>
              </a:rPr>
              <a:t>Researchers found that communities get health benefits when they have higher numbers of adherents to faith that emphasize obedience to God and his standard of conduct.</a:t>
            </a:r>
          </a:p>
        </p:txBody>
      </p:sp>
    </p:spTree>
    <p:extLst>
      <p:ext uri="{BB962C8B-B14F-4D97-AF65-F5344CB8AC3E}">
        <p14:creationId xmlns:p14="http://schemas.microsoft.com/office/powerpoint/2010/main" val="3790008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CE929-8A99-2B52-C374-E4B68AB72FF0}"/>
              </a:ext>
            </a:extLst>
          </p:cNvPr>
          <p:cNvSpPr>
            <a:spLocks noGrp="1"/>
          </p:cNvSpPr>
          <p:nvPr>
            <p:ph type="title"/>
          </p:nvPr>
        </p:nvSpPr>
        <p:spPr/>
        <p:txBody>
          <a:bodyPr/>
          <a:lstStyle/>
          <a:p>
            <a:pPr algn="ctr"/>
            <a:br>
              <a:rPr lang="en-US" dirty="0"/>
            </a:br>
            <a:r>
              <a:rPr lang="en-US" dirty="0"/>
              <a:t>Cont’d...</a:t>
            </a:r>
          </a:p>
        </p:txBody>
      </p:sp>
      <p:sp>
        <p:nvSpPr>
          <p:cNvPr id="4" name="TextBox 3">
            <a:extLst>
              <a:ext uri="{FF2B5EF4-FFF2-40B4-BE49-F238E27FC236}">
                <a16:creationId xmlns:a16="http://schemas.microsoft.com/office/drawing/2014/main" id="{AA38A7EC-9C34-702B-A991-B736517E6F6D}"/>
              </a:ext>
            </a:extLst>
          </p:cNvPr>
          <p:cNvSpPr txBox="1"/>
          <p:nvPr/>
        </p:nvSpPr>
        <p:spPr>
          <a:xfrm>
            <a:off x="210533" y="1729348"/>
            <a:ext cx="11981467" cy="4524315"/>
          </a:xfrm>
          <a:prstGeom prst="rect">
            <a:avLst/>
          </a:prstGeom>
          <a:noFill/>
        </p:spPr>
        <p:txBody>
          <a:bodyPr wrap="square">
            <a:spAutoFit/>
          </a:bodyPr>
          <a:lstStyle/>
          <a:p>
            <a:pPr marL="457200" indent="-457200">
              <a:buFont typeface="Arial" panose="020B0604020202020204" pitchFamily="34" charset="0"/>
              <a:buChar char="•"/>
            </a:pPr>
            <a:r>
              <a:rPr lang="en-US" sz="3600" b="1" i="0" dirty="0">
                <a:solidFill>
                  <a:srgbClr val="00B050"/>
                </a:solidFill>
                <a:effectLst/>
                <a:latin typeface="Söhne"/>
              </a:rPr>
              <a:t>Religious people </a:t>
            </a:r>
            <a:r>
              <a:rPr lang="en-US" sz="3600" b="0" i="0" dirty="0">
                <a:solidFill>
                  <a:srgbClr val="374151"/>
                </a:solidFill>
                <a:effectLst/>
                <a:latin typeface="Söhne"/>
              </a:rPr>
              <a:t>particularly adolescents from religious homes who frequently attend religious services, pray and read scripture </a:t>
            </a:r>
            <a:r>
              <a:rPr lang="en-US" sz="3600" b="1" i="0" dirty="0">
                <a:solidFill>
                  <a:srgbClr val="7030A0"/>
                </a:solidFill>
                <a:effectLst/>
                <a:latin typeface="Söhne"/>
              </a:rPr>
              <a:t>have fewer problems </a:t>
            </a:r>
            <a:r>
              <a:rPr lang="en-US" sz="3600" b="0" i="0" dirty="0">
                <a:solidFill>
                  <a:srgbClr val="374151"/>
                </a:solidFill>
                <a:effectLst/>
                <a:latin typeface="Söhne"/>
              </a:rPr>
              <a:t>with alcohol, tobacco, or other drugs than do their nonreligious peers. </a:t>
            </a:r>
            <a:endParaRPr lang="en-US" sz="3600" b="1" dirty="0">
              <a:solidFill>
                <a:srgbClr val="374151"/>
              </a:solidFill>
              <a:latin typeface="Söhne"/>
            </a:endParaRPr>
          </a:p>
          <a:p>
            <a:pPr marL="457200" indent="-457200">
              <a:buFont typeface="Arial" panose="020B0604020202020204" pitchFamily="34" charset="0"/>
              <a:buChar char="•"/>
            </a:pPr>
            <a:r>
              <a:rPr lang="en-US" sz="3600" b="1" dirty="0">
                <a:solidFill>
                  <a:srgbClr val="374151"/>
                </a:solidFill>
                <a:latin typeface="Söhne"/>
              </a:rPr>
              <a:t>Proverbs 4;18</a:t>
            </a:r>
            <a:r>
              <a:rPr lang="en-US" sz="3600" dirty="0">
                <a:solidFill>
                  <a:srgbClr val="374151"/>
                </a:solidFill>
                <a:latin typeface="Söhne"/>
              </a:rPr>
              <a:t>: </a:t>
            </a:r>
            <a:r>
              <a:rPr lang="en-US" sz="3600" b="0" i="0" dirty="0">
                <a:solidFill>
                  <a:srgbClr val="202124"/>
                </a:solidFill>
                <a:effectLst/>
                <a:latin typeface="Google Sans"/>
              </a:rPr>
              <a:t>The path of the righteous is like the morning sun, shining ever brighter till the full light of day.</a:t>
            </a:r>
          </a:p>
          <a:p>
            <a:pPr marL="457200" indent="-457200">
              <a:buFont typeface="Arial" panose="020B0604020202020204" pitchFamily="34" charset="0"/>
              <a:buChar char="•"/>
            </a:pPr>
            <a:r>
              <a:rPr lang="en-US" sz="3600" b="1" dirty="0">
                <a:solidFill>
                  <a:srgbClr val="202124"/>
                </a:solidFill>
                <a:latin typeface="Google Sans"/>
              </a:rPr>
              <a:t>Ps. 119:165</a:t>
            </a:r>
            <a:r>
              <a:rPr lang="en-US" sz="3600" dirty="0">
                <a:solidFill>
                  <a:srgbClr val="202124"/>
                </a:solidFill>
                <a:latin typeface="Google Sans"/>
              </a:rPr>
              <a:t>: </a:t>
            </a:r>
            <a:r>
              <a:rPr lang="en-US" sz="3600" i="0" dirty="0">
                <a:effectLst/>
                <a:latin typeface="arial" panose="020B0604020202020204" pitchFamily="34" charset="0"/>
              </a:rPr>
              <a:t>Great peace have they which love thy law: And nothing shall offend them.</a:t>
            </a:r>
            <a:endParaRPr lang="en-US" sz="3600" dirty="0"/>
          </a:p>
        </p:txBody>
      </p:sp>
    </p:spTree>
    <p:extLst>
      <p:ext uri="{BB962C8B-B14F-4D97-AF65-F5344CB8AC3E}">
        <p14:creationId xmlns:p14="http://schemas.microsoft.com/office/powerpoint/2010/main" val="2681276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6F350-497C-B2D3-8199-0F366F38F65D}"/>
              </a:ext>
            </a:extLst>
          </p:cNvPr>
          <p:cNvSpPr>
            <a:spLocks noGrp="1"/>
          </p:cNvSpPr>
          <p:nvPr>
            <p:ph type="title"/>
          </p:nvPr>
        </p:nvSpPr>
        <p:spPr/>
        <p:txBody>
          <a:bodyPr>
            <a:noAutofit/>
          </a:bodyPr>
          <a:lstStyle/>
          <a:p>
            <a:pPr algn="ctr"/>
            <a:br>
              <a:rPr lang="en-US" sz="4000" b="1" dirty="0">
                <a:solidFill>
                  <a:srgbClr val="FF0000"/>
                </a:solidFill>
              </a:rPr>
            </a:br>
            <a:r>
              <a:rPr lang="en-US" sz="4000" b="1" dirty="0">
                <a:solidFill>
                  <a:srgbClr val="FF0000"/>
                </a:solidFill>
              </a:rPr>
              <a:t>Stress issues</a:t>
            </a:r>
          </a:p>
        </p:txBody>
      </p:sp>
      <p:sp>
        <p:nvSpPr>
          <p:cNvPr id="4" name="TextBox 3">
            <a:extLst>
              <a:ext uri="{FF2B5EF4-FFF2-40B4-BE49-F238E27FC236}">
                <a16:creationId xmlns:a16="http://schemas.microsoft.com/office/drawing/2014/main" id="{BDD5ED2B-0BD4-ACFC-DEA8-6B64195C1B71}"/>
              </a:ext>
            </a:extLst>
          </p:cNvPr>
          <p:cNvSpPr txBox="1"/>
          <p:nvPr/>
        </p:nvSpPr>
        <p:spPr>
          <a:xfrm>
            <a:off x="128833" y="1755445"/>
            <a:ext cx="11934334" cy="4524315"/>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Belief in God may be associated with reduction in stress, depression and loneliness. According to many reports it has been revealed that a large number of people live with chronic feeling of loneliness.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At least </a:t>
            </a:r>
            <a:r>
              <a:rPr lang="en-US" sz="3200" dirty="0">
                <a:solidFill>
                  <a:schemeClr val="accent1"/>
                </a:solidFill>
                <a:latin typeface="Times New Roman" panose="02020603050405020304" pitchFamily="18" charset="0"/>
                <a:cs typeface="Times New Roman" panose="02020603050405020304" pitchFamily="18" charset="0"/>
              </a:rPr>
              <a:t>two thirds of Americans feel stressed at least once a week</a:t>
            </a:r>
            <a:r>
              <a:rPr lang="en-US" sz="3200" dirty="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US" sz="3200" b="1" dirty="0">
                <a:solidFill>
                  <a:srgbClr val="00B050"/>
                </a:solidFill>
                <a:latin typeface="Times New Roman" panose="02020603050405020304" pitchFamily="18" charset="0"/>
                <a:cs typeface="Times New Roman" panose="02020603050405020304" pitchFamily="18" charset="0"/>
              </a:rPr>
              <a:t>Stress, depression and loneliness</a:t>
            </a:r>
            <a:r>
              <a:rPr lang="en-US" sz="3200" dirty="0">
                <a:latin typeface="Times New Roman" panose="02020603050405020304" pitchFamily="18" charset="0"/>
                <a:cs typeface="Times New Roman" panose="02020603050405020304" pitchFamily="18" charset="0"/>
              </a:rPr>
              <a:t> can have serious consequences.</a:t>
            </a:r>
          </a:p>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Stress causes an </a:t>
            </a:r>
            <a:r>
              <a:rPr lang="en-US" sz="3200" b="1" dirty="0">
                <a:solidFill>
                  <a:schemeClr val="accent2">
                    <a:lumMod val="50000"/>
                  </a:schemeClr>
                </a:solidFill>
                <a:latin typeface="Times New Roman" panose="02020603050405020304" pitchFamily="18" charset="0"/>
                <a:cs typeface="Times New Roman" panose="02020603050405020304" pitchFamily="18" charset="0"/>
              </a:rPr>
              <a:t>increase in blood glucose </a:t>
            </a:r>
            <a:r>
              <a:rPr lang="en-US" sz="3200" dirty="0">
                <a:latin typeface="Times New Roman" panose="02020603050405020304" pitchFamily="18" charset="0"/>
                <a:cs typeface="Times New Roman" panose="02020603050405020304" pitchFamily="18" charset="0"/>
              </a:rPr>
              <a:t>leading to diabetes in those who are predisposed </a:t>
            </a:r>
          </a:p>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Stress may cause the release of an hormone (adrenalin) resulting to the </a:t>
            </a:r>
            <a:r>
              <a:rPr lang="en-US" sz="3200" b="1" dirty="0">
                <a:solidFill>
                  <a:srgbClr val="7030A0"/>
                </a:solidFill>
                <a:latin typeface="Times New Roman" panose="02020603050405020304" pitchFamily="18" charset="0"/>
                <a:cs typeface="Times New Roman" panose="02020603050405020304" pitchFamily="18" charset="0"/>
              </a:rPr>
              <a:t>heart beat </a:t>
            </a:r>
            <a:r>
              <a:rPr lang="en-US" sz="3200" dirty="0">
                <a:latin typeface="Times New Roman" panose="02020603050405020304" pitchFamily="18" charset="0"/>
                <a:cs typeface="Times New Roman" panose="02020603050405020304" pitchFamily="18" charset="0"/>
              </a:rPr>
              <a:t>more rapidly and powerfully.</a:t>
            </a:r>
          </a:p>
        </p:txBody>
      </p:sp>
    </p:spTree>
    <p:extLst>
      <p:ext uri="{BB962C8B-B14F-4D97-AF65-F5344CB8AC3E}">
        <p14:creationId xmlns:p14="http://schemas.microsoft.com/office/powerpoint/2010/main" val="3833011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1B75A-C398-EAD0-E7B9-571AFAFE3447}"/>
              </a:ext>
            </a:extLst>
          </p:cNvPr>
          <p:cNvSpPr>
            <a:spLocks noGrp="1"/>
          </p:cNvSpPr>
          <p:nvPr>
            <p:ph type="title"/>
          </p:nvPr>
        </p:nvSpPr>
        <p:spPr/>
        <p:txBody>
          <a:bodyPr>
            <a:noAutofit/>
          </a:bodyPr>
          <a:lstStyle/>
          <a:p>
            <a:pPr algn="ctr"/>
            <a:br>
              <a:rPr lang="en-US" sz="4000" b="1" dirty="0">
                <a:solidFill>
                  <a:srgbClr val="FF0000"/>
                </a:solidFill>
              </a:rPr>
            </a:br>
            <a:r>
              <a:rPr lang="en-US" sz="4000" b="1" dirty="0">
                <a:solidFill>
                  <a:srgbClr val="FF0000"/>
                </a:solidFill>
              </a:rPr>
              <a:t>Benefits of prayer</a:t>
            </a:r>
          </a:p>
        </p:txBody>
      </p:sp>
      <p:sp>
        <p:nvSpPr>
          <p:cNvPr id="4" name="TextBox 3">
            <a:extLst>
              <a:ext uri="{FF2B5EF4-FFF2-40B4-BE49-F238E27FC236}">
                <a16:creationId xmlns:a16="http://schemas.microsoft.com/office/drawing/2014/main" id="{00E59A71-536C-4AC1-BBAC-7902AA81DCC2}"/>
              </a:ext>
            </a:extLst>
          </p:cNvPr>
          <p:cNvSpPr txBox="1"/>
          <p:nvPr/>
        </p:nvSpPr>
        <p:spPr>
          <a:xfrm>
            <a:off x="114693" y="1733688"/>
            <a:ext cx="11962614" cy="3785652"/>
          </a:xfrm>
          <a:prstGeom prst="rect">
            <a:avLst/>
          </a:prstGeom>
          <a:noFill/>
        </p:spPr>
        <p:txBody>
          <a:bodyPr wrap="square">
            <a:spAutoFit/>
          </a:bodyPr>
          <a:lstStyle/>
          <a:p>
            <a:pPr marL="457200" indent="-457200" algn="l">
              <a:buFont typeface="Arial" panose="020B0604020202020204" pitchFamily="34" charset="0"/>
              <a:buChar char="•"/>
            </a:pPr>
            <a:r>
              <a:rPr lang="en-US" sz="3000" b="1" i="0" dirty="0">
                <a:solidFill>
                  <a:srgbClr val="FF0000"/>
                </a:solidFill>
                <a:effectLst/>
                <a:latin typeface="Söhne"/>
              </a:rPr>
              <a:t>Stress reduction</a:t>
            </a:r>
            <a:r>
              <a:rPr lang="en-US" sz="3000" b="0" i="0" dirty="0">
                <a:solidFill>
                  <a:srgbClr val="374151"/>
                </a:solidFill>
                <a:effectLst/>
                <a:latin typeface="Söhne"/>
              </a:rPr>
              <a:t>: Engaging in prayer can provide a </a:t>
            </a:r>
            <a:r>
              <a:rPr lang="en-US" sz="3000" b="1" i="0" dirty="0">
                <a:solidFill>
                  <a:srgbClr val="7030A0"/>
                </a:solidFill>
                <a:effectLst/>
                <a:latin typeface="Söhne"/>
              </a:rPr>
              <a:t>sense of comfort, solace, and inner peace</a:t>
            </a:r>
            <a:r>
              <a:rPr lang="en-US" sz="3000" b="0" i="0" dirty="0">
                <a:solidFill>
                  <a:srgbClr val="374151"/>
                </a:solidFill>
                <a:effectLst/>
                <a:latin typeface="Söhne"/>
              </a:rPr>
              <a:t>. It can be a </a:t>
            </a:r>
            <a:r>
              <a:rPr lang="en-US" sz="3000" b="1" i="0" dirty="0">
                <a:solidFill>
                  <a:srgbClr val="7030A0"/>
                </a:solidFill>
                <a:effectLst/>
                <a:latin typeface="Söhne"/>
              </a:rPr>
              <a:t>form of relaxation </a:t>
            </a:r>
            <a:r>
              <a:rPr lang="en-US" sz="3000" b="0" i="0" dirty="0">
                <a:solidFill>
                  <a:srgbClr val="374151"/>
                </a:solidFill>
                <a:effectLst/>
                <a:latin typeface="Söhne"/>
              </a:rPr>
              <a:t>that helps reduce stress levels, promote emotional well-being, and provide a sense of calmness during challenging times.</a:t>
            </a:r>
          </a:p>
          <a:p>
            <a:pPr marL="457200" indent="-457200" algn="l">
              <a:buFont typeface="Arial" panose="020B0604020202020204" pitchFamily="34" charset="0"/>
              <a:buChar char="•"/>
            </a:pPr>
            <a:r>
              <a:rPr lang="en-US" sz="3000" b="1" dirty="0">
                <a:solidFill>
                  <a:srgbClr val="00B050"/>
                </a:solidFill>
                <a:latin typeface="Söhne"/>
              </a:rPr>
              <a:t>Talking to God as to a friend, telling him all our joys, sorrows</a:t>
            </a:r>
            <a:r>
              <a:rPr lang="en-US" sz="3000" dirty="0">
                <a:solidFill>
                  <a:srgbClr val="374151"/>
                </a:solidFill>
                <a:latin typeface="Söhne"/>
              </a:rPr>
              <a:t>, can bring happiness, healing, and religious satisfaction.</a:t>
            </a:r>
          </a:p>
          <a:p>
            <a:pPr marL="457200" indent="-457200" algn="l">
              <a:buFont typeface="Arial" panose="020B0604020202020204" pitchFamily="34" charset="0"/>
              <a:buChar char="•"/>
            </a:pPr>
            <a:r>
              <a:rPr lang="en-US" sz="3000" b="1" i="0" dirty="0">
                <a:solidFill>
                  <a:srgbClr val="FF0000"/>
                </a:solidFill>
                <a:effectLst/>
                <a:latin typeface="Söhne"/>
              </a:rPr>
              <a:t>Positive emotions</a:t>
            </a:r>
            <a:r>
              <a:rPr lang="en-US" sz="3000" b="0" i="0" dirty="0">
                <a:solidFill>
                  <a:srgbClr val="374151"/>
                </a:solidFill>
                <a:effectLst/>
                <a:latin typeface="Söhne"/>
              </a:rPr>
              <a:t>: Prayer can </a:t>
            </a:r>
            <a:r>
              <a:rPr lang="en-US" sz="3000" b="1" i="0" dirty="0">
                <a:solidFill>
                  <a:srgbClr val="00B050"/>
                </a:solidFill>
                <a:effectLst/>
                <a:latin typeface="Söhne"/>
              </a:rPr>
              <a:t>evoke positive emotions such as gratitude, love, compassion, and forgiveness</a:t>
            </a:r>
            <a:r>
              <a:rPr lang="en-US" sz="3000" b="0" i="0" dirty="0">
                <a:solidFill>
                  <a:srgbClr val="374151"/>
                </a:solidFill>
                <a:effectLst/>
                <a:latin typeface="Söhne"/>
              </a:rPr>
              <a:t>.</a:t>
            </a:r>
          </a:p>
        </p:txBody>
      </p:sp>
    </p:spTree>
    <p:extLst>
      <p:ext uri="{BB962C8B-B14F-4D97-AF65-F5344CB8AC3E}">
        <p14:creationId xmlns:p14="http://schemas.microsoft.com/office/powerpoint/2010/main" val="1279459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C24EE-0598-7EAB-06A5-A5BBC28EF6C1}"/>
              </a:ext>
            </a:extLst>
          </p:cNvPr>
          <p:cNvSpPr>
            <a:spLocks noGrp="1"/>
          </p:cNvSpPr>
          <p:nvPr>
            <p:ph type="title"/>
          </p:nvPr>
        </p:nvSpPr>
        <p:spPr/>
        <p:txBody>
          <a:bodyPr>
            <a:normAutofit/>
          </a:bodyPr>
          <a:lstStyle/>
          <a:p>
            <a:r>
              <a:rPr lang="en-US" sz="4000" b="1" dirty="0">
                <a:solidFill>
                  <a:srgbClr val="FF0000"/>
                </a:solidFill>
              </a:rPr>
              <a:t>Spiritual and moral values</a:t>
            </a:r>
          </a:p>
        </p:txBody>
      </p:sp>
      <p:sp>
        <p:nvSpPr>
          <p:cNvPr id="4" name="TextBox 3">
            <a:extLst>
              <a:ext uri="{FF2B5EF4-FFF2-40B4-BE49-F238E27FC236}">
                <a16:creationId xmlns:a16="http://schemas.microsoft.com/office/drawing/2014/main" id="{F9D63402-C84C-91B6-7704-70877DDCD27C}"/>
              </a:ext>
            </a:extLst>
          </p:cNvPr>
          <p:cNvSpPr txBox="1"/>
          <p:nvPr/>
        </p:nvSpPr>
        <p:spPr>
          <a:xfrm>
            <a:off x="0" y="1806002"/>
            <a:ext cx="12192000" cy="4493538"/>
          </a:xfrm>
          <a:prstGeom prst="rect">
            <a:avLst/>
          </a:prstGeom>
          <a:noFill/>
        </p:spPr>
        <p:txBody>
          <a:bodyPr wrap="square">
            <a:spAutoFit/>
          </a:bodyPr>
          <a:lstStyle/>
          <a:p>
            <a:pPr marL="457200" indent="-457200">
              <a:buFont typeface="Arial" panose="020B0604020202020204" pitchFamily="34" charset="0"/>
              <a:buChar char="•"/>
            </a:pPr>
            <a:r>
              <a:rPr lang="en-US" sz="2600" dirty="0"/>
              <a:t>Belief in spiritual values </a:t>
            </a:r>
            <a:r>
              <a:rPr lang="en-US" sz="2600" b="1" dirty="0">
                <a:solidFill>
                  <a:srgbClr val="7030A0"/>
                </a:solidFill>
              </a:rPr>
              <a:t>has been a strong motivator to treat others well </a:t>
            </a:r>
            <a:r>
              <a:rPr lang="en-US" sz="2600" dirty="0"/>
              <a:t>and to </a:t>
            </a:r>
            <a:r>
              <a:rPr lang="en-US" sz="2600" b="1" dirty="0">
                <a:solidFill>
                  <a:srgbClr val="7030A0"/>
                </a:solidFill>
              </a:rPr>
              <a:t>develop peaceful human </a:t>
            </a:r>
            <a:r>
              <a:rPr lang="en-US" sz="2600" b="1" dirty="0" err="1">
                <a:solidFill>
                  <a:srgbClr val="7030A0"/>
                </a:solidFill>
              </a:rPr>
              <a:t>relatioships</a:t>
            </a:r>
            <a:r>
              <a:rPr lang="en-US" sz="2600" dirty="0"/>
              <a:t>.</a:t>
            </a:r>
          </a:p>
          <a:p>
            <a:pPr marL="457200" indent="-457200">
              <a:buFont typeface="Arial" panose="020B0604020202020204" pitchFamily="34" charset="0"/>
              <a:buChar char="•"/>
            </a:pPr>
            <a:r>
              <a:rPr lang="en-US" sz="2600" dirty="0"/>
              <a:t>History demonstrates that </a:t>
            </a:r>
            <a:r>
              <a:rPr lang="en-US" sz="2600" b="1" dirty="0">
                <a:solidFill>
                  <a:srgbClr val="C00000"/>
                </a:solidFill>
              </a:rPr>
              <a:t>faithless and amoral societies </a:t>
            </a:r>
            <a:r>
              <a:rPr lang="en-US" sz="2600" dirty="0"/>
              <a:t>become </a:t>
            </a:r>
            <a:r>
              <a:rPr lang="en-US" sz="2600" b="1" dirty="0"/>
              <a:t>so corrupt that they cannot survive</a:t>
            </a:r>
            <a:r>
              <a:rPr lang="en-US" sz="2600" dirty="0"/>
              <a:t>. Belief is fundamental to science as well as to religion.</a:t>
            </a:r>
          </a:p>
          <a:p>
            <a:pPr marL="457200" indent="-457200">
              <a:buFont typeface="Arial" panose="020B0604020202020204" pitchFamily="34" charset="0"/>
              <a:buChar char="•"/>
            </a:pPr>
            <a:r>
              <a:rPr lang="en-US" sz="2600" dirty="0"/>
              <a:t>Studies indicate that those with </a:t>
            </a:r>
            <a:r>
              <a:rPr lang="en-US" sz="2600" b="1" dirty="0">
                <a:solidFill>
                  <a:srgbClr val="7030A0"/>
                </a:solidFill>
              </a:rPr>
              <a:t>regular spiritual practices who meet with a faith community </a:t>
            </a:r>
            <a:r>
              <a:rPr lang="en-US" sz="2600" b="1" dirty="0">
                <a:solidFill>
                  <a:schemeClr val="accent1"/>
                </a:solidFill>
              </a:rPr>
              <a:t>live longer</a:t>
            </a:r>
            <a:r>
              <a:rPr lang="en-US" sz="2600" dirty="0"/>
              <a:t>, </a:t>
            </a:r>
            <a:r>
              <a:rPr lang="en-US" sz="2600" b="1" dirty="0"/>
              <a:t>live better</a:t>
            </a:r>
            <a:r>
              <a:rPr lang="en-US" sz="2600" dirty="0"/>
              <a:t>, and are </a:t>
            </a:r>
            <a:r>
              <a:rPr lang="en-US" sz="2600" b="1" dirty="0">
                <a:solidFill>
                  <a:srgbClr val="0070C0"/>
                </a:solidFill>
              </a:rPr>
              <a:t>far less likely to have a stroke </a:t>
            </a:r>
            <a:r>
              <a:rPr lang="en-US" sz="2600" dirty="0"/>
              <a:t>or </a:t>
            </a:r>
            <a:r>
              <a:rPr lang="en-US" sz="2600" b="1" dirty="0">
                <a:solidFill>
                  <a:srgbClr val="0070C0"/>
                </a:solidFill>
              </a:rPr>
              <a:t>heart attack</a:t>
            </a:r>
            <a:r>
              <a:rPr lang="en-US" sz="2600" dirty="0"/>
              <a:t>.</a:t>
            </a:r>
          </a:p>
          <a:p>
            <a:pPr marL="457200" indent="-457200">
              <a:buFont typeface="Arial" panose="020B0604020202020204" pitchFamily="34" charset="0"/>
              <a:buChar char="•"/>
            </a:pPr>
            <a:r>
              <a:rPr lang="en-US" sz="2600" b="1" dirty="0">
                <a:solidFill>
                  <a:srgbClr val="FF0000"/>
                </a:solidFill>
              </a:rPr>
              <a:t>Faith can provide strength to overcome stress </a:t>
            </a:r>
            <a:r>
              <a:rPr lang="en-US" sz="2600" dirty="0"/>
              <a:t>and </a:t>
            </a:r>
            <a:r>
              <a:rPr lang="en-US" sz="2600" b="1" dirty="0">
                <a:solidFill>
                  <a:srgbClr val="FF0000"/>
                </a:solidFill>
              </a:rPr>
              <a:t>destructive habits</a:t>
            </a:r>
            <a:r>
              <a:rPr lang="en-US" sz="2600" dirty="0"/>
              <a:t>. </a:t>
            </a:r>
          </a:p>
          <a:p>
            <a:pPr marL="457200" indent="-457200">
              <a:buFont typeface="Arial" panose="020B0604020202020204" pitchFamily="34" charset="0"/>
              <a:buChar char="•"/>
            </a:pPr>
            <a:r>
              <a:rPr lang="en-US" sz="2600" b="1" dirty="0">
                <a:solidFill>
                  <a:srgbClr val="00B0F0"/>
                </a:solidFill>
              </a:rPr>
              <a:t>Belief can give you peace of mind </a:t>
            </a:r>
            <a:r>
              <a:rPr lang="en-US" sz="2600" dirty="0"/>
              <a:t>and enable you to reach your full potential through positive choices.</a:t>
            </a:r>
          </a:p>
          <a:p>
            <a:pPr marL="457200" indent="-457200">
              <a:buFont typeface="Arial" panose="020B0604020202020204" pitchFamily="34" charset="0"/>
              <a:buChar char="•"/>
            </a:pPr>
            <a:r>
              <a:rPr lang="en-US" sz="2600" b="1" dirty="0">
                <a:solidFill>
                  <a:srgbClr val="00B050"/>
                </a:solidFill>
                <a:latin typeface="Aharoni" panose="02010803020104030203" pitchFamily="2" charset="-79"/>
                <a:cs typeface="Aharoni" panose="02010803020104030203" pitchFamily="2" charset="-79"/>
              </a:rPr>
              <a:t>Celebrate belief it is the foundation of life!</a:t>
            </a:r>
          </a:p>
        </p:txBody>
      </p:sp>
    </p:spTree>
    <p:extLst>
      <p:ext uri="{BB962C8B-B14F-4D97-AF65-F5344CB8AC3E}">
        <p14:creationId xmlns:p14="http://schemas.microsoft.com/office/powerpoint/2010/main" val="690553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239C9-3B3F-A1FB-6AD5-230F54AF987A}"/>
              </a:ext>
            </a:extLst>
          </p:cNvPr>
          <p:cNvSpPr>
            <a:spLocks noGrp="1"/>
          </p:cNvSpPr>
          <p:nvPr>
            <p:ph type="title"/>
          </p:nvPr>
        </p:nvSpPr>
        <p:spPr/>
        <p:txBody>
          <a:bodyPr>
            <a:normAutofit/>
          </a:bodyPr>
          <a:lstStyle/>
          <a:p>
            <a:pPr algn="ctr"/>
            <a:r>
              <a:rPr lang="en-US" sz="4000" b="1" dirty="0">
                <a:solidFill>
                  <a:srgbClr val="FF0000"/>
                </a:solidFill>
              </a:rPr>
              <a:t>Peace of mind</a:t>
            </a:r>
          </a:p>
        </p:txBody>
      </p:sp>
      <p:sp>
        <p:nvSpPr>
          <p:cNvPr id="4" name="TextBox 3">
            <a:extLst>
              <a:ext uri="{FF2B5EF4-FFF2-40B4-BE49-F238E27FC236}">
                <a16:creationId xmlns:a16="http://schemas.microsoft.com/office/drawing/2014/main" id="{73A5C963-2B32-0BB0-80B8-963EFFC75A53}"/>
              </a:ext>
            </a:extLst>
          </p:cNvPr>
          <p:cNvSpPr txBox="1"/>
          <p:nvPr/>
        </p:nvSpPr>
        <p:spPr>
          <a:xfrm>
            <a:off x="103695" y="1853754"/>
            <a:ext cx="12088305" cy="4108817"/>
          </a:xfrm>
          <a:prstGeom prst="rect">
            <a:avLst/>
          </a:prstGeom>
          <a:noFill/>
        </p:spPr>
        <p:txBody>
          <a:bodyPr wrap="square">
            <a:spAutoFit/>
          </a:bodyPr>
          <a:lstStyle/>
          <a:p>
            <a:pPr marL="285750" indent="-285750">
              <a:buFont typeface="Arial" panose="020B0604020202020204" pitchFamily="34" charset="0"/>
              <a:buChar char="•"/>
            </a:pPr>
            <a:r>
              <a:rPr lang="en-US" sz="2900" b="1" i="0" dirty="0">
                <a:solidFill>
                  <a:srgbClr val="FF0000"/>
                </a:solidFill>
                <a:effectLst/>
                <a:latin typeface="Times New Roman" panose="02020603050405020304" pitchFamily="18" charset="0"/>
                <a:cs typeface="Times New Roman" panose="02020603050405020304" pitchFamily="18" charset="0"/>
              </a:rPr>
              <a:t>Isaiah 26:3</a:t>
            </a:r>
            <a:r>
              <a:rPr lang="en-US" sz="2900" b="0" i="0" dirty="0">
                <a:solidFill>
                  <a:srgbClr val="000000"/>
                </a:solidFill>
                <a:effectLst/>
                <a:latin typeface="Times New Roman" panose="02020603050405020304" pitchFamily="18" charset="0"/>
                <a:cs typeface="Times New Roman" panose="02020603050405020304" pitchFamily="18" charset="0"/>
              </a:rPr>
              <a:t>: The Bible says  ‘</a:t>
            </a:r>
            <a:r>
              <a:rPr lang="en-US" sz="2900" b="1" i="0" dirty="0">
                <a:solidFill>
                  <a:srgbClr val="0070C0"/>
                </a:solidFill>
                <a:effectLst/>
                <a:latin typeface="Times New Roman" panose="02020603050405020304" pitchFamily="18" charset="0"/>
                <a:cs typeface="Times New Roman" panose="02020603050405020304" pitchFamily="18" charset="0"/>
              </a:rPr>
              <a:t>’You will keep </a:t>
            </a:r>
            <a:r>
              <a:rPr lang="en-US" sz="2900" b="1" i="1" dirty="0">
                <a:solidFill>
                  <a:srgbClr val="0070C0"/>
                </a:solidFill>
                <a:effectLst/>
                <a:latin typeface="Times New Roman" panose="02020603050405020304" pitchFamily="18" charset="0"/>
                <a:cs typeface="Times New Roman" panose="02020603050405020304" pitchFamily="18" charset="0"/>
              </a:rPr>
              <a:t>him</a:t>
            </a:r>
            <a:r>
              <a:rPr lang="en-US" sz="2900" b="1" i="0" dirty="0">
                <a:solidFill>
                  <a:srgbClr val="0070C0"/>
                </a:solidFill>
                <a:effectLst/>
                <a:latin typeface="Times New Roman" panose="02020603050405020304" pitchFamily="18" charset="0"/>
                <a:cs typeface="Times New Roman" panose="02020603050405020304" pitchFamily="18" charset="0"/>
              </a:rPr>
              <a:t> in perfect peace, </a:t>
            </a:r>
            <a:r>
              <a:rPr lang="en-US" sz="2900" b="1" i="1" dirty="0">
                <a:solidFill>
                  <a:srgbClr val="0070C0"/>
                </a:solidFill>
                <a:effectLst/>
                <a:latin typeface="Times New Roman" panose="02020603050405020304" pitchFamily="18" charset="0"/>
                <a:cs typeface="Times New Roman" panose="02020603050405020304" pitchFamily="18" charset="0"/>
              </a:rPr>
              <a:t>Whose</a:t>
            </a:r>
            <a:r>
              <a:rPr lang="en-US" sz="2900" b="1" i="0" dirty="0">
                <a:solidFill>
                  <a:srgbClr val="0070C0"/>
                </a:solidFill>
                <a:effectLst/>
                <a:latin typeface="Times New Roman" panose="02020603050405020304" pitchFamily="18" charset="0"/>
                <a:cs typeface="Times New Roman" panose="02020603050405020304" pitchFamily="18" charset="0"/>
              </a:rPr>
              <a:t> mind </a:t>
            </a:r>
            <a:r>
              <a:rPr lang="en-US" sz="2900" b="1" i="1" dirty="0">
                <a:solidFill>
                  <a:srgbClr val="0070C0"/>
                </a:solidFill>
                <a:effectLst/>
                <a:latin typeface="Times New Roman" panose="02020603050405020304" pitchFamily="18" charset="0"/>
                <a:cs typeface="Times New Roman" panose="02020603050405020304" pitchFamily="18" charset="0"/>
              </a:rPr>
              <a:t>is</a:t>
            </a:r>
            <a:r>
              <a:rPr lang="en-US" sz="2900" b="1" i="0" dirty="0">
                <a:solidFill>
                  <a:srgbClr val="0070C0"/>
                </a:solidFill>
                <a:effectLst/>
                <a:latin typeface="Times New Roman" panose="02020603050405020304" pitchFamily="18" charset="0"/>
                <a:cs typeface="Times New Roman" panose="02020603050405020304" pitchFamily="18" charset="0"/>
              </a:rPr>
              <a:t> stayed </a:t>
            </a:r>
            <a:r>
              <a:rPr lang="en-US" sz="2900" b="1" i="1" dirty="0">
                <a:solidFill>
                  <a:srgbClr val="0070C0"/>
                </a:solidFill>
                <a:effectLst/>
                <a:latin typeface="Times New Roman" panose="02020603050405020304" pitchFamily="18" charset="0"/>
                <a:cs typeface="Times New Roman" panose="02020603050405020304" pitchFamily="18" charset="0"/>
              </a:rPr>
              <a:t>on You, </a:t>
            </a:r>
            <a:r>
              <a:rPr lang="en-US" sz="2900" b="1" i="0" dirty="0">
                <a:solidFill>
                  <a:srgbClr val="0070C0"/>
                </a:solidFill>
                <a:effectLst/>
                <a:latin typeface="Times New Roman" panose="02020603050405020304" pitchFamily="18" charset="0"/>
                <a:cs typeface="Times New Roman" panose="02020603050405020304" pitchFamily="18" charset="0"/>
              </a:rPr>
              <a:t>Because he trusts in You</a:t>
            </a:r>
            <a:r>
              <a:rPr lang="en-US" sz="2900" b="0" i="0" dirty="0">
                <a:solidFill>
                  <a:srgbClr val="000000"/>
                </a:solidFill>
                <a:effectLst/>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900" dirty="0">
                <a:solidFill>
                  <a:srgbClr val="000000"/>
                </a:solidFill>
                <a:latin typeface="Times New Roman" panose="02020603050405020304" pitchFamily="18" charset="0"/>
                <a:cs typeface="Times New Roman" panose="02020603050405020304" pitchFamily="18" charset="0"/>
              </a:rPr>
              <a:t>When we have a </a:t>
            </a:r>
            <a:r>
              <a:rPr lang="en-US" sz="2900" b="1" dirty="0">
                <a:solidFill>
                  <a:srgbClr val="7030A0"/>
                </a:solidFill>
                <a:latin typeface="Times New Roman" panose="02020603050405020304" pitchFamily="18" charset="0"/>
                <a:cs typeface="Times New Roman" panose="02020603050405020304" pitchFamily="18" charset="0"/>
              </a:rPr>
              <a:t>close relationship with God, we experience peace of mind</a:t>
            </a:r>
            <a:r>
              <a:rPr lang="en-US" sz="2900" dirty="0">
                <a:solidFill>
                  <a:srgbClr val="000000"/>
                </a:solidFill>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2900" b="1" dirty="0">
                <a:solidFill>
                  <a:srgbClr val="00B050"/>
                </a:solidFill>
                <a:latin typeface="Times New Roman" panose="02020603050405020304" pitchFamily="18" charset="0"/>
                <a:cs typeface="Times New Roman" panose="02020603050405020304" pitchFamily="18" charset="0"/>
              </a:rPr>
              <a:t>This does not mean that those who believe in God and trust him absolutely will be free from problems</a:t>
            </a:r>
            <a:r>
              <a:rPr lang="en-US" sz="2900" dirty="0">
                <a:solidFill>
                  <a:srgbClr val="000000"/>
                </a:solidFill>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2900" dirty="0">
                <a:solidFill>
                  <a:srgbClr val="000000"/>
                </a:solidFill>
                <a:latin typeface="Times New Roman" panose="02020603050405020304" pitchFamily="18" charset="0"/>
                <a:cs typeface="Times New Roman" panose="02020603050405020304" pitchFamily="18" charset="0"/>
              </a:rPr>
              <a:t>Trouble and turbulence may surround us, </a:t>
            </a:r>
            <a:r>
              <a:rPr lang="en-US" sz="2900" b="1" dirty="0">
                <a:solidFill>
                  <a:srgbClr val="000000"/>
                </a:solidFill>
                <a:latin typeface="Times New Roman" panose="02020603050405020304" pitchFamily="18" charset="0"/>
                <a:cs typeface="Times New Roman" panose="02020603050405020304" pitchFamily="18" charset="0"/>
              </a:rPr>
              <a:t>yet we enjoy a calmness and peace of mind </a:t>
            </a:r>
            <a:r>
              <a:rPr lang="en-US" sz="2900" dirty="0">
                <a:solidFill>
                  <a:srgbClr val="000000"/>
                </a:solidFill>
                <a:latin typeface="Times New Roman" panose="02020603050405020304" pitchFamily="18" charset="0"/>
                <a:cs typeface="Times New Roman" panose="02020603050405020304" pitchFamily="18" charset="0"/>
              </a:rPr>
              <a:t>of which the world knows nothing. </a:t>
            </a:r>
          </a:p>
          <a:p>
            <a:pPr marL="285750" indent="-285750">
              <a:buFont typeface="Arial" panose="020B0604020202020204" pitchFamily="34" charset="0"/>
              <a:buChar char="•"/>
            </a:pPr>
            <a:r>
              <a:rPr lang="en-US" sz="2900" dirty="0">
                <a:solidFill>
                  <a:srgbClr val="000000"/>
                </a:solidFill>
                <a:latin typeface="Times New Roman" panose="02020603050405020304" pitchFamily="18" charset="0"/>
                <a:cs typeface="Times New Roman" panose="02020603050405020304" pitchFamily="18" charset="0"/>
              </a:rPr>
              <a:t>The </a:t>
            </a:r>
            <a:r>
              <a:rPr lang="en-US" sz="2900" b="1" dirty="0">
                <a:solidFill>
                  <a:srgbClr val="C00000"/>
                </a:solidFill>
                <a:latin typeface="Times New Roman" panose="02020603050405020304" pitchFamily="18" charset="0"/>
                <a:cs typeface="Times New Roman" panose="02020603050405020304" pitchFamily="18" charset="0"/>
              </a:rPr>
              <a:t>peace of the Christian depends </a:t>
            </a:r>
            <a:r>
              <a:rPr lang="en-US" sz="2900" dirty="0">
                <a:solidFill>
                  <a:srgbClr val="000000"/>
                </a:solidFill>
                <a:latin typeface="Times New Roman" panose="02020603050405020304" pitchFamily="18" charset="0"/>
                <a:cs typeface="Times New Roman" panose="02020603050405020304" pitchFamily="18" charset="0"/>
              </a:rPr>
              <a:t>not upon peaceful conditions in the world about him but upon the indwelling of the Spirit of God.</a:t>
            </a:r>
            <a:endParaRPr lang="en-US" sz="2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8461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1CCEE-F66C-D9E7-3EDD-2DE646BAF325}"/>
              </a:ext>
            </a:extLst>
          </p:cNvPr>
          <p:cNvSpPr>
            <a:spLocks noGrp="1"/>
          </p:cNvSpPr>
          <p:nvPr>
            <p:ph type="title"/>
          </p:nvPr>
        </p:nvSpPr>
        <p:spPr/>
        <p:txBody>
          <a:bodyPr/>
          <a:lstStyle/>
          <a:p>
            <a:pPr algn="ctr"/>
            <a:r>
              <a:rPr lang="en-US" dirty="0"/>
              <a:t>Cont’d...</a:t>
            </a:r>
          </a:p>
        </p:txBody>
      </p:sp>
      <p:sp>
        <p:nvSpPr>
          <p:cNvPr id="4" name="TextBox 3">
            <a:extLst>
              <a:ext uri="{FF2B5EF4-FFF2-40B4-BE49-F238E27FC236}">
                <a16:creationId xmlns:a16="http://schemas.microsoft.com/office/drawing/2014/main" id="{C439BF45-7EF2-CE7D-CC1A-AF9A7E56DC86}"/>
              </a:ext>
            </a:extLst>
          </p:cNvPr>
          <p:cNvSpPr txBox="1"/>
          <p:nvPr/>
        </p:nvSpPr>
        <p:spPr>
          <a:xfrm>
            <a:off x="280447" y="1724261"/>
            <a:ext cx="11823569" cy="443717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Trust in yourself, and you are doomed to disappointment.</a:t>
            </a:r>
          </a:p>
          <a:p>
            <a:pPr marL="285750" indent="-285750">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Trust in your friends, and they will die and leave you.</a:t>
            </a:r>
          </a:p>
          <a:p>
            <a:pPr marL="285750" indent="-285750">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Trust in money, and you may have it taken from you.</a:t>
            </a:r>
          </a:p>
          <a:p>
            <a:pPr marL="285750" indent="-285750">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Trust in reputation, and some slanderous tongue may blast it.</a:t>
            </a:r>
          </a:p>
          <a:p>
            <a:pPr marL="285750" indent="-285750">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But </a:t>
            </a:r>
            <a:r>
              <a:rPr lang="en-US" sz="3200" b="1" dirty="0">
                <a:solidFill>
                  <a:srgbClr val="7030A0"/>
                </a:solidFill>
                <a:latin typeface="Times New Roman" panose="02020603050405020304" pitchFamily="18" charset="0"/>
                <a:cs typeface="Times New Roman" panose="02020603050405020304" pitchFamily="18" charset="0"/>
              </a:rPr>
              <a:t>trust in God, and you will never be confounded in time or eternity</a:t>
            </a:r>
            <a:endParaRPr lang="en-US" sz="3200" b="1" dirty="0">
              <a:solidFill>
                <a:srgbClr val="7030A0"/>
              </a:solidFill>
            </a:endParaRPr>
          </a:p>
        </p:txBody>
      </p:sp>
    </p:spTree>
    <p:extLst>
      <p:ext uri="{BB962C8B-B14F-4D97-AF65-F5344CB8AC3E}">
        <p14:creationId xmlns:p14="http://schemas.microsoft.com/office/powerpoint/2010/main" val="3526564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F4CF-76E6-9BB7-A829-39DA36C2F932}"/>
              </a:ext>
            </a:extLst>
          </p:cNvPr>
          <p:cNvSpPr>
            <a:spLocks noGrp="1"/>
          </p:cNvSpPr>
          <p:nvPr>
            <p:ph type="title"/>
          </p:nvPr>
        </p:nvSpPr>
        <p:spPr/>
        <p:txBody>
          <a:bodyPr>
            <a:normAutofit/>
          </a:bodyPr>
          <a:lstStyle/>
          <a:p>
            <a:r>
              <a:rPr lang="en-US" sz="4000" b="1" dirty="0">
                <a:solidFill>
                  <a:srgbClr val="FF0000"/>
                </a:solidFill>
              </a:rPr>
              <a:t>Rest</a:t>
            </a:r>
          </a:p>
        </p:txBody>
      </p:sp>
      <p:sp>
        <p:nvSpPr>
          <p:cNvPr id="4" name="TextBox 3">
            <a:extLst>
              <a:ext uri="{FF2B5EF4-FFF2-40B4-BE49-F238E27FC236}">
                <a16:creationId xmlns:a16="http://schemas.microsoft.com/office/drawing/2014/main" id="{4BF36BF9-D55D-86C6-8581-2765938BEDED}"/>
              </a:ext>
            </a:extLst>
          </p:cNvPr>
          <p:cNvSpPr txBox="1"/>
          <p:nvPr/>
        </p:nvSpPr>
        <p:spPr>
          <a:xfrm>
            <a:off x="67559" y="2174266"/>
            <a:ext cx="12056882" cy="3539430"/>
          </a:xfrm>
          <a:prstGeom prst="rect">
            <a:avLst/>
          </a:prstGeom>
          <a:noFill/>
        </p:spPr>
        <p:txBody>
          <a:bodyPr wrap="square">
            <a:spAutoFit/>
          </a:bodyPr>
          <a:lstStyle/>
          <a:p>
            <a:r>
              <a:rPr lang="en-US" sz="2800" b="1" i="0" dirty="0">
                <a:solidFill>
                  <a:srgbClr val="000000"/>
                </a:solidFill>
                <a:effectLst/>
                <a:latin typeface="Arial Black" panose="020B0A04020102020204" pitchFamily="34" charset="0"/>
              </a:rPr>
              <a:t>Matthew 11:28 </a:t>
            </a:r>
            <a:r>
              <a:rPr lang="en-US" sz="2800" b="0" i="0" dirty="0">
                <a:solidFill>
                  <a:srgbClr val="000000"/>
                </a:solidFill>
                <a:effectLst/>
                <a:latin typeface="ui-sans-serif"/>
              </a:rPr>
              <a:t>“Come to me, all you who are weary and burdened, and I will give you rest.</a:t>
            </a:r>
          </a:p>
          <a:p>
            <a:r>
              <a:rPr lang="en-US" sz="2800" b="1" i="0" dirty="0">
                <a:solidFill>
                  <a:srgbClr val="000000"/>
                </a:solidFill>
                <a:effectLst/>
                <a:latin typeface="Arial Black" panose="020B0A04020102020204" pitchFamily="34" charset="0"/>
              </a:rPr>
              <a:t>Psalm 62:1 </a:t>
            </a:r>
            <a:r>
              <a:rPr lang="en-US" sz="2800" b="0" i="0" dirty="0">
                <a:solidFill>
                  <a:srgbClr val="000000"/>
                </a:solidFill>
                <a:effectLst/>
                <a:latin typeface="system-ui"/>
              </a:rPr>
              <a:t>“Truly my soul finds rest in God; my salvation comes from him”.</a:t>
            </a: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Tired minds </a:t>
            </a:r>
            <a:r>
              <a:rPr lang="en-US" sz="2800" dirty="0">
                <a:latin typeface="Times New Roman" panose="02020603050405020304" pitchFamily="18" charset="0"/>
                <a:cs typeface="Times New Roman" panose="02020603050405020304" pitchFamily="18" charset="0"/>
              </a:rPr>
              <a:t>are much more likely to make </a:t>
            </a:r>
            <a:r>
              <a:rPr lang="en-US" sz="2800" b="1" dirty="0">
                <a:latin typeface="Times New Roman" panose="02020603050405020304" pitchFamily="18" charset="0"/>
                <a:cs typeface="Times New Roman" panose="02020603050405020304" pitchFamily="18" charset="0"/>
              </a:rPr>
              <a:t>serious mistakes</a:t>
            </a:r>
            <a:r>
              <a:rPr lang="en-US" sz="2800" dirty="0">
                <a:latin typeface="Times New Roman" panose="02020603050405020304" pitchFamily="18" charset="0"/>
                <a:cs typeface="Times New Roman" panose="02020603050405020304" pitchFamily="18" charset="0"/>
              </a:rPr>
              <a:t>. In most societies of the world today, a significant percentage of the population is </a:t>
            </a:r>
            <a:r>
              <a:rPr lang="en-US" sz="2800" b="1" dirty="0">
                <a:solidFill>
                  <a:srgbClr val="FF0000"/>
                </a:solidFill>
                <a:latin typeface="Times New Roman" panose="02020603050405020304" pitchFamily="18" charset="0"/>
                <a:cs typeface="Times New Roman" panose="02020603050405020304" pitchFamily="18" charset="0"/>
              </a:rPr>
              <a:t>sleep deprived</a:t>
            </a:r>
            <a:r>
              <a:rPr lang="en-US" sz="28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Without rest and relaxation all humans suffer cognitive impairments</a:t>
            </a:r>
            <a:r>
              <a:rPr lang="en-US" sz="2800" dirty="0">
                <a:latin typeface="Times New Roman" panose="02020603050405020304" pitchFamily="18" charset="0"/>
                <a:cs typeface="Times New Roman" panose="02020603050405020304" pitchFamily="18" charset="0"/>
              </a:rPr>
              <a:t>. </a:t>
            </a:r>
            <a:r>
              <a:rPr lang="en-US" sz="2800" b="1" dirty="0">
                <a:solidFill>
                  <a:srgbClr val="7030A0"/>
                </a:solidFill>
                <a:latin typeface="Times New Roman" panose="02020603050405020304" pitchFamily="18" charset="0"/>
                <a:cs typeface="Times New Roman" panose="02020603050405020304" pitchFamily="18" charset="0"/>
              </a:rPr>
              <a:t>Tired people become inefficient, slower, less safe, and make more mistakes</a:t>
            </a:r>
            <a:r>
              <a:rPr lang="en-US" sz="28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remain at the top of our game </a:t>
            </a:r>
            <a:r>
              <a:rPr lang="en-US" sz="2800" b="1" dirty="0">
                <a:latin typeface="Times New Roman" panose="02020603050405020304" pitchFamily="18" charset="0"/>
                <a:cs typeface="Times New Roman" panose="02020603050405020304" pitchFamily="18" charset="0"/>
              </a:rPr>
              <a:t>we need adequate sleep every night</a:t>
            </a:r>
            <a:r>
              <a:rPr lang="en-US"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299850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D4BA1-BF2A-3761-0AF3-A01054869AE1}"/>
              </a:ext>
            </a:extLst>
          </p:cNvPr>
          <p:cNvSpPr>
            <a:spLocks noGrp="1"/>
          </p:cNvSpPr>
          <p:nvPr>
            <p:ph type="title"/>
          </p:nvPr>
        </p:nvSpPr>
        <p:spPr/>
        <p:txBody>
          <a:bodyPr/>
          <a:lstStyle/>
          <a:p>
            <a:pPr algn="ctr"/>
            <a:r>
              <a:rPr lang="en-US" b="1" dirty="0">
                <a:solidFill>
                  <a:srgbClr val="FF0000"/>
                </a:solidFill>
                <a:latin typeface="Arial Black" panose="020B0A04020102020204" pitchFamily="34" charset="0"/>
              </a:rPr>
              <a:t>Sleep deprivation</a:t>
            </a:r>
            <a:r>
              <a:rPr lang="en-US" dirty="0"/>
              <a:t>: </a:t>
            </a:r>
            <a:br>
              <a:rPr lang="en-US" dirty="0"/>
            </a:br>
            <a:endParaRPr lang="en-US" dirty="0"/>
          </a:p>
        </p:txBody>
      </p:sp>
      <p:sp>
        <p:nvSpPr>
          <p:cNvPr id="4" name="TextBox 3">
            <a:extLst>
              <a:ext uri="{FF2B5EF4-FFF2-40B4-BE49-F238E27FC236}">
                <a16:creationId xmlns:a16="http://schemas.microsoft.com/office/drawing/2014/main" id="{E7382446-27DF-1873-D39C-A8C78376EBE3}"/>
              </a:ext>
            </a:extLst>
          </p:cNvPr>
          <p:cNvSpPr txBox="1"/>
          <p:nvPr/>
        </p:nvSpPr>
        <p:spPr>
          <a:xfrm>
            <a:off x="525544" y="2007909"/>
            <a:ext cx="11427644" cy="3539430"/>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There have been many </a:t>
            </a:r>
            <a:r>
              <a:rPr lang="en-US" sz="3200" b="1" dirty="0">
                <a:solidFill>
                  <a:srgbClr val="7030A0"/>
                </a:solidFill>
                <a:latin typeface="Times New Roman" panose="02020603050405020304" pitchFamily="18" charset="0"/>
                <a:cs typeface="Times New Roman" panose="02020603050405020304" pitchFamily="18" charset="0"/>
              </a:rPr>
              <a:t>attempts to increase productivity </a:t>
            </a:r>
            <a:r>
              <a:rPr lang="en-US" sz="3200" dirty="0">
                <a:latin typeface="Times New Roman" panose="02020603050405020304" pitchFamily="18" charset="0"/>
                <a:cs typeface="Times New Roman" panose="02020603050405020304" pitchFamily="18" charset="0"/>
              </a:rPr>
              <a:t>by </a:t>
            </a:r>
            <a:r>
              <a:rPr lang="en-US" sz="3200" b="1" dirty="0">
                <a:latin typeface="Times New Roman" panose="02020603050405020304" pitchFamily="18" charset="0"/>
                <a:cs typeface="Times New Roman" panose="02020603050405020304" pitchFamily="18" charset="0"/>
              </a:rPr>
              <a:t>extending the workweek </a:t>
            </a:r>
            <a:r>
              <a:rPr lang="en-US" sz="3200" dirty="0">
                <a:latin typeface="Times New Roman" panose="02020603050405020304" pitchFamily="18" charset="0"/>
                <a:cs typeface="Times New Roman" panose="02020603050405020304" pitchFamily="18" charset="0"/>
              </a:rPr>
              <a:t>and </a:t>
            </a:r>
            <a:r>
              <a:rPr lang="en-US" sz="3200" b="1" dirty="0">
                <a:latin typeface="Times New Roman" panose="02020603050405020304" pitchFamily="18" charset="0"/>
                <a:cs typeface="Times New Roman" panose="02020603050405020304" pitchFamily="18" charset="0"/>
              </a:rPr>
              <a:t>daily working hours</a:t>
            </a:r>
            <a:r>
              <a:rPr lang="en-US" sz="3200" dirty="0">
                <a:latin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They </a:t>
            </a:r>
            <a:r>
              <a:rPr lang="en-US" sz="3200" b="1" dirty="0">
                <a:solidFill>
                  <a:srgbClr val="7030A0"/>
                </a:solidFill>
                <a:latin typeface="Times New Roman" panose="02020603050405020304" pitchFamily="18" charset="0"/>
                <a:cs typeface="Times New Roman" panose="02020603050405020304" pitchFamily="18" charset="0"/>
              </a:rPr>
              <a:t>have all failed because </a:t>
            </a:r>
            <a:r>
              <a:rPr lang="en-US" sz="3200" dirty="0">
                <a:latin typeface="Times New Roman" panose="02020603050405020304" pitchFamily="18" charset="0"/>
                <a:cs typeface="Times New Roman" panose="02020603050405020304" pitchFamily="18" charset="0"/>
              </a:rPr>
              <a:t>we each have a physiological need for rest every day, as well as a day off each week and a restful annual vacation.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For </a:t>
            </a:r>
            <a:r>
              <a:rPr lang="en-US" sz="3200" b="1" dirty="0">
                <a:latin typeface="Times New Roman" panose="02020603050405020304" pitchFamily="18" charset="0"/>
                <a:cs typeface="Times New Roman" panose="02020603050405020304" pitchFamily="18" charset="0"/>
              </a:rPr>
              <a:t>peak cognitive performance </a:t>
            </a:r>
            <a:r>
              <a:rPr lang="en-US" sz="3200" dirty="0">
                <a:latin typeface="Times New Roman" panose="02020603050405020304" pitchFamily="18" charset="0"/>
                <a:cs typeface="Times New Roman" panose="02020603050405020304" pitchFamily="18" charset="0"/>
              </a:rPr>
              <a:t>and </a:t>
            </a:r>
            <a:r>
              <a:rPr lang="en-US" sz="3200" b="1" dirty="0">
                <a:solidFill>
                  <a:srgbClr val="FF0000"/>
                </a:solidFill>
                <a:latin typeface="Times New Roman" panose="02020603050405020304" pitchFamily="18" charset="0"/>
                <a:cs typeface="Times New Roman" panose="02020603050405020304" pitchFamily="18" charset="0"/>
              </a:rPr>
              <a:t>abundant energy, we must celebrate</a:t>
            </a:r>
            <a:r>
              <a:rPr lang="en-US" sz="3200" dirty="0">
                <a:latin typeface="Times New Roman" panose="02020603050405020304" pitchFamily="18" charset="0"/>
                <a:cs typeface="Times New Roman" panose="02020603050405020304" pitchFamily="18" charset="0"/>
              </a:rPr>
              <a:t> the refreshing gift of sleep.</a:t>
            </a:r>
          </a:p>
        </p:txBody>
      </p:sp>
    </p:spTree>
    <p:extLst>
      <p:ext uri="{BB962C8B-B14F-4D97-AF65-F5344CB8AC3E}">
        <p14:creationId xmlns:p14="http://schemas.microsoft.com/office/powerpoint/2010/main" val="907018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B9E35-2602-34F3-8BA7-F42C1A80203C}"/>
              </a:ext>
            </a:extLst>
          </p:cNvPr>
          <p:cNvSpPr>
            <a:spLocks noGrp="1"/>
          </p:cNvSpPr>
          <p:nvPr>
            <p:ph type="title"/>
          </p:nvPr>
        </p:nvSpPr>
        <p:spPr/>
        <p:txBody>
          <a:bodyPr/>
          <a:lstStyle/>
          <a:p>
            <a:pPr algn="ctr"/>
            <a:r>
              <a:rPr lang="en-US" dirty="0"/>
              <a:t>Cont’d...</a:t>
            </a:r>
          </a:p>
        </p:txBody>
      </p:sp>
      <p:sp>
        <p:nvSpPr>
          <p:cNvPr id="4" name="TextBox 3">
            <a:extLst>
              <a:ext uri="{FF2B5EF4-FFF2-40B4-BE49-F238E27FC236}">
                <a16:creationId xmlns:a16="http://schemas.microsoft.com/office/drawing/2014/main" id="{43983542-A690-BBA3-81CC-7C2C53812DC5}"/>
              </a:ext>
            </a:extLst>
          </p:cNvPr>
          <p:cNvSpPr txBox="1"/>
          <p:nvPr/>
        </p:nvSpPr>
        <p:spPr>
          <a:xfrm>
            <a:off x="82485" y="1853754"/>
            <a:ext cx="12002678" cy="3539430"/>
          </a:xfrm>
          <a:prstGeom prst="rect">
            <a:avLst/>
          </a:prstGeom>
          <a:noFill/>
        </p:spPr>
        <p:txBody>
          <a:bodyPr wrap="square">
            <a:spAutoFit/>
          </a:bodyPr>
          <a:lstStyle/>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a:t>
            </a:r>
            <a:r>
              <a:rPr lang="en-US" sz="3200" b="1" dirty="0">
                <a:solidFill>
                  <a:schemeClr val="accent1"/>
                </a:solidFill>
                <a:latin typeface="Times New Roman" panose="02020603050405020304" pitchFamily="18" charset="0"/>
                <a:cs typeface="Times New Roman" panose="02020603050405020304" pitchFamily="18" charset="0"/>
              </a:rPr>
              <a:t>rising number of choices available to us</a:t>
            </a:r>
            <a:r>
              <a:rPr lang="en-US" sz="3200" dirty="0">
                <a:latin typeface="Times New Roman" panose="02020603050405020304" pitchFamily="18" charset="0"/>
                <a:cs typeface="Times New Roman" panose="02020603050405020304" pitchFamily="18" charset="0"/>
              </a:rPr>
              <a:t>, such as </a:t>
            </a:r>
            <a:r>
              <a:rPr lang="en-US" sz="3200" b="1" dirty="0">
                <a:latin typeface="Times New Roman" panose="02020603050405020304" pitchFamily="18" charset="0"/>
                <a:cs typeface="Times New Roman" panose="02020603050405020304" pitchFamily="18" charset="0"/>
              </a:rPr>
              <a:t>playing computer games or watching television in the evenings</a:t>
            </a:r>
            <a:r>
              <a:rPr lang="en-US" sz="3200" dirty="0">
                <a:latin typeface="Times New Roman" panose="02020603050405020304" pitchFamily="18" charset="0"/>
                <a:cs typeface="Times New Roman" panose="02020603050405020304" pitchFamily="18" charset="0"/>
              </a:rPr>
              <a:t>, often can </a:t>
            </a:r>
            <a:r>
              <a:rPr lang="en-US" sz="3200" b="1" dirty="0">
                <a:solidFill>
                  <a:schemeClr val="accent1"/>
                </a:solidFill>
                <a:latin typeface="Times New Roman" panose="02020603050405020304" pitchFamily="18" charset="0"/>
                <a:cs typeface="Times New Roman" panose="02020603050405020304" pitchFamily="18" charset="0"/>
              </a:rPr>
              <a:t>delay the onset of sleep</a:t>
            </a:r>
            <a:r>
              <a:rPr lang="en-US" sz="32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3200" b="1" dirty="0">
                <a:solidFill>
                  <a:schemeClr val="accent3">
                    <a:lumMod val="75000"/>
                  </a:schemeClr>
                </a:solidFill>
                <a:latin typeface="Times New Roman" panose="02020603050405020304" pitchFamily="18" charset="0"/>
                <a:cs typeface="Times New Roman" panose="02020603050405020304" pitchFamily="18" charset="0"/>
              </a:rPr>
              <a:t>Sleep deprivation impairs our cognitive performance</a:t>
            </a:r>
            <a:r>
              <a:rPr lang="en-US" sz="3200" dirty="0">
                <a:latin typeface="Times New Roman" panose="02020603050405020304" pitchFamily="18" charset="0"/>
                <a:cs typeface="Times New Roman" panose="02020603050405020304" pitchFamily="18" charset="0"/>
              </a:rPr>
              <a:t>, which in turn </a:t>
            </a:r>
            <a:r>
              <a:rPr lang="en-US" sz="3200" b="1" dirty="0">
                <a:latin typeface="Times New Roman" panose="02020603050405020304" pitchFamily="18" charset="0"/>
                <a:cs typeface="Times New Roman" panose="02020603050405020304" pitchFamily="18" charset="0"/>
              </a:rPr>
              <a:t>influences the quality of our decisions</a:t>
            </a:r>
            <a:r>
              <a:rPr lang="en-US" sz="3200" dirty="0">
                <a:latin typeface="Times New Roman" panose="02020603050405020304" pitchFamily="18" charset="0"/>
                <a:cs typeface="Times New Roman" panose="02020603050405020304" pitchFamily="18" charset="0"/>
              </a:rPr>
              <a:t>, our emotional control, and our efficiency, productivity and safety.</a:t>
            </a:r>
          </a:p>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We all need sufficient rest. </a:t>
            </a:r>
          </a:p>
        </p:txBody>
      </p:sp>
    </p:spTree>
    <p:extLst>
      <p:ext uri="{BB962C8B-B14F-4D97-AF65-F5344CB8AC3E}">
        <p14:creationId xmlns:p14="http://schemas.microsoft.com/office/powerpoint/2010/main" val="3905178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AA984-A586-6530-ADFB-6C4CFE9DBDE4}"/>
              </a:ext>
            </a:extLst>
          </p:cNvPr>
          <p:cNvSpPr>
            <a:spLocks noGrp="1"/>
          </p:cNvSpPr>
          <p:nvPr>
            <p:ph type="title"/>
          </p:nvPr>
        </p:nvSpPr>
        <p:spPr/>
        <p:txBody>
          <a:bodyPr>
            <a:normAutofit/>
          </a:bodyPr>
          <a:lstStyle/>
          <a:p>
            <a:r>
              <a:rPr lang="en-US" sz="4000" b="1" dirty="0">
                <a:solidFill>
                  <a:srgbClr val="FF0000"/>
                </a:solidFill>
                <a:latin typeface="Arial Black" panose="020B0A04020102020204" pitchFamily="34" charset="0"/>
              </a:rPr>
              <a:t>sleep debt or sleep deficit</a:t>
            </a:r>
          </a:p>
        </p:txBody>
      </p:sp>
      <p:sp>
        <p:nvSpPr>
          <p:cNvPr id="4" name="TextBox 3">
            <a:extLst>
              <a:ext uri="{FF2B5EF4-FFF2-40B4-BE49-F238E27FC236}">
                <a16:creationId xmlns:a16="http://schemas.microsoft.com/office/drawing/2014/main" id="{35D97C3F-1663-59FF-39C3-10A5C233107F}"/>
              </a:ext>
            </a:extLst>
          </p:cNvPr>
          <p:cNvSpPr txBox="1"/>
          <p:nvPr/>
        </p:nvSpPr>
        <p:spPr>
          <a:xfrm>
            <a:off x="149362" y="1922224"/>
            <a:ext cx="11898094" cy="4401205"/>
          </a:xfrm>
          <a:prstGeom prst="rect">
            <a:avLst/>
          </a:prstGeom>
          <a:noFill/>
        </p:spPr>
        <p:txBody>
          <a:bodyPr wrap="square">
            <a:spAutoFit/>
          </a:bodyPr>
          <a:lstStyle/>
          <a:p>
            <a:pPr marL="285750" indent="-285750">
              <a:buFont typeface="Arial" panose="020B0604020202020204" pitchFamily="34" charset="0"/>
              <a:buChar char="•"/>
            </a:pPr>
            <a:r>
              <a:rPr lang="en-US" sz="2800" dirty="0"/>
              <a:t>When </a:t>
            </a:r>
            <a:r>
              <a:rPr lang="en-US" sz="2800" b="1" dirty="0">
                <a:solidFill>
                  <a:schemeClr val="accent1"/>
                </a:solidFill>
              </a:rPr>
              <a:t>we miss out on sleep we accumulate </a:t>
            </a:r>
            <a:r>
              <a:rPr lang="en-US" sz="2800" dirty="0"/>
              <a:t>what is known as </a:t>
            </a:r>
            <a:r>
              <a:rPr lang="en-US" sz="2800" b="1" dirty="0">
                <a:solidFill>
                  <a:srgbClr val="00B050"/>
                </a:solidFill>
              </a:rPr>
              <a:t>sleep debt</a:t>
            </a:r>
            <a:r>
              <a:rPr lang="en-US" sz="2800" dirty="0"/>
              <a:t>. As this accumulates we become less productive.</a:t>
            </a:r>
          </a:p>
          <a:p>
            <a:pPr marL="285750" indent="-285750">
              <a:buFont typeface="Arial" panose="020B0604020202020204" pitchFamily="34" charset="0"/>
              <a:buChar char="•"/>
            </a:pPr>
            <a:r>
              <a:rPr lang="en-US" sz="2800" dirty="0"/>
              <a:t>Research has been conducted with four groups of people who all had the same demonstrated skill level in performing identical tasks throughout 21 days of activity. It has been shown that the </a:t>
            </a:r>
            <a:r>
              <a:rPr lang="en-US" sz="2800" dirty="0">
                <a:solidFill>
                  <a:schemeClr val="accent3">
                    <a:lumMod val="75000"/>
                  </a:schemeClr>
                </a:solidFill>
              </a:rPr>
              <a:t>productivity got reduced as the night sleep was shortened</a:t>
            </a:r>
            <a:r>
              <a:rPr lang="en-US" sz="2800" dirty="0"/>
              <a:t>. </a:t>
            </a:r>
          </a:p>
          <a:p>
            <a:pPr marL="285750" indent="-285750">
              <a:buFont typeface="Arial" panose="020B0604020202020204" pitchFamily="34" charset="0"/>
              <a:buChar char="•"/>
            </a:pPr>
            <a:r>
              <a:rPr lang="en-US" sz="2800" dirty="0"/>
              <a:t>After 21days the productivity of those who got 7 hours of sleep per night dipped about 8 %.  The group that got 6 hours of sleep, however saw their productivity drop by 55%, while those getting 5 and 4 hours of sleep were able to produce 35% and 20% of what the 7 hour sleepers produced.</a:t>
            </a:r>
          </a:p>
        </p:txBody>
      </p:sp>
    </p:spTree>
    <p:extLst>
      <p:ext uri="{BB962C8B-B14F-4D97-AF65-F5344CB8AC3E}">
        <p14:creationId xmlns:p14="http://schemas.microsoft.com/office/powerpoint/2010/main" val="47049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C60C1-28A3-B70E-8924-D090E4C86AF0}"/>
              </a:ext>
            </a:extLst>
          </p:cNvPr>
          <p:cNvSpPr>
            <a:spLocks noGrp="1"/>
          </p:cNvSpPr>
          <p:nvPr>
            <p:ph type="title"/>
          </p:nvPr>
        </p:nvSpPr>
        <p:spPr/>
        <p:txBody>
          <a:bodyPr/>
          <a:lstStyle/>
          <a:p>
            <a:pPr algn="ctr"/>
            <a:r>
              <a:rPr lang="en-US" dirty="0"/>
              <a:t>Cont’d...</a:t>
            </a:r>
          </a:p>
        </p:txBody>
      </p:sp>
      <p:sp>
        <p:nvSpPr>
          <p:cNvPr id="4" name="TextBox 3">
            <a:extLst>
              <a:ext uri="{FF2B5EF4-FFF2-40B4-BE49-F238E27FC236}">
                <a16:creationId xmlns:a16="http://schemas.microsoft.com/office/drawing/2014/main" id="{1CC1BC18-9EA6-E1AF-8918-D6326F3E8361}"/>
              </a:ext>
            </a:extLst>
          </p:cNvPr>
          <p:cNvSpPr txBox="1"/>
          <p:nvPr/>
        </p:nvSpPr>
        <p:spPr>
          <a:xfrm>
            <a:off x="149362" y="2025919"/>
            <a:ext cx="11879240" cy="3539430"/>
          </a:xfrm>
          <a:prstGeom prst="rect">
            <a:avLst/>
          </a:prstGeom>
          <a:noFill/>
        </p:spPr>
        <p:txBody>
          <a:bodyPr wrap="square">
            <a:spAutoFit/>
          </a:bodyPr>
          <a:lstStyle/>
          <a:p>
            <a:pPr marL="457200" indent="-457200">
              <a:buFont typeface="Arial" panose="020B0604020202020204" pitchFamily="34" charset="0"/>
              <a:buChar char="•"/>
            </a:pPr>
            <a:r>
              <a:rPr lang="en-US" sz="3200" b="1" dirty="0">
                <a:solidFill>
                  <a:srgbClr val="7030A0"/>
                </a:solidFill>
              </a:rPr>
              <a:t>Sleep has an effect on the function of the brain and emotions</a:t>
            </a:r>
            <a:r>
              <a:rPr lang="en-US" sz="3200" dirty="0"/>
              <a:t>. </a:t>
            </a:r>
          </a:p>
          <a:p>
            <a:pPr marL="457200" indent="-457200">
              <a:buFont typeface="Arial" panose="020B0604020202020204" pitchFamily="34" charset="0"/>
              <a:buChar char="•"/>
            </a:pPr>
            <a:r>
              <a:rPr lang="en-US" sz="3200" dirty="0"/>
              <a:t>Even </a:t>
            </a:r>
            <a:r>
              <a:rPr lang="en-US" sz="3200" b="1" dirty="0">
                <a:solidFill>
                  <a:srgbClr val="FF0000"/>
                </a:solidFill>
              </a:rPr>
              <a:t>moderate sleep debt </a:t>
            </a:r>
            <a:r>
              <a:rPr lang="en-US" sz="3200" dirty="0"/>
              <a:t>can alter metabolic state in such a way that </a:t>
            </a:r>
            <a:r>
              <a:rPr lang="en-US" sz="3200" b="1" dirty="0"/>
              <a:t>it mimics the glucose metabolism of diabetics</a:t>
            </a:r>
            <a:r>
              <a:rPr lang="en-US" sz="3200" dirty="0"/>
              <a:t>. </a:t>
            </a:r>
          </a:p>
          <a:p>
            <a:pPr marL="457200" indent="-457200">
              <a:buFont typeface="Arial" panose="020B0604020202020204" pitchFamily="34" charset="0"/>
              <a:buChar char="•"/>
            </a:pPr>
            <a:r>
              <a:rPr lang="en-US" sz="3200" dirty="0"/>
              <a:t>It is interesting that </a:t>
            </a:r>
            <a:r>
              <a:rPr lang="en-US" sz="3200" b="1" dirty="0">
                <a:solidFill>
                  <a:srgbClr val="0070C0"/>
                </a:solidFill>
              </a:rPr>
              <a:t>sleep deprivation leads to decreased performance similar to that which occurs when a person is under the influence of alcohol</a:t>
            </a:r>
            <a:r>
              <a:rPr lang="en-US" sz="3200" dirty="0"/>
              <a:t>.</a:t>
            </a:r>
          </a:p>
        </p:txBody>
      </p:sp>
    </p:spTree>
    <p:extLst>
      <p:ext uri="{BB962C8B-B14F-4D97-AF65-F5344CB8AC3E}">
        <p14:creationId xmlns:p14="http://schemas.microsoft.com/office/powerpoint/2010/main" val="387494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725DC6-1B22-5706-2871-3D916F7E6741}"/>
              </a:ext>
            </a:extLst>
          </p:cNvPr>
          <p:cNvSpPr txBox="1"/>
          <p:nvPr/>
        </p:nvSpPr>
        <p:spPr>
          <a:xfrm>
            <a:off x="412423" y="390024"/>
            <a:ext cx="11371082" cy="5078313"/>
          </a:xfrm>
          <a:prstGeom prst="rect">
            <a:avLst/>
          </a:prstGeom>
          <a:noFill/>
        </p:spPr>
        <p:txBody>
          <a:bodyPr wrap="square">
            <a:spAutoFit/>
          </a:bodyPr>
          <a:lstStyle/>
          <a:p>
            <a:pPr marL="571500" indent="-571500" algn="l">
              <a:buFont typeface="Arial" panose="020B0604020202020204" pitchFamily="34" charset="0"/>
              <a:buChar char="•"/>
            </a:pPr>
            <a:r>
              <a:rPr lang="en-US" sz="3600" b="0" i="0" dirty="0">
                <a:solidFill>
                  <a:srgbClr val="1A1B1F"/>
                </a:solidFill>
                <a:effectLst/>
                <a:latin typeface="AktivGrotesk"/>
              </a:rPr>
              <a:t>When thinking about </a:t>
            </a:r>
            <a:r>
              <a:rPr lang="en-US" sz="3600" b="1" i="0" dirty="0">
                <a:solidFill>
                  <a:srgbClr val="FF0000"/>
                </a:solidFill>
                <a:effectLst/>
                <a:latin typeface="AktivGrotesk"/>
              </a:rPr>
              <a:t>getting the sleep you need</a:t>
            </a:r>
            <a:r>
              <a:rPr lang="en-US" sz="3600" b="0" i="0" dirty="0">
                <a:solidFill>
                  <a:srgbClr val="1A1B1F"/>
                </a:solidFill>
                <a:effectLst/>
                <a:latin typeface="AktivGrotesk"/>
              </a:rPr>
              <a:t>, it is normal to focus on </a:t>
            </a:r>
            <a:r>
              <a:rPr lang="en-US" sz="3600" b="1" i="0" dirty="0">
                <a:solidFill>
                  <a:srgbClr val="7030A0"/>
                </a:solidFill>
                <a:effectLst/>
                <a:latin typeface="AktivGrotesk"/>
              </a:rPr>
              <a:t>how many hours of sleep you get</a:t>
            </a:r>
            <a:r>
              <a:rPr lang="en-US" sz="3600" b="0" i="0" dirty="0">
                <a:solidFill>
                  <a:srgbClr val="1A1B1F"/>
                </a:solidFill>
                <a:effectLst/>
                <a:latin typeface="AktivGrotesk"/>
              </a:rPr>
              <a:t>. </a:t>
            </a:r>
          </a:p>
          <a:p>
            <a:pPr marL="571500" indent="-571500" algn="l">
              <a:buFont typeface="Arial" panose="020B0604020202020204" pitchFamily="34" charset="0"/>
              <a:buChar char="•"/>
            </a:pPr>
            <a:r>
              <a:rPr lang="en-US" sz="3600" b="0" i="0" dirty="0">
                <a:solidFill>
                  <a:srgbClr val="1A1B1F"/>
                </a:solidFill>
                <a:effectLst/>
                <a:latin typeface="AktivGrotesk"/>
              </a:rPr>
              <a:t>While sleep duration is undoubtedly important, it is not the only part of the equation.</a:t>
            </a:r>
          </a:p>
          <a:p>
            <a:pPr marL="571500" indent="-571500" algn="l">
              <a:buFont typeface="Arial" panose="020B0604020202020204" pitchFamily="34" charset="0"/>
              <a:buChar char="•"/>
            </a:pPr>
            <a:r>
              <a:rPr lang="en-US" sz="3600" b="0" i="0" dirty="0">
                <a:solidFill>
                  <a:srgbClr val="1A1B1F"/>
                </a:solidFill>
                <a:effectLst/>
                <a:latin typeface="AktivGrotesk"/>
              </a:rPr>
              <a:t>It is also critical to think about </a:t>
            </a:r>
            <a:r>
              <a:rPr lang="en-US" sz="3600" b="1" i="0" dirty="0">
                <a:solidFill>
                  <a:srgbClr val="7030A0"/>
                </a:solidFill>
                <a:effectLst/>
                <a:latin typeface="AktivGrotesk"/>
              </a:rPr>
              <a:t>sleep quality </a:t>
            </a:r>
            <a:r>
              <a:rPr lang="en-US" sz="3600" b="0" i="0" dirty="0">
                <a:solidFill>
                  <a:srgbClr val="1A1B1F"/>
                </a:solidFill>
                <a:effectLst/>
                <a:latin typeface="AktivGrotesk"/>
              </a:rPr>
              <a:t>and whether </a:t>
            </a:r>
            <a:r>
              <a:rPr lang="en-US" sz="3600" b="1" i="0" dirty="0">
                <a:solidFill>
                  <a:srgbClr val="1A1B1F"/>
                </a:solidFill>
                <a:effectLst/>
                <a:latin typeface="AktivGrotesk"/>
              </a:rPr>
              <a:t>the </a:t>
            </a:r>
            <a:r>
              <a:rPr lang="en-US" sz="3600" b="1" i="0" u="sng" dirty="0">
                <a:solidFill>
                  <a:srgbClr val="1A1B1F"/>
                </a:solidFill>
                <a:effectLst/>
                <a:latin typeface="AktivGrotesk"/>
              </a:rPr>
              <a:t>time spent sleeping</a:t>
            </a:r>
            <a:r>
              <a:rPr lang="en-US" sz="3600" b="1" i="0" dirty="0">
                <a:solidFill>
                  <a:srgbClr val="1A1B1F"/>
                </a:solidFill>
                <a:effectLst/>
                <a:latin typeface="AktivGrotesk"/>
              </a:rPr>
              <a:t> is </a:t>
            </a:r>
            <a:r>
              <a:rPr lang="en-US" sz="3600" b="1" i="0" u="sng" dirty="0">
                <a:solidFill>
                  <a:srgbClr val="7030A0"/>
                </a:solidFill>
                <a:effectLst/>
                <a:latin typeface="AktivGrotesk"/>
              </a:rPr>
              <a:t>actually restorative</a:t>
            </a:r>
            <a:r>
              <a:rPr lang="en-US" sz="3600" b="0" i="0" dirty="0">
                <a:solidFill>
                  <a:srgbClr val="1A1B1F"/>
                </a:solidFill>
                <a:effectLst/>
                <a:latin typeface="AktivGrotesk"/>
              </a:rPr>
              <a:t>. </a:t>
            </a:r>
          </a:p>
          <a:p>
            <a:pPr marL="571500" indent="-571500" algn="l">
              <a:buFont typeface="Arial" panose="020B0604020202020204" pitchFamily="34" charset="0"/>
              <a:buChar char="•"/>
            </a:pPr>
            <a:r>
              <a:rPr lang="en-US" sz="3600" b="0" i="0" dirty="0">
                <a:solidFill>
                  <a:srgbClr val="1A1B1F"/>
                </a:solidFill>
                <a:effectLst/>
                <a:latin typeface="AktivGrotesk"/>
              </a:rPr>
              <a:t>Progressing smoothly multiple times through the </a:t>
            </a:r>
            <a:r>
              <a:rPr lang="en-US" sz="3600" b="1" i="0" dirty="0">
                <a:solidFill>
                  <a:srgbClr val="1A1B1F"/>
                </a:solidFill>
                <a:effectLst/>
                <a:latin typeface="AktivGrotesk"/>
              </a:rPr>
              <a:t>sleep cycle</a:t>
            </a:r>
            <a:r>
              <a:rPr lang="en-US" sz="3600" b="0" i="0" dirty="0">
                <a:solidFill>
                  <a:srgbClr val="1A1B1F"/>
                </a:solidFill>
                <a:effectLst/>
                <a:latin typeface="AktivGrotesk"/>
              </a:rPr>
              <a:t>, </a:t>
            </a:r>
            <a:r>
              <a:rPr lang="en-US" sz="3600" b="1" i="0" dirty="0">
                <a:solidFill>
                  <a:srgbClr val="0070C0"/>
                </a:solidFill>
                <a:effectLst/>
                <a:latin typeface="AktivGrotesk"/>
              </a:rPr>
              <a:t>composed of four separate sleep stages</a:t>
            </a:r>
            <a:r>
              <a:rPr lang="en-US" sz="3600" b="0" i="0" dirty="0">
                <a:solidFill>
                  <a:srgbClr val="1A1B1F"/>
                </a:solidFill>
                <a:effectLst/>
                <a:latin typeface="AktivGrotesk"/>
              </a:rPr>
              <a:t>, is a vital part of getting high-quality rest.</a:t>
            </a:r>
          </a:p>
        </p:txBody>
      </p:sp>
    </p:spTree>
    <p:extLst>
      <p:ext uri="{BB962C8B-B14F-4D97-AF65-F5344CB8AC3E}">
        <p14:creationId xmlns:p14="http://schemas.microsoft.com/office/powerpoint/2010/main" val="6819017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E5039-B3E6-E3FA-F181-05569406EEF3}"/>
              </a:ext>
            </a:extLst>
          </p:cNvPr>
          <p:cNvSpPr>
            <a:spLocks noGrp="1"/>
          </p:cNvSpPr>
          <p:nvPr>
            <p:ph type="title"/>
          </p:nvPr>
        </p:nvSpPr>
        <p:spPr/>
        <p:txBody>
          <a:bodyPr>
            <a:normAutofit/>
          </a:bodyPr>
          <a:lstStyle/>
          <a:p>
            <a:r>
              <a:rPr lang="en-US" sz="4000" dirty="0">
                <a:solidFill>
                  <a:srgbClr val="FF0000"/>
                </a:solidFill>
                <a:latin typeface="Arial Black" panose="020B0A04020102020204" pitchFamily="34" charset="0"/>
              </a:rPr>
              <a:t>How much sleep do we need</a:t>
            </a:r>
          </a:p>
        </p:txBody>
      </p:sp>
      <p:sp>
        <p:nvSpPr>
          <p:cNvPr id="4" name="TextBox 3">
            <a:extLst>
              <a:ext uri="{FF2B5EF4-FFF2-40B4-BE49-F238E27FC236}">
                <a16:creationId xmlns:a16="http://schemas.microsoft.com/office/drawing/2014/main" id="{29A6FF4F-EF71-A50D-AA35-0FDE715B8BF2}"/>
              </a:ext>
            </a:extLst>
          </p:cNvPr>
          <p:cNvSpPr txBox="1"/>
          <p:nvPr/>
        </p:nvSpPr>
        <p:spPr>
          <a:xfrm>
            <a:off x="149362" y="2044773"/>
            <a:ext cx="11954654" cy="3785652"/>
          </a:xfrm>
          <a:prstGeom prst="rect">
            <a:avLst/>
          </a:prstGeom>
          <a:noFill/>
        </p:spPr>
        <p:txBody>
          <a:bodyPr wrap="square">
            <a:spAutoFit/>
          </a:bodyPr>
          <a:lstStyle/>
          <a:p>
            <a:pPr marL="571500" indent="-571500">
              <a:buFont typeface="Arial" panose="020B0604020202020204" pitchFamily="34" charset="0"/>
              <a:buChar char="•"/>
            </a:pPr>
            <a:r>
              <a:rPr lang="en-US" sz="4000" dirty="0"/>
              <a:t>Sleep needs vary between individuals. All researchers agree however that </a:t>
            </a:r>
            <a:r>
              <a:rPr lang="en-US" sz="4000" b="1" dirty="0">
                <a:solidFill>
                  <a:srgbClr val="FF0000"/>
                </a:solidFill>
              </a:rPr>
              <a:t>seven hours </a:t>
            </a:r>
            <a:r>
              <a:rPr lang="en-US" sz="4000" dirty="0"/>
              <a:t>of sleep per night is enough. </a:t>
            </a:r>
          </a:p>
          <a:p>
            <a:pPr marL="571500" indent="-571500">
              <a:buFont typeface="Arial" panose="020B0604020202020204" pitchFamily="34" charset="0"/>
              <a:buChar char="•"/>
            </a:pPr>
            <a:r>
              <a:rPr lang="en-US" sz="4000" dirty="0"/>
              <a:t>But that most people need about </a:t>
            </a:r>
            <a:r>
              <a:rPr lang="en-US" sz="4000" b="1" dirty="0">
                <a:solidFill>
                  <a:srgbClr val="FF0000"/>
                </a:solidFill>
              </a:rPr>
              <a:t>eight hours</a:t>
            </a:r>
            <a:r>
              <a:rPr lang="en-US" sz="4000" dirty="0"/>
              <a:t> for optimal cognitive performance. </a:t>
            </a:r>
          </a:p>
          <a:p>
            <a:pPr marL="571500" indent="-571500">
              <a:buFont typeface="Arial" panose="020B0604020202020204" pitchFamily="34" charset="0"/>
              <a:buChar char="•"/>
            </a:pPr>
            <a:r>
              <a:rPr lang="en-US" sz="4000" dirty="0"/>
              <a:t>Some people believe that sleep is a waste of time</a:t>
            </a:r>
          </a:p>
        </p:txBody>
      </p:sp>
    </p:spTree>
    <p:extLst>
      <p:ext uri="{BB962C8B-B14F-4D97-AF65-F5344CB8AC3E}">
        <p14:creationId xmlns:p14="http://schemas.microsoft.com/office/powerpoint/2010/main" val="8619413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D2D9C-E27A-2642-65C5-D4AC17600D8F}"/>
              </a:ext>
            </a:extLst>
          </p:cNvPr>
          <p:cNvSpPr>
            <a:spLocks noGrp="1"/>
          </p:cNvSpPr>
          <p:nvPr>
            <p:ph type="title"/>
          </p:nvPr>
        </p:nvSpPr>
        <p:spPr/>
        <p:txBody>
          <a:bodyPr>
            <a:normAutofit/>
          </a:bodyPr>
          <a:lstStyle/>
          <a:p>
            <a:pPr algn="ctr"/>
            <a:r>
              <a:rPr lang="en-US" sz="4000" b="1" dirty="0">
                <a:solidFill>
                  <a:srgbClr val="FF0000"/>
                </a:solidFill>
              </a:rPr>
              <a:t>Stages of sleep</a:t>
            </a:r>
          </a:p>
        </p:txBody>
      </p:sp>
      <p:sp>
        <p:nvSpPr>
          <p:cNvPr id="4" name="TextBox 3">
            <a:extLst>
              <a:ext uri="{FF2B5EF4-FFF2-40B4-BE49-F238E27FC236}">
                <a16:creationId xmlns:a16="http://schemas.microsoft.com/office/drawing/2014/main" id="{96461EC1-B38B-078C-9507-001F4271CC11}"/>
              </a:ext>
            </a:extLst>
          </p:cNvPr>
          <p:cNvSpPr txBox="1"/>
          <p:nvPr/>
        </p:nvSpPr>
        <p:spPr>
          <a:xfrm>
            <a:off x="72272" y="1769816"/>
            <a:ext cx="12047456" cy="4524315"/>
          </a:xfrm>
          <a:prstGeom prst="rect">
            <a:avLst/>
          </a:prstGeom>
          <a:noFill/>
        </p:spPr>
        <p:txBody>
          <a:bodyPr wrap="square">
            <a:spAutoFit/>
          </a:bodyPr>
          <a:lstStyle/>
          <a:p>
            <a:pPr marL="285750" indent="-285750">
              <a:buFont typeface="Arial" panose="020B0604020202020204" pitchFamily="34" charset="0"/>
              <a:buChar char="•"/>
            </a:pPr>
            <a:r>
              <a:rPr lang="en-US" sz="3200" b="1" i="0" dirty="0">
                <a:solidFill>
                  <a:srgbClr val="0070C0"/>
                </a:solidFill>
                <a:effectLst/>
                <a:latin typeface="AktivGrotesk"/>
              </a:rPr>
              <a:t>Each sleep stage plays a part </a:t>
            </a:r>
            <a:r>
              <a:rPr lang="en-US" sz="3200" b="0" i="0" dirty="0">
                <a:solidFill>
                  <a:srgbClr val="1A1B1F"/>
                </a:solidFill>
                <a:effectLst/>
                <a:latin typeface="AktivGrotesk"/>
              </a:rPr>
              <a:t>in allowing the </a:t>
            </a:r>
            <a:r>
              <a:rPr lang="en-US" sz="3200" b="1" i="0" dirty="0">
                <a:solidFill>
                  <a:srgbClr val="FF0000"/>
                </a:solidFill>
                <a:effectLst/>
                <a:latin typeface="AktivGrotesk"/>
              </a:rPr>
              <a:t>mind and body to wake up refreshed</a:t>
            </a:r>
            <a:r>
              <a:rPr lang="en-US" sz="3200" b="0" i="0" dirty="0">
                <a:solidFill>
                  <a:srgbClr val="1A1B1F"/>
                </a:solidFill>
                <a:effectLst/>
                <a:latin typeface="AktivGrotesk"/>
              </a:rPr>
              <a:t>. </a:t>
            </a:r>
          </a:p>
          <a:p>
            <a:pPr marL="285750" indent="-285750">
              <a:buFont typeface="Arial" panose="020B0604020202020204" pitchFamily="34" charset="0"/>
              <a:buChar char="•"/>
            </a:pPr>
            <a:r>
              <a:rPr lang="en-US" sz="3200" b="0" i="0" dirty="0">
                <a:solidFill>
                  <a:srgbClr val="1A1B1F"/>
                </a:solidFill>
                <a:effectLst/>
                <a:latin typeface="AktivGrotesk"/>
              </a:rPr>
              <a:t>Understanding the sleep cycle also helps explain how certain </a:t>
            </a:r>
            <a:r>
              <a:rPr lang="en-US" sz="3200" b="1" i="0" dirty="0">
                <a:solidFill>
                  <a:schemeClr val="accent1"/>
                </a:solidFill>
                <a:effectLst/>
                <a:latin typeface="AktivGrotesk"/>
              </a:rPr>
              <a:t>sleep disorders, including insomnia</a:t>
            </a:r>
            <a:r>
              <a:rPr lang="en-US" sz="3200" b="0" i="0" dirty="0">
                <a:solidFill>
                  <a:srgbClr val="1A1B1F"/>
                </a:solidFill>
                <a:effectLst/>
                <a:latin typeface="AktivGrotesk"/>
              </a:rPr>
              <a:t> and </a:t>
            </a:r>
            <a:r>
              <a:rPr lang="en-US" sz="3200" b="1" i="0" dirty="0">
                <a:solidFill>
                  <a:schemeClr val="accent1"/>
                </a:solidFill>
                <a:effectLst/>
                <a:latin typeface="AktivGrotesk"/>
              </a:rPr>
              <a:t>obstructive sleep apnea</a:t>
            </a:r>
            <a:r>
              <a:rPr lang="en-US" sz="3200" b="0" i="0" dirty="0">
                <a:solidFill>
                  <a:srgbClr val="1A1B1F"/>
                </a:solidFill>
                <a:effectLst/>
                <a:latin typeface="AktivGrotesk"/>
              </a:rPr>
              <a:t>, can impact a person’s sleep and health</a:t>
            </a:r>
          </a:p>
          <a:p>
            <a:pPr marL="285750" indent="-285750">
              <a:buFont typeface="Arial" panose="020B0604020202020204" pitchFamily="34" charset="0"/>
              <a:buChar char="•"/>
            </a:pPr>
            <a:r>
              <a:rPr lang="en-US" sz="3200" dirty="0"/>
              <a:t>As you sleep, </a:t>
            </a:r>
            <a:r>
              <a:rPr lang="en-US" sz="3200" b="1" dirty="0">
                <a:solidFill>
                  <a:srgbClr val="00B050"/>
                </a:solidFill>
              </a:rPr>
              <a:t>your brain cycles through </a:t>
            </a:r>
            <a:r>
              <a:rPr lang="en-US" sz="3200" b="1" i="1" dirty="0">
                <a:solidFill>
                  <a:schemeClr val="accent1"/>
                </a:solidFill>
              </a:rPr>
              <a:t>four stages </a:t>
            </a:r>
            <a:r>
              <a:rPr lang="en-US" sz="3200" b="1" dirty="0">
                <a:solidFill>
                  <a:srgbClr val="00B050"/>
                </a:solidFill>
              </a:rPr>
              <a:t>of sleep</a:t>
            </a:r>
            <a:r>
              <a:rPr lang="en-US" sz="3200" dirty="0"/>
              <a:t>. The </a:t>
            </a:r>
            <a:r>
              <a:rPr lang="en-US" sz="3200" b="1" dirty="0">
                <a:solidFill>
                  <a:srgbClr val="0070C0"/>
                </a:solidFill>
              </a:rPr>
              <a:t>first three</a:t>
            </a:r>
            <a:r>
              <a:rPr lang="en-US" sz="3200" dirty="0"/>
              <a:t> are </a:t>
            </a:r>
            <a:r>
              <a:rPr lang="en-US" sz="3200" b="1" dirty="0">
                <a:solidFill>
                  <a:srgbClr val="00B0F0"/>
                </a:solidFill>
              </a:rPr>
              <a:t>considered non-rapid eye movement</a:t>
            </a:r>
            <a:r>
              <a:rPr lang="en-US" sz="3200" dirty="0"/>
              <a:t> (NREM) sleep, also known as </a:t>
            </a:r>
            <a:r>
              <a:rPr lang="en-US" sz="3200" b="1" dirty="0">
                <a:solidFill>
                  <a:srgbClr val="FF0000"/>
                </a:solidFill>
              </a:rPr>
              <a:t>quiet sleep</a:t>
            </a:r>
            <a:r>
              <a:rPr lang="en-US" sz="3200" dirty="0"/>
              <a:t>. The </a:t>
            </a:r>
            <a:r>
              <a:rPr lang="en-US" sz="3200" b="1" dirty="0">
                <a:solidFill>
                  <a:srgbClr val="0070C0"/>
                </a:solidFill>
              </a:rPr>
              <a:t>fourth</a:t>
            </a:r>
            <a:r>
              <a:rPr lang="en-US" sz="3200" dirty="0"/>
              <a:t> is </a:t>
            </a:r>
            <a:r>
              <a:rPr lang="en-US" sz="3200" b="1" dirty="0">
                <a:solidFill>
                  <a:srgbClr val="00B0F0"/>
                </a:solidFill>
              </a:rPr>
              <a:t>rapid eye movement </a:t>
            </a:r>
            <a:r>
              <a:rPr lang="en-US" sz="3200" dirty="0"/>
              <a:t>(REM) sleep, also known as active sleep.</a:t>
            </a:r>
          </a:p>
        </p:txBody>
      </p:sp>
      <p:sp>
        <p:nvSpPr>
          <p:cNvPr id="6" name="TextBox 5">
            <a:extLst>
              <a:ext uri="{FF2B5EF4-FFF2-40B4-BE49-F238E27FC236}">
                <a16:creationId xmlns:a16="http://schemas.microsoft.com/office/drawing/2014/main" id="{14C74E78-4683-ABF1-FD6D-02D013857B11}"/>
              </a:ext>
            </a:extLst>
          </p:cNvPr>
          <p:cNvSpPr txBox="1"/>
          <p:nvPr/>
        </p:nvSpPr>
        <p:spPr>
          <a:xfrm>
            <a:off x="5785702" y="6235439"/>
            <a:ext cx="6103854" cy="646331"/>
          </a:xfrm>
          <a:prstGeom prst="rect">
            <a:avLst/>
          </a:prstGeom>
          <a:noFill/>
        </p:spPr>
        <p:txBody>
          <a:bodyPr wrap="square">
            <a:spAutoFit/>
          </a:bodyPr>
          <a:lstStyle/>
          <a:p>
            <a:r>
              <a:rPr lang="en-US" dirty="0"/>
              <a:t>https://www.verywellhealth.com/the-four-stages-of-sleep-2795920</a:t>
            </a:r>
          </a:p>
        </p:txBody>
      </p:sp>
      <p:sp>
        <p:nvSpPr>
          <p:cNvPr id="8" name="TextBox 7">
            <a:extLst>
              <a:ext uri="{FF2B5EF4-FFF2-40B4-BE49-F238E27FC236}">
                <a16:creationId xmlns:a16="http://schemas.microsoft.com/office/drawing/2014/main" id="{ED3EC43E-37EA-0DC9-F423-BF3C37B4ED46}"/>
              </a:ext>
            </a:extLst>
          </p:cNvPr>
          <p:cNvSpPr txBox="1"/>
          <p:nvPr/>
        </p:nvSpPr>
        <p:spPr>
          <a:xfrm>
            <a:off x="149362" y="6352824"/>
            <a:ext cx="6103854" cy="369332"/>
          </a:xfrm>
          <a:prstGeom prst="rect">
            <a:avLst/>
          </a:prstGeom>
          <a:noFill/>
        </p:spPr>
        <p:txBody>
          <a:bodyPr wrap="square">
            <a:spAutoFit/>
          </a:bodyPr>
          <a:lstStyle/>
          <a:p>
            <a:r>
              <a:rPr lang="en-US" dirty="0"/>
              <a:t>https://www.sleepfoundation.org/stages-of-sleep</a:t>
            </a:r>
          </a:p>
        </p:txBody>
      </p:sp>
    </p:spTree>
    <p:extLst>
      <p:ext uri="{BB962C8B-B14F-4D97-AF65-F5344CB8AC3E}">
        <p14:creationId xmlns:p14="http://schemas.microsoft.com/office/powerpoint/2010/main" val="3640575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B37B9-1EA6-6D90-FDCE-9B7334F8C72B}"/>
              </a:ext>
            </a:extLst>
          </p:cNvPr>
          <p:cNvSpPr>
            <a:spLocks noGrp="1"/>
          </p:cNvSpPr>
          <p:nvPr>
            <p:ph type="title"/>
          </p:nvPr>
        </p:nvSpPr>
        <p:spPr/>
        <p:txBody>
          <a:bodyPr/>
          <a:lstStyle/>
          <a:p>
            <a:pPr algn="ctr"/>
            <a:r>
              <a:rPr lang="en-US" dirty="0"/>
              <a:t>Cont’d...</a:t>
            </a:r>
          </a:p>
        </p:txBody>
      </p:sp>
      <p:sp>
        <p:nvSpPr>
          <p:cNvPr id="4" name="TextBox 3">
            <a:extLst>
              <a:ext uri="{FF2B5EF4-FFF2-40B4-BE49-F238E27FC236}">
                <a16:creationId xmlns:a16="http://schemas.microsoft.com/office/drawing/2014/main" id="{ABA1B700-33F0-E315-A142-799064C8E69D}"/>
              </a:ext>
            </a:extLst>
          </p:cNvPr>
          <p:cNvSpPr txBox="1"/>
          <p:nvPr/>
        </p:nvSpPr>
        <p:spPr>
          <a:xfrm>
            <a:off x="151666" y="1608657"/>
            <a:ext cx="11888667" cy="471667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3400" b="0" i="0" dirty="0">
                <a:solidFill>
                  <a:srgbClr val="212121"/>
                </a:solidFill>
                <a:effectLst/>
                <a:latin typeface="Merriweather" panose="00000500000000000000" pitchFamily="2" charset="0"/>
              </a:rPr>
              <a:t>Each sleep stage has a </a:t>
            </a:r>
            <a:r>
              <a:rPr lang="en-US" sz="3400" b="1" i="0" dirty="0">
                <a:solidFill>
                  <a:srgbClr val="FF0000"/>
                </a:solidFill>
                <a:effectLst/>
                <a:latin typeface="Merriweather" panose="00000500000000000000" pitchFamily="2" charset="0"/>
              </a:rPr>
              <a:t>unique function </a:t>
            </a:r>
            <a:r>
              <a:rPr lang="en-US" sz="3400" i="0" dirty="0">
                <a:effectLst/>
                <a:latin typeface="Merriweather" panose="00000500000000000000" pitchFamily="2" charset="0"/>
              </a:rPr>
              <a:t>and</a:t>
            </a:r>
            <a:r>
              <a:rPr lang="en-US" sz="3400" b="1" i="0" dirty="0">
                <a:solidFill>
                  <a:srgbClr val="FF0000"/>
                </a:solidFill>
                <a:effectLst/>
                <a:latin typeface="Merriweather" panose="00000500000000000000" pitchFamily="2" charset="0"/>
              </a:rPr>
              <a:t> role </a:t>
            </a:r>
            <a:r>
              <a:rPr lang="en-US" sz="3400" b="0" i="0" dirty="0">
                <a:solidFill>
                  <a:srgbClr val="212121"/>
                </a:solidFill>
                <a:effectLst/>
                <a:latin typeface="Merriweather" panose="00000500000000000000" pitchFamily="2" charset="0"/>
              </a:rPr>
              <a:t>in </a:t>
            </a:r>
            <a:r>
              <a:rPr lang="en-US" sz="3400" b="1" i="0" dirty="0">
                <a:solidFill>
                  <a:srgbClr val="0070C0"/>
                </a:solidFill>
                <a:effectLst/>
                <a:latin typeface="Merriweather" panose="00000500000000000000" pitchFamily="2" charset="0"/>
              </a:rPr>
              <a:t>maintaining your brain’s overall cognitive performance</a:t>
            </a:r>
            <a:r>
              <a:rPr lang="en-US" sz="3400" b="0" i="0" dirty="0">
                <a:solidFill>
                  <a:srgbClr val="212121"/>
                </a:solidFill>
                <a:effectLst/>
                <a:latin typeface="Merriweather" panose="00000500000000000000" pitchFamily="2" charset="0"/>
              </a:rPr>
              <a:t>. </a:t>
            </a:r>
          </a:p>
          <a:p>
            <a:pPr marL="285750" indent="-285750">
              <a:lnSpc>
                <a:spcPct val="150000"/>
              </a:lnSpc>
              <a:buFont typeface="Arial" panose="020B0604020202020204" pitchFamily="34" charset="0"/>
              <a:buChar char="•"/>
            </a:pPr>
            <a:r>
              <a:rPr lang="en-US" sz="3400" b="0" i="0" dirty="0">
                <a:solidFill>
                  <a:srgbClr val="212121"/>
                </a:solidFill>
                <a:effectLst/>
                <a:latin typeface="Merriweather" panose="00000500000000000000" pitchFamily="2" charset="0"/>
              </a:rPr>
              <a:t>Some stages are also associated with </a:t>
            </a:r>
            <a:r>
              <a:rPr lang="en-US" sz="3400" b="1" i="0" dirty="0">
                <a:solidFill>
                  <a:srgbClr val="7030A0"/>
                </a:solidFill>
                <a:effectLst/>
                <a:latin typeface="Merriweather" panose="00000500000000000000" pitchFamily="2" charset="0"/>
              </a:rPr>
              <a:t>physical repairs </a:t>
            </a:r>
            <a:r>
              <a:rPr lang="en-US" sz="3400" b="0" i="0" dirty="0">
                <a:solidFill>
                  <a:srgbClr val="212121"/>
                </a:solidFill>
                <a:effectLst/>
                <a:latin typeface="Merriweather" panose="00000500000000000000" pitchFamily="2" charset="0"/>
              </a:rPr>
              <a:t>that </a:t>
            </a:r>
            <a:r>
              <a:rPr lang="en-US" sz="3400" b="1" i="0" dirty="0">
                <a:solidFill>
                  <a:srgbClr val="212121"/>
                </a:solidFill>
                <a:effectLst/>
                <a:latin typeface="Merriweather" panose="00000500000000000000" pitchFamily="2" charset="0"/>
              </a:rPr>
              <a:t>keep you healthy </a:t>
            </a:r>
            <a:r>
              <a:rPr lang="en-US" sz="3400" b="0" i="0" dirty="0">
                <a:solidFill>
                  <a:srgbClr val="212121"/>
                </a:solidFill>
                <a:effectLst/>
                <a:latin typeface="Merriweather" panose="00000500000000000000" pitchFamily="2" charset="0"/>
              </a:rPr>
              <a:t>and </a:t>
            </a:r>
            <a:r>
              <a:rPr lang="en-US" sz="3400" b="1" i="0" dirty="0">
                <a:solidFill>
                  <a:srgbClr val="212121"/>
                </a:solidFill>
                <a:effectLst/>
                <a:latin typeface="Merriweather" panose="00000500000000000000" pitchFamily="2" charset="0"/>
              </a:rPr>
              <a:t>get you ready </a:t>
            </a:r>
            <a:r>
              <a:rPr lang="en-US" sz="3400" b="0" i="0" dirty="0">
                <a:solidFill>
                  <a:srgbClr val="212121"/>
                </a:solidFill>
                <a:effectLst/>
                <a:latin typeface="Merriweather" panose="00000500000000000000" pitchFamily="2" charset="0"/>
              </a:rPr>
              <a:t>for the next day.</a:t>
            </a:r>
            <a:endParaRPr lang="en-US" sz="3400" dirty="0"/>
          </a:p>
        </p:txBody>
      </p:sp>
    </p:spTree>
    <p:extLst>
      <p:ext uri="{BB962C8B-B14F-4D97-AF65-F5344CB8AC3E}">
        <p14:creationId xmlns:p14="http://schemas.microsoft.com/office/powerpoint/2010/main" val="31245011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5E83C4A-23E8-1F91-660D-C178EB2997A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2977647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F02D9C-4165-A9B6-FCDA-ACB904001323}"/>
              </a:ext>
            </a:extLst>
          </p:cNvPr>
          <p:cNvPicPr>
            <a:picLocks noChangeAspect="1"/>
          </p:cNvPicPr>
          <p:nvPr/>
        </p:nvPicPr>
        <p:blipFill>
          <a:blip r:embed="rId2"/>
          <a:stretch>
            <a:fillRect/>
          </a:stretch>
        </p:blipFill>
        <p:spPr>
          <a:xfrm>
            <a:off x="2828139" y="0"/>
            <a:ext cx="6696075" cy="6117996"/>
          </a:xfrm>
          <a:prstGeom prst="rect">
            <a:avLst/>
          </a:prstGeom>
        </p:spPr>
      </p:pic>
      <p:sp>
        <p:nvSpPr>
          <p:cNvPr id="5" name="TextBox 4">
            <a:extLst>
              <a:ext uri="{FF2B5EF4-FFF2-40B4-BE49-F238E27FC236}">
                <a16:creationId xmlns:a16="http://schemas.microsoft.com/office/drawing/2014/main" id="{1FC12418-EAB4-0558-CF94-4007C69A3ACA}"/>
              </a:ext>
            </a:extLst>
          </p:cNvPr>
          <p:cNvSpPr txBox="1"/>
          <p:nvPr/>
        </p:nvSpPr>
        <p:spPr>
          <a:xfrm>
            <a:off x="5401558" y="-131976"/>
            <a:ext cx="2519411" cy="523220"/>
          </a:xfrm>
          <a:prstGeom prst="rect">
            <a:avLst/>
          </a:prstGeom>
          <a:noFill/>
        </p:spPr>
        <p:txBody>
          <a:bodyPr wrap="square">
            <a:spAutoFit/>
          </a:bodyPr>
          <a:lstStyle/>
          <a:p>
            <a:pPr algn="l"/>
            <a:r>
              <a:rPr lang="en-US" sz="2800" b="1" i="0" dirty="0">
                <a:solidFill>
                  <a:srgbClr val="FF0000"/>
                </a:solidFill>
                <a:effectLst/>
                <a:latin typeface="Arial Black" panose="020B0A04020102020204" pitchFamily="34" charset="0"/>
              </a:rPr>
              <a:t>Sleep Cycle</a:t>
            </a:r>
          </a:p>
        </p:txBody>
      </p:sp>
    </p:spTree>
    <p:extLst>
      <p:ext uri="{BB962C8B-B14F-4D97-AF65-F5344CB8AC3E}">
        <p14:creationId xmlns:p14="http://schemas.microsoft.com/office/powerpoint/2010/main" val="3909663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19CC9-030B-EAC5-47F8-72FD5DAF3F01}"/>
              </a:ext>
            </a:extLst>
          </p:cNvPr>
          <p:cNvSpPr>
            <a:spLocks noGrp="1"/>
          </p:cNvSpPr>
          <p:nvPr>
            <p:ph type="title"/>
          </p:nvPr>
        </p:nvSpPr>
        <p:spPr/>
        <p:txBody>
          <a:bodyPr>
            <a:noAutofit/>
          </a:bodyPr>
          <a:lstStyle/>
          <a:p>
            <a:pPr algn="ctr"/>
            <a:r>
              <a:rPr lang="en-US" sz="4000" b="0" i="0" dirty="0">
                <a:solidFill>
                  <a:srgbClr val="FF0000"/>
                </a:solidFill>
                <a:effectLst/>
                <a:latin typeface="Arial Black" panose="020B0A04020102020204" pitchFamily="34" charset="0"/>
              </a:rPr>
              <a:t>NREM Stage 1</a:t>
            </a:r>
            <a:br>
              <a:rPr lang="en-US" sz="4000" b="0" i="0" dirty="0">
                <a:solidFill>
                  <a:srgbClr val="FF0000"/>
                </a:solidFill>
                <a:effectLst/>
                <a:latin typeface="Arial Black" panose="020B0A04020102020204" pitchFamily="34" charset="0"/>
              </a:rPr>
            </a:br>
            <a:endParaRPr lang="en-US" sz="4000" dirty="0">
              <a:solidFill>
                <a:srgbClr val="FF0000"/>
              </a:solidFill>
              <a:latin typeface="Arial Black" panose="020B0A04020102020204" pitchFamily="34" charset="0"/>
            </a:endParaRPr>
          </a:p>
        </p:txBody>
      </p:sp>
      <p:sp>
        <p:nvSpPr>
          <p:cNvPr id="4" name="TextBox 3">
            <a:extLst>
              <a:ext uri="{FF2B5EF4-FFF2-40B4-BE49-F238E27FC236}">
                <a16:creationId xmlns:a16="http://schemas.microsoft.com/office/drawing/2014/main" id="{D4F2647E-553A-CF5E-5175-5DB7EDAF6041}"/>
              </a:ext>
            </a:extLst>
          </p:cNvPr>
          <p:cNvSpPr txBox="1"/>
          <p:nvPr/>
        </p:nvSpPr>
        <p:spPr>
          <a:xfrm>
            <a:off x="203069" y="1701787"/>
            <a:ext cx="11785862" cy="4031873"/>
          </a:xfrm>
          <a:prstGeom prst="rect">
            <a:avLst/>
          </a:prstGeom>
          <a:noFill/>
        </p:spPr>
        <p:txBody>
          <a:bodyPr wrap="square">
            <a:spAutoFit/>
          </a:bodyPr>
          <a:lstStyle/>
          <a:p>
            <a:pPr algn="l" fontAlgn="base"/>
            <a:r>
              <a:rPr lang="en-US" sz="3200" b="0" i="0" dirty="0">
                <a:solidFill>
                  <a:srgbClr val="212121"/>
                </a:solidFill>
                <a:effectLst/>
                <a:latin typeface="Times New Roman" panose="02020603050405020304" pitchFamily="18" charset="0"/>
                <a:cs typeface="Times New Roman" panose="02020603050405020304" pitchFamily="18" charset="0"/>
              </a:rPr>
              <a:t>The first stage of the sleep cycle is a transition period between wakefulness and sleep.</a:t>
            </a:r>
          </a:p>
          <a:p>
            <a:pPr algn="l" fontAlgn="base"/>
            <a:r>
              <a:rPr lang="en-US" sz="3200" b="1" i="0" dirty="0">
                <a:solidFill>
                  <a:srgbClr val="7030A0"/>
                </a:solidFill>
                <a:effectLst/>
                <a:latin typeface="Times New Roman" panose="02020603050405020304" pitchFamily="18" charset="0"/>
                <a:cs typeface="Times New Roman" panose="02020603050405020304" pitchFamily="18" charset="0"/>
              </a:rPr>
              <a:t>During stage 1 sleep</a:t>
            </a:r>
            <a:r>
              <a:rPr lang="en-US" sz="3200" b="0" i="0" dirty="0">
                <a:solidFill>
                  <a:srgbClr val="212121"/>
                </a:solidFill>
                <a:effectLst/>
                <a:latin typeface="Times New Roman" panose="02020603050405020304" pitchFamily="18" charset="0"/>
                <a:cs typeface="Times New Roman" panose="02020603050405020304" pitchFamily="18" charset="0"/>
              </a:rPr>
              <a:t>:</a:t>
            </a:r>
          </a:p>
          <a:p>
            <a:pPr marL="285750" indent="-285750" algn="l" fontAlgn="base">
              <a:buFont typeface="Arial" panose="020B0604020202020204" pitchFamily="34" charset="0"/>
              <a:buChar char="•"/>
            </a:pPr>
            <a:r>
              <a:rPr lang="en-US" sz="3200" b="0" i="0" dirty="0">
                <a:solidFill>
                  <a:srgbClr val="212121"/>
                </a:solidFill>
                <a:effectLst/>
                <a:latin typeface="Times New Roman" panose="02020603050405020304" pitchFamily="18" charset="0"/>
                <a:cs typeface="Times New Roman" panose="02020603050405020304" pitchFamily="18" charset="0"/>
              </a:rPr>
              <a:t>Your brain slows down</a:t>
            </a:r>
          </a:p>
          <a:p>
            <a:pPr marL="285750" indent="-285750" algn="l" fontAlgn="base">
              <a:buFont typeface="Arial" panose="020B0604020202020204" pitchFamily="34" charset="0"/>
              <a:buChar char="•"/>
            </a:pPr>
            <a:r>
              <a:rPr lang="en-US" sz="3200" b="0" i="0" dirty="0">
                <a:solidFill>
                  <a:srgbClr val="212121"/>
                </a:solidFill>
                <a:effectLst/>
                <a:latin typeface="Times New Roman" panose="02020603050405020304" pitchFamily="18" charset="0"/>
                <a:cs typeface="Times New Roman" panose="02020603050405020304" pitchFamily="18" charset="0"/>
              </a:rPr>
              <a:t>Your heartbeat, your eye movements, and your breathing slow with it</a:t>
            </a:r>
          </a:p>
          <a:p>
            <a:pPr marL="285750" indent="-285750" algn="l" fontAlgn="base">
              <a:buFont typeface="Arial" panose="020B0604020202020204" pitchFamily="34" charset="0"/>
              <a:buChar char="•"/>
            </a:pPr>
            <a:r>
              <a:rPr lang="en-US" sz="3200" b="0" i="0" dirty="0">
                <a:solidFill>
                  <a:srgbClr val="212121"/>
                </a:solidFill>
                <a:effectLst/>
                <a:latin typeface="Times New Roman" panose="02020603050405020304" pitchFamily="18" charset="0"/>
                <a:cs typeface="Times New Roman" panose="02020603050405020304" pitchFamily="18" charset="0"/>
              </a:rPr>
              <a:t>Your body relaxes, and your muscles may twitch</a:t>
            </a:r>
          </a:p>
          <a:p>
            <a:pPr marL="285750" indent="-285750" algn="l" fontAlgn="base">
              <a:buFont typeface="Arial" panose="020B0604020202020204" pitchFamily="34" charset="0"/>
              <a:buChar char="•"/>
            </a:pPr>
            <a:r>
              <a:rPr lang="en-US" sz="3200" b="0" i="0" dirty="0">
                <a:effectLst/>
                <a:latin typeface="Times New Roman" panose="02020603050405020304" pitchFamily="18" charset="0"/>
                <a:cs typeface="Times New Roman" panose="02020603050405020304" pitchFamily="18" charset="0"/>
              </a:rPr>
              <a:t>This brief period of sleep lasts for around </a:t>
            </a:r>
            <a:r>
              <a:rPr lang="en-US" sz="3200" b="1" i="0" dirty="0">
                <a:effectLst/>
                <a:latin typeface="Times New Roman" panose="02020603050405020304" pitchFamily="18" charset="0"/>
                <a:cs typeface="Times New Roman" panose="02020603050405020304" pitchFamily="18" charset="0"/>
              </a:rPr>
              <a:t>five to 10 minutes</a:t>
            </a:r>
            <a:r>
              <a:rPr lang="en-US" sz="3200" b="0" i="0" dirty="0">
                <a:effectLst/>
                <a:latin typeface="Times New Roman" panose="02020603050405020304" pitchFamily="18" charset="0"/>
                <a:cs typeface="Times New Roman" panose="02020603050405020304" pitchFamily="18" charset="0"/>
              </a:rPr>
              <a:t>. </a:t>
            </a:r>
          </a:p>
          <a:p>
            <a:pPr marL="285750" indent="-285750" algn="l" fontAlgn="base">
              <a:buFont typeface="Arial" panose="020B0604020202020204" pitchFamily="34" charset="0"/>
              <a:buChar char="•"/>
            </a:pPr>
            <a:r>
              <a:rPr lang="en-US" sz="3200" b="0" i="0" dirty="0">
                <a:effectLst/>
                <a:latin typeface="Times New Roman" panose="02020603050405020304" pitchFamily="18" charset="0"/>
                <a:cs typeface="Times New Roman" panose="02020603050405020304" pitchFamily="18" charset="0"/>
              </a:rPr>
              <a:t>The brain is still relatively active. </a:t>
            </a:r>
          </a:p>
        </p:txBody>
      </p:sp>
    </p:spTree>
    <p:extLst>
      <p:ext uri="{BB962C8B-B14F-4D97-AF65-F5344CB8AC3E}">
        <p14:creationId xmlns:p14="http://schemas.microsoft.com/office/powerpoint/2010/main" val="32139496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78AD1-34A8-9385-22D6-5748C0C96F0E}"/>
              </a:ext>
            </a:extLst>
          </p:cNvPr>
          <p:cNvSpPr>
            <a:spLocks noGrp="1"/>
          </p:cNvSpPr>
          <p:nvPr>
            <p:ph type="title"/>
          </p:nvPr>
        </p:nvSpPr>
        <p:spPr/>
        <p:txBody>
          <a:bodyPr/>
          <a:lstStyle/>
          <a:p>
            <a:pPr algn="ctr"/>
            <a:r>
              <a:rPr lang="en-US" b="0" i="0" dirty="0">
                <a:solidFill>
                  <a:srgbClr val="FF0000"/>
                </a:solidFill>
                <a:effectLst/>
                <a:latin typeface="Arial Black" panose="020B0A04020102020204" pitchFamily="34" charset="0"/>
              </a:rPr>
              <a:t>NREM Stage 2</a:t>
            </a:r>
            <a:br>
              <a:rPr lang="en-US" b="0" i="0" dirty="0">
                <a:solidFill>
                  <a:srgbClr val="FF0000"/>
                </a:solidFill>
                <a:effectLst/>
                <a:latin typeface="Arial Black" panose="020B0A04020102020204" pitchFamily="34" charset="0"/>
              </a:rPr>
            </a:br>
            <a:endParaRPr lang="en-US" dirty="0">
              <a:solidFill>
                <a:srgbClr val="FF0000"/>
              </a:solidFill>
              <a:latin typeface="Arial Black" panose="020B0A04020102020204" pitchFamily="34" charset="0"/>
            </a:endParaRPr>
          </a:p>
        </p:txBody>
      </p:sp>
      <p:sp>
        <p:nvSpPr>
          <p:cNvPr id="4" name="TextBox 3">
            <a:extLst>
              <a:ext uri="{FF2B5EF4-FFF2-40B4-BE49-F238E27FC236}">
                <a16:creationId xmlns:a16="http://schemas.microsoft.com/office/drawing/2014/main" id="{554FBFAA-E2F9-88D1-D3ED-867B4751C35D}"/>
              </a:ext>
            </a:extLst>
          </p:cNvPr>
          <p:cNvSpPr txBox="1"/>
          <p:nvPr/>
        </p:nvSpPr>
        <p:spPr>
          <a:xfrm>
            <a:off x="237241" y="1853754"/>
            <a:ext cx="11717518" cy="3970318"/>
          </a:xfrm>
          <a:prstGeom prst="rect">
            <a:avLst/>
          </a:prstGeom>
          <a:noFill/>
        </p:spPr>
        <p:txBody>
          <a:bodyPr wrap="square">
            <a:spAutoFit/>
          </a:bodyPr>
          <a:lstStyle/>
          <a:p>
            <a:pPr algn="l" fontAlgn="base"/>
            <a:r>
              <a:rPr lang="en-US" sz="3600" b="0" i="0" dirty="0">
                <a:solidFill>
                  <a:srgbClr val="212121"/>
                </a:solidFill>
                <a:effectLst/>
                <a:latin typeface="Times New Roman" panose="02020603050405020304" pitchFamily="18" charset="0"/>
                <a:cs typeface="Times New Roman" panose="02020603050405020304" pitchFamily="18" charset="0"/>
              </a:rPr>
              <a:t>People spend about </a:t>
            </a:r>
            <a:r>
              <a:rPr lang="en-US" sz="3600" b="1" i="0" dirty="0">
                <a:solidFill>
                  <a:schemeClr val="accent1">
                    <a:lumMod val="75000"/>
                  </a:schemeClr>
                </a:solidFill>
                <a:effectLst/>
                <a:latin typeface="Times New Roman" panose="02020603050405020304" pitchFamily="18" charset="0"/>
                <a:cs typeface="Times New Roman" panose="02020603050405020304" pitchFamily="18" charset="0"/>
              </a:rPr>
              <a:t>half of their total sleep time </a:t>
            </a:r>
            <a:r>
              <a:rPr lang="en-US" sz="3600" b="0" i="0" dirty="0">
                <a:solidFill>
                  <a:srgbClr val="212121"/>
                </a:solidFill>
                <a:effectLst/>
                <a:latin typeface="Times New Roman" panose="02020603050405020304" pitchFamily="18" charset="0"/>
                <a:cs typeface="Times New Roman" panose="02020603050405020304" pitchFamily="18" charset="0"/>
              </a:rPr>
              <a:t>during NREM stage 2, which lasts for about </a:t>
            </a:r>
            <a:r>
              <a:rPr lang="en-US" sz="3600" b="1" i="0" dirty="0">
                <a:solidFill>
                  <a:srgbClr val="212121"/>
                </a:solidFill>
                <a:effectLst/>
                <a:latin typeface="Times New Roman" panose="02020603050405020304" pitchFamily="18" charset="0"/>
                <a:cs typeface="Times New Roman" panose="02020603050405020304" pitchFamily="18" charset="0"/>
              </a:rPr>
              <a:t>20 minutes per cycle</a:t>
            </a:r>
            <a:r>
              <a:rPr lang="en-US" sz="3600" b="0" i="0" dirty="0">
                <a:solidFill>
                  <a:srgbClr val="212121"/>
                </a:solidFill>
                <a:effectLst/>
                <a:latin typeface="Times New Roman" panose="02020603050405020304" pitchFamily="18" charset="0"/>
                <a:cs typeface="Times New Roman" panose="02020603050405020304" pitchFamily="18" charset="0"/>
              </a:rPr>
              <a:t>.</a:t>
            </a:r>
            <a:r>
              <a:rPr lang="en-US" sz="3600" b="0" i="0" u="none" strike="noStrike" baseline="30000" dirty="0">
                <a:solidFill>
                  <a:srgbClr val="0000EE"/>
                </a:solidFill>
                <a:effectLst/>
                <a:latin typeface="Times New Roman" panose="02020603050405020304" pitchFamily="18" charset="0"/>
                <a:cs typeface="Times New Roman" panose="02020603050405020304" pitchFamily="18" charset="0"/>
              </a:rPr>
              <a:t> </a:t>
            </a:r>
          </a:p>
          <a:p>
            <a:pPr algn="l" fontAlgn="base"/>
            <a:r>
              <a:rPr lang="en-US" sz="3600" b="0" i="0" dirty="0">
                <a:solidFill>
                  <a:srgbClr val="FF0000"/>
                </a:solidFill>
                <a:effectLst/>
                <a:latin typeface="Times New Roman" panose="02020603050405020304" pitchFamily="18" charset="0"/>
                <a:cs typeface="Times New Roman" panose="02020603050405020304" pitchFamily="18" charset="0"/>
              </a:rPr>
              <a:t>During stage 2 sleep</a:t>
            </a:r>
            <a:r>
              <a:rPr lang="en-US" sz="3600" b="0" i="0" dirty="0">
                <a:solidFill>
                  <a:srgbClr val="212121"/>
                </a:solidFill>
                <a:effectLst/>
                <a:latin typeface="Times New Roman" panose="02020603050405020304" pitchFamily="18" charset="0"/>
                <a:cs typeface="Times New Roman" panose="02020603050405020304" pitchFamily="18" charset="0"/>
              </a:rPr>
              <a:t>:</a:t>
            </a:r>
          </a:p>
          <a:p>
            <a:pPr marL="285750" indent="-285750" algn="l" fontAlgn="base">
              <a:buFont typeface="Arial" panose="020B0604020202020204" pitchFamily="34" charset="0"/>
              <a:buChar char="•"/>
            </a:pPr>
            <a:r>
              <a:rPr lang="en-US" sz="3600" b="0" i="0" dirty="0">
                <a:solidFill>
                  <a:srgbClr val="212121"/>
                </a:solidFill>
                <a:effectLst/>
                <a:latin typeface="Times New Roman" panose="02020603050405020304" pitchFamily="18" charset="0"/>
                <a:cs typeface="Times New Roman" panose="02020603050405020304" pitchFamily="18" charset="0"/>
              </a:rPr>
              <a:t>You become less aware of your surroundings</a:t>
            </a:r>
          </a:p>
          <a:p>
            <a:pPr marL="285750" indent="-285750" algn="l" fontAlgn="base">
              <a:buFont typeface="Arial" panose="020B0604020202020204" pitchFamily="34" charset="0"/>
              <a:buChar char="•"/>
            </a:pPr>
            <a:r>
              <a:rPr lang="en-US" sz="3600" b="0" i="0" dirty="0">
                <a:solidFill>
                  <a:srgbClr val="212121"/>
                </a:solidFill>
                <a:effectLst/>
                <a:latin typeface="Times New Roman" panose="02020603050405020304" pitchFamily="18" charset="0"/>
                <a:cs typeface="Times New Roman" panose="02020603050405020304" pitchFamily="18" charset="0"/>
              </a:rPr>
              <a:t>Your body temperature drops</a:t>
            </a:r>
          </a:p>
          <a:p>
            <a:pPr marL="285750" indent="-285750" algn="l" fontAlgn="base">
              <a:buFont typeface="Arial" panose="020B0604020202020204" pitchFamily="34" charset="0"/>
              <a:buChar char="•"/>
            </a:pPr>
            <a:r>
              <a:rPr lang="en-US" sz="3600" b="0" i="0" dirty="0">
                <a:solidFill>
                  <a:srgbClr val="212121"/>
                </a:solidFill>
                <a:effectLst/>
                <a:latin typeface="Times New Roman" panose="02020603050405020304" pitchFamily="18" charset="0"/>
                <a:cs typeface="Times New Roman" panose="02020603050405020304" pitchFamily="18" charset="0"/>
              </a:rPr>
              <a:t>Your eye movements stop</a:t>
            </a:r>
          </a:p>
          <a:p>
            <a:pPr marL="285750" indent="-285750" algn="l" fontAlgn="base">
              <a:buFont typeface="Arial" panose="020B0604020202020204" pitchFamily="34" charset="0"/>
              <a:buChar char="•"/>
            </a:pPr>
            <a:r>
              <a:rPr lang="en-US" sz="3600" b="0" i="0" dirty="0">
                <a:solidFill>
                  <a:srgbClr val="212121"/>
                </a:solidFill>
                <a:effectLst/>
                <a:latin typeface="Times New Roman" panose="02020603050405020304" pitchFamily="18" charset="0"/>
                <a:cs typeface="Times New Roman" panose="02020603050405020304" pitchFamily="18" charset="0"/>
              </a:rPr>
              <a:t>Your breathing and heart rate become more regular</a:t>
            </a:r>
          </a:p>
        </p:txBody>
      </p:sp>
    </p:spTree>
    <p:extLst>
      <p:ext uri="{BB962C8B-B14F-4D97-AF65-F5344CB8AC3E}">
        <p14:creationId xmlns:p14="http://schemas.microsoft.com/office/powerpoint/2010/main" val="41295083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C3CDF-6B6F-EE72-883A-C96DFEAE8A38}"/>
              </a:ext>
            </a:extLst>
          </p:cNvPr>
          <p:cNvSpPr>
            <a:spLocks noGrp="1"/>
          </p:cNvSpPr>
          <p:nvPr>
            <p:ph type="title"/>
          </p:nvPr>
        </p:nvSpPr>
        <p:spPr/>
        <p:txBody>
          <a:bodyPr>
            <a:noAutofit/>
          </a:bodyPr>
          <a:lstStyle/>
          <a:p>
            <a:pPr algn="ctr"/>
            <a:r>
              <a:rPr lang="en-US" sz="4000" b="1" i="0" dirty="0">
                <a:solidFill>
                  <a:srgbClr val="FF0000"/>
                </a:solidFill>
                <a:effectLst/>
                <a:latin typeface="Arial Black" panose="020B0A04020102020204" pitchFamily="34" charset="0"/>
              </a:rPr>
              <a:t>NREM Stage 3</a:t>
            </a:r>
            <a:br>
              <a:rPr lang="en-US" sz="4000" b="1" i="0" dirty="0">
                <a:solidFill>
                  <a:srgbClr val="FF0000"/>
                </a:solidFill>
                <a:effectLst/>
                <a:latin typeface="Arial Black" panose="020B0A04020102020204" pitchFamily="34" charset="0"/>
              </a:rPr>
            </a:br>
            <a:endParaRPr lang="en-US" sz="4000" b="1" dirty="0">
              <a:solidFill>
                <a:srgbClr val="FF0000"/>
              </a:solidFill>
              <a:latin typeface="Arial Black" panose="020B0A04020102020204" pitchFamily="34" charset="0"/>
            </a:endParaRPr>
          </a:p>
        </p:txBody>
      </p:sp>
      <p:sp>
        <p:nvSpPr>
          <p:cNvPr id="4" name="TextBox 3">
            <a:extLst>
              <a:ext uri="{FF2B5EF4-FFF2-40B4-BE49-F238E27FC236}">
                <a16:creationId xmlns:a16="http://schemas.microsoft.com/office/drawing/2014/main" id="{8C41B043-DC91-6E4B-0B87-28330BBC8088}"/>
              </a:ext>
            </a:extLst>
          </p:cNvPr>
          <p:cNvSpPr txBox="1"/>
          <p:nvPr/>
        </p:nvSpPr>
        <p:spPr>
          <a:xfrm>
            <a:off x="0" y="1761968"/>
            <a:ext cx="12192000" cy="4524315"/>
          </a:xfrm>
          <a:prstGeom prst="rect">
            <a:avLst/>
          </a:prstGeom>
          <a:noFill/>
        </p:spPr>
        <p:txBody>
          <a:bodyPr wrap="square">
            <a:spAutoFit/>
          </a:bodyPr>
          <a:lstStyle/>
          <a:p>
            <a:pPr algn="l" fontAlgn="base"/>
            <a:r>
              <a:rPr lang="en-US" sz="3200" b="0" i="0" dirty="0">
                <a:solidFill>
                  <a:srgbClr val="212121"/>
                </a:solidFill>
                <a:effectLst/>
                <a:latin typeface="Times New Roman" panose="02020603050405020304" pitchFamily="18" charset="0"/>
                <a:cs typeface="Times New Roman" panose="02020603050405020304" pitchFamily="18" charset="0"/>
              </a:rPr>
              <a:t>This is a period of </a:t>
            </a:r>
            <a:r>
              <a:rPr lang="en-US" sz="3200" b="1" i="0" dirty="0">
                <a:solidFill>
                  <a:srgbClr val="00B050"/>
                </a:solidFill>
                <a:effectLst/>
                <a:latin typeface="Times New Roman" panose="02020603050405020304" pitchFamily="18" charset="0"/>
                <a:cs typeface="Times New Roman" panose="02020603050405020304" pitchFamily="18" charset="0"/>
              </a:rPr>
              <a:t>deep sleep where any environmental noises or activity may fail to wake the sleeping person</a:t>
            </a:r>
            <a:r>
              <a:rPr lang="en-US" sz="3200" b="0" i="0" dirty="0">
                <a:solidFill>
                  <a:srgbClr val="212121"/>
                </a:solidFill>
                <a:effectLst/>
                <a:latin typeface="Times New Roman" panose="02020603050405020304" pitchFamily="18" charset="0"/>
                <a:cs typeface="Times New Roman" panose="02020603050405020304" pitchFamily="18" charset="0"/>
              </a:rPr>
              <a:t>.</a:t>
            </a:r>
          </a:p>
          <a:p>
            <a:pPr algn="l" fontAlgn="base"/>
            <a:r>
              <a:rPr lang="en-US" sz="3200" b="1" i="0" dirty="0">
                <a:solidFill>
                  <a:srgbClr val="FF0000"/>
                </a:solidFill>
                <a:effectLst/>
                <a:latin typeface="Times New Roman" panose="02020603050405020304" pitchFamily="18" charset="0"/>
                <a:cs typeface="Times New Roman" panose="02020603050405020304" pitchFamily="18" charset="0"/>
              </a:rPr>
              <a:t>During NREM stage 3 sleep</a:t>
            </a:r>
            <a:r>
              <a:rPr lang="en-US" sz="3200" b="0" i="0" dirty="0">
                <a:solidFill>
                  <a:srgbClr val="212121"/>
                </a:solidFill>
                <a:effectLst/>
                <a:latin typeface="Times New Roman" panose="02020603050405020304" pitchFamily="18" charset="0"/>
                <a:cs typeface="Times New Roman" panose="02020603050405020304" pitchFamily="18" charset="0"/>
              </a:rPr>
              <a:t>:</a:t>
            </a:r>
            <a:endParaRPr lang="en-US" sz="3200" b="0" i="0" u="none" strike="noStrike" baseline="30000" dirty="0">
              <a:solidFill>
                <a:srgbClr val="212121"/>
              </a:solidFill>
              <a:effectLst/>
              <a:latin typeface="Times New Roman" panose="02020603050405020304" pitchFamily="18" charset="0"/>
              <a:cs typeface="Times New Roman" panose="02020603050405020304" pitchFamily="18" charset="0"/>
            </a:endParaRPr>
          </a:p>
          <a:p>
            <a:pPr marL="285750" indent="-285750" algn="l" fontAlgn="base">
              <a:buFont typeface="Arial" panose="020B0604020202020204" pitchFamily="34" charset="0"/>
              <a:buChar char="•"/>
            </a:pPr>
            <a:r>
              <a:rPr lang="en-US" sz="3200" b="0" i="0" dirty="0">
                <a:solidFill>
                  <a:srgbClr val="212121"/>
                </a:solidFill>
                <a:effectLst/>
                <a:latin typeface="Times New Roman" panose="02020603050405020304" pitchFamily="18" charset="0"/>
                <a:cs typeface="Times New Roman" panose="02020603050405020304" pitchFamily="18" charset="0"/>
              </a:rPr>
              <a:t>Your muscles are completely relaxed</a:t>
            </a:r>
          </a:p>
          <a:p>
            <a:pPr marL="285750" indent="-285750" algn="l" fontAlgn="base">
              <a:buFont typeface="Arial" panose="020B0604020202020204" pitchFamily="34" charset="0"/>
              <a:buChar char="•"/>
            </a:pPr>
            <a:r>
              <a:rPr lang="en-US" sz="3200" b="0" i="0" dirty="0">
                <a:solidFill>
                  <a:srgbClr val="212121"/>
                </a:solidFill>
                <a:effectLst/>
                <a:latin typeface="Times New Roman" panose="02020603050405020304" pitchFamily="18" charset="0"/>
                <a:cs typeface="Times New Roman" panose="02020603050405020304" pitchFamily="18" charset="0"/>
              </a:rPr>
              <a:t>Your blood pressure drops and breathing slows</a:t>
            </a:r>
          </a:p>
          <a:p>
            <a:pPr marL="285750" indent="-285750" algn="l" fontAlgn="base">
              <a:buFont typeface="Arial" panose="020B0604020202020204" pitchFamily="34" charset="0"/>
              <a:buChar char="•"/>
            </a:pPr>
            <a:r>
              <a:rPr lang="en-US" sz="3200" b="0" i="0" dirty="0">
                <a:solidFill>
                  <a:srgbClr val="212121"/>
                </a:solidFill>
                <a:effectLst/>
                <a:latin typeface="Times New Roman" panose="02020603050405020304" pitchFamily="18" charset="0"/>
                <a:cs typeface="Times New Roman" panose="02020603050405020304" pitchFamily="18" charset="0"/>
              </a:rPr>
              <a:t>You progress into your deepest sleep</a:t>
            </a:r>
          </a:p>
          <a:p>
            <a:pPr marL="457200" indent="-457200" algn="l" fontAlgn="base">
              <a:buFont typeface="Wingdings" panose="05000000000000000000" pitchFamily="2" charset="2"/>
              <a:buChar char="Ø"/>
            </a:pPr>
            <a:r>
              <a:rPr lang="en-US" sz="3200" b="0" i="0" dirty="0">
                <a:solidFill>
                  <a:srgbClr val="212121"/>
                </a:solidFill>
                <a:effectLst/>
                <a:latin typeface="Times New Roman" panose="02020603050405020304" pitchFamily="18" charset="0"/>
                <a:cs typeface="Times New Roman" panose="02020603050405020304" pitchFamily="18" charset="0"/>
              </a:rPr>
              <a:t>During this deep sleep stage, </a:t>
            </a:r>
            <a:r>
              <a:rPr lang="en-US" sz="3200" b="1" i="0" dirty="0">
                <a:solidFill>
                  <a:srgbClr val="FF0000"/>
                </a:solidFill>
                <a:effectLst/>
                <a:latin typeface="Times New Roman" panose="02020603050405020304" pitchFamily="18" charset="0"/>
                <a:cs typeface="Times New Roman" panose="02020603050405020304" pitchFamily="18" charset="0"/>
              </a:rPr>
              <a:t>your body starts its physical repairs</a:t>
            </a:r>
            <a:r>
              <a:rPr lang="en-US" sz="3200" b="0" i="0" dirty="0">
                <a:solidFill>
                  <a:srgbClr val="212121"/>
                </a:solidFill>
                <a:effectLst/>
                <a:latin typeface="Times New Roman" panose="02020603050405020304" pitchFamily="18" charset="0"/>
                <a:cs typeface="Times New Roman" panose="02020603050405020304" pitchFamily="18" charset="0"/>
              </a:rPr>
              <a:t>.</a:t>
            </a:r>
          </a:p>
          <a:p>
            <a:pPr marL="457200" indent="-457200" algn="l" fontAlgn="base">
              <a:buFont typeface="Wingdings" panose="05000000000000000000" pitchFamily="2" charset="2"/>
              <a:buChar char="§"/>
            </a:pPr>
            <a:r>
              <a:rPr lang="en-US" sz="3200" b="0" i="0" dirty="0">
                <a:solidFill>
                  <a:srgbClr val="212121"/>
                </a:solidFill>
                <a:effectLst/>
                <a:latin typeface="Times New Roman" panose="02020603050405020304" pitchFamily="18" charset="0"/>
                <a:cs typeface="Times New Roman" panose="02020603050405020304" pitchFamily="18" charset="0"/>
              </a:rPr>
              <a:t>Getting enough NREM stage 3 sleep </a:t>
            </a:r>
            <a:r>
              <a:rPr lang="en-US" sz="3200" b="1" i="0" dirty="0">
                <a:solidFill>
                  <a:srgbClr val="7030A0"/>
                </a:solidFill>
                <a:effectLst/>
                <a:latin typeface="Times New Roman" panose="02020603050405020304" pitchFamily="18" charset="0"/>
                <a:cs typeface="Times New Roman" panose="02020603050405020304" pitchFamily="18" charset="0"/>
              </a:rPr>
              <a:t>makes you feel refreshed </a:t>
            </a:r>
            <a:r>
              <a:rPr lang="en-US" sz="3200" b="0" i="0" dirty="0">
                <a:solidFill>
                  <a:srgbClr val="212121"/>
                </a:solidFill>
                <a:effectLst/>
                <a:latin typeface="Times New Roman" panose="02020603050405020304" pitchFamily="18" charset="0"/>
                <a:cs typeface="Times New Roman" panose="02020603050405020304" pitchFamily="18" charset="0"/>
              </a:rPr>
              <a:t>the next day.</a:t>
            </a:r>
          </a:p>
        </p:txBody>
      </p:sp>
    </p:spTree>
    <p:extLst>
      <p:ext uri="{BB962C8B-B14F-4D97-AF65-F5344CB8AC3E}">
        <p14:creationId xmlns:p14="http://schemas.microsoft.com/office/powerpoint/2010/main" val="3994867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74EF7-6413-0DC5-70BC-634328AE54C5}"/>
              </a:ext>
            </a:extLst>
          </p:cNvPr>
          <p:cNvSpPr>
            <a:spLocks noGrp="1"/>
          </p:cNvSpPr>
          <p:nvPr>
            <p:ph type="title"/>
          </p:nvPr>
        </p:nvSpPr>
        <p:spPr/>
        <p:txBody>
          <a:bodyPr>
            <a:normAutofit fontScale="90000"/>
          </a:bodyPr>
          <a:lstStyle/>
          <a:p>
            <a:pPr algn="ctr"/>
            <a:r>
              <a:rPr lang="en-US" sz="4400" b="0" i="0" dirty="0">
                <a:solidFill>
                  <a:srgbClr val="FF0000"/>
                </a:solidFill>
                <a:effectLst/>
                <a:latin typeface="Arial Black" panose="020B0A04020102020204" pitchFamily="34" charset="0"/>
              </a:rPr>
              <a:t>Stage 4: REM Sleep</a:t>
            </a:r>
            <a:br>
              <a:rPr lang="en-US" b="0" i="0" dirty="0">
                <a:solidFill>
                  <a:srgbClr val="212121"/>
                </a:solidFill>
                <a:effectLst/>
                <a:latin typeface="FS Albert Extra Bold"/>
              </a:rPr>
            </a:br>
            <a:endParaRPr lang="en-US" dirty="0"/>
          </a:p>
        </p:txBody>
      </p:sp>
      <p:sp>
        <p:nvSpPr>
          <p:cNvPr id="4" name="TextBox 3">
            <a:extLst>
              <a:ext uri="{FF2B5EF4-FFF2-40B4-BE49-F238E27FC236}">
                <a16:creationId xmlns:a16="http://schemas.microsoft.com/office/drawing/2014/main" id="{0BC29834-58DF-5834-8D7F-81D5D4B24D20}"/>
              </a:ext>
            </a:extLst>
          </p:cNvPr>
          <p:cNvSpPr txBox="1"/>
          <p:nvPr/>
        </p:nvSpPr>
        <p:spPr>
          <a:xfrm>
            <a:off x="223885" y="1927311"/>
            <a:ext cx="11719875" cy="3046988"/>
          </a:xfrm>
          <a:prstGeom prst="rect">
            <a:avLst/>
          </a:prstGeom>
          <a:noFill/>
        </p:spPr>
        <p:txBody>
          <a:bodyPr wrap="square">
            <a:spAutoFit/>
          </a:bodyPr>
          <a:lstStyle/>
          <a:p>
            <a:pPr marL="457200" indent="-457200" algn="l" fontAlgn="base">
              <a:buFont typeface="Arial" panose="020B0604020202020204" pitchFamily="34" charset="0"/>
              <a:buChar char="•"/>
            </a:pPr>
            <a:r>
              <a:rPr lang="en-US" sz="3200" b="0" i="0" dirty="0">
                <a:effectLst/>
                <a:latin typeface="Times New Roman" panose="02020603050405020304" pitchFamily="18" charset="0"/>
                <a:cs typeface="Times New Roman" panose="02020603050405020304" pitchFamily="18" charset="0"/>
              </a:rPr>
              <a:t>While your brain is aroused (wake up) with mental activities during REM sleep, the fourth stage of sleep, your voluntary muscles become immobilized.</a:t>
            </a:r>
          </a:p>
          <a:p>
            <a:pPr marL="457200" indent="-457200" algn="l" fontAlgn="base">
              <a:buFont typeface="Arial" panose="020B0604020202020204" pitchFamily="34" charset="0"/>
              <a:buChar char="•"/>
            </a:pPr>
            <a:r>
              <a:rPr lang="en-US" sz="3200" b="0" i="0" dirty="0">
                <a:effectLst/>
                <a:latin typeface="Times New Roman" panose="02020603050405020304" pitchFamily="18" charset="0"/>
                <a:cs typeface="Times New Roman" panose="02020603050405020304" pitchFamily="18" charset="0"/>
              </a:rPr>
              <a:t>During REM sleep, </a:t>
            </a:r>
            <a:r>
              <a:rPr lang="en-US" sz="3200" b="1" i="0" dirty="0">
                <a:solidFill>
                  <a:schemeClr val="accent1"/>
                </a:solidFill>
                <a:effectLst/>
                <a:latin typeface="Times New Roman" panose="02020603050405020304" pitchFamily="18" charset="0"/>
                <a:cs typeface="Times New Roman" panose="02020603050405020304" pitchFamily="18" charset="0"/>
              </a:rPr>
              <a:t>your brain’s activity most closely resembles its activity during waking hours</a:t>
            </a:r>
            <a:r>
              <a:rPr lang="en-US" sz="3200" b="0" i="0" dirty="0">
                <a:effectLst/>
                <a:latin typeface="Times New Roman" panose="02020603050405020304" pitchFamily="18" charset="0"/>
                <a:cs typeface="Times New Roman" panose="02020603050405020304" pitchFamily="18" charset="0"/>
              </a:rPr>
              <a:t>. </a:t>
            </a:r>
          </a:p>
          <a:p>
            <a:pPr marL="457200" indent="-457200" algn="l" fontAlgn="base">
              <a:buFont typeface="Arial" panose="020B0604020202020204" pitchFamily="34" charset="0"/>
              <a:buChar char="•"/>
            </a:pPr>
            <a:r>
              <a:rPr lang="en-US" sz="3200" b="0" i="0" dirty="0">
                <a:effectLst/>
                <a:latin typeface="Times New Roman" panose="02020603050405020304" pitchFamily="18" charset="0"/>
                <a:cs typeface="Times New Roman" panose="02020603050405020304" pitchFamily="18" charset="0"/>
              </a:rPr>
              <a:t>However, your </a:t>
            </a:r>
            <a:r>
              <a:rPr lang="en-US" sz="3200" b="1" i="0" dirty="0">
                <a:solidFill>
                  <a:srgbClr val="7030A0"/>
                </a:solidFill>
                <a:effectLst/>
                <a:latin typeface="Times New Roman" panose="02020603050405020304" pitchFamily="18" charset="0"/>
                <a:cs typeface="Times New Roman" panose="02020603050405020304" pitchFamily="18" charset="0"/>
              </a:rPr>
              <a:t>body is temporarily paralyzed. </a:t>
            </a:r>
          </a:p>
        </p:txBody>
      </p:sp>
    </p:spTree>
    <p:extLst>
      <p:ext uri="{BB962C8B-B14F-4D97-AF65-F5344CB8AC3E}">
        <p14:creationId xmlns:p14="http://schemas.microsoft.com/office/powerpoint/2010/main" val="27187059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B2BD8-3D29-0D93-BBFE-50A0B6250945}"/>
              </a:ext>
            </a:extLst>
          </p:cNvPr>
          <p:cNvSpPr>
            <a:spLocks noGrp="1"/>
          </p:cNvSpPr>
          <p:nvPr>
            <p:ph type="title"/>
          </p:nvPr>
        </p:nvSpPr>
        <p:spPr/>
        <p:txBody>
          <a:bodyPr/>
          <a:lstStyle/>
          <a:p>
            <a:pPr algn="ctr"/>
            <a:r>
              <a:rPr lang="en-US" dirty="0"/>
              <a:t>Cont’d...</a:t>
            </a:r>
          </a:p>
        </p:txBody>
      </p:sp>
      <p:sp>
        <p:nvSpPr>
          <p:cNvPr id="4" name="TextBox 3">
            <a:extLst>
              <a:ext uri="{FF2B5EF4-FFF2-40B4-BE49-F238E27FC236}">
                <a16:creationId xmlns:a16="http://schemas.microsoft.com/office/drawing/2014/main" id="{19E6AE4B-92B5-2F5D-8FB4-9DF1E941B707}"/>
              </a:ext>
            </a:extLst>
          </p:cNvPr>
          <p:cNvSpPr txBox="1"/>
          <p:nvPr/>
        </p:nvSpPr>
        <p:spPr>
          <a:xfrm>
            <a:off x="142973" y="1854333"/>
            <a:ext cx="11906054" cy="3970318"/>
          </a:xfrm>
          <a:prstGeom prst="rect">
            <a:avLst/>
          </a:prstGeom>
          <a:noFill/>
        </p:spPr>
        <p:txBody>
          <a:bodyPr wrap="square">
            <a:spAutoFit/>
          </a:bodyPr>
          <a:lstStyle/>
          <a:p>
            <a:r>
              <a:rPr lang="en-US" sz="3600" b="0" i="0" dirty="0">
                <a:solidFill>
                  <a:srgbClr val="212121"/>
                </a:solidFill>
                <a:effectLst/>
                <a:latin typeface="Times New Roman" panose="02020603050405020304" pitchFamily="18" charset="0"/>
                <a:cs typeface="Times New Roman" panose="02020603050405020304" pitchFamily="18" charset="0"/>
              </a:rPr>
              <a:t>REM sleep </a:t>
            </a:r>
            <a:r>
              <a:rPr lang="en-US" sz="3600" b="1" i="0" dirty="0">
                <a:solidFill>
                  <a:srgbClr val="7030A0"/>
                </a:solidFill>
                <a:effectLst/>
                <a:latin typeface="Times New Roman" panose="02020603050405020304" pitchFamily="18" charset="0"/>
                <a:cs typeface="Times New Roman" panose="02020603050405020304" pitchFamily="18" charset="0"/>
              </a:rPr>
              <a:t>begins approximately 90 minutes after falling asleep</a:t>
            </a:r>
            <a:r>
              <a:rPr lang="en-US" sz="3600" b="0" i="0" dirty="0">
                <a:solidFill>
                  <a:srgbClr val="212121"/>
                </a:solidFill>
                <a:effectLst/>
                <a:latin typeface="Times New Roman" panose="02020603050405020304" pitchFamily="18" charset="0"/>
                <a:cs typeface="Times New Roman" panose="02020603050405020304" pitchFamily="18" charset="0"/>
              </a:rPr>
              <a:t>. At this time:</a:t>
            </a:r>
          </a:p>
          <a:p>
            <a:pPr marL="285750" indent="-285750" algn="l" fontAlgn="base">
              <a:buFont typeface="Arial" panose="020B0604020202020204" pitchFamily="34" charset="0"/>
              <a:buChar char="•"/>
            </a:pPr>
            <a:r>
              <a:rPr lang="en-US" sz="3600" b="0" i="0" dirty="0">
                <a:solidFill>
                  <a:srgbClr val="212121"/>
                </a:solidFill>
                <a:effectLst/>
                <a:latin typeface="Times New Roman" panose="02020603050405020304" pitchFamily="18" charset="0"/>
                <a:cs typeface="Times New Roman" panose="02020603050405020304" pitchFamily="18" charset="0"/>
              </a:rPr>
              <a:t>Your brain lights up with activity</a:t>
            </a:r>
          </a:p>
          <a:p>
            <a:pPr marL="285750" indent="-285750" algn="l" fontAlgn="base">
              <a:buFont typeface="Arial" panose="020B0604020202020204" pitchFamily="34" charset="0"/>
              <a:buChar char="•"/>
            </a:pPr>
            <a:r>
              <a:rPr lang="en-US" sz="3600" b="0" i="0" dirty="0">
                <a:solidFill>
                  <a:srgbClr val="212121"/>
                </a:solidFill>
                <a:effectLst/>
                <a:latin typeface="Times New Roman" panose="02020603050405020304" pitchFamily="18" charset="0"/>
                <a:cs typeface="Times New Roman" panose="02020603050405020304" pitchFamily="18" charset="0"/>
              </a:rPr>
              <a:t>Your body is relaxed and immobilized</a:t>
            </a:r>
          </a:p>
          <a:p>
            <a:pPr marL="285750" indent="-285750" algn="l" fontAlgn="base">
              <a:buFont typeface="Arial" panose="020B0604020202020204" pitchFamily="34" charset="0"/>
              <a:buChar char="•"/>
            </a:pPr>
            <a:r>
              <a:rPr lang="en-US" sz="3600" b="0" i="0" dirty="0">
                <a:solidFill>
                  <a:srgbClr val="212121"/>
                </a:solidFill>
                <a:effectLst/>
                <a:latin typeface="Times New Roman" panose="02020603050405020304" pitchFamily="18" charset="0"/>
                <a:cs typeface="Times New Roman" panose="02020603050405020304" pitchFamily="18" charset="0"/>
              </a:rPr>
              <a:t>Your breathing is faster and irregular</a:t>
            </a:r>
          </a:p>
          <a:p>
            <a:pPr marL="285750" indent="-285750" algn="l" fontAlgn="base">
              <a:buFont typeface="Arial" panose="020B0604020202020204" pitchFamily="34" charset="0"/>
              <a:buChar char="•"/>
            </a:pPr>
            <a:r>
              <a:rPr lang="en-US" sz="3600" b="0" i="0" dirty="0">
                <a:solidFill>
                  <a:srgbClr val="212121"/>
                </a:solidFill>
                <a:effectLst/>
                <a:latin typeface="Times New Roman" panose="02020603050405020304" pitchFamily="18" charset="0"/>
                <a:cs typeface="Times New Roman" panose="02020603050405020304" pitchFamily="18" charset="0"/>
              </a:rPr>
              <a:t>Your eyes move rapidly</a:t>
            </a:r>
          </a:p>
          <a:p>
            <a:pPr marL="285750" indent="-285750" algn="l" fontAlgn="base">
              <a:buFont typeface="Arial" panose="020B0604020202020204" pitchFamily="34" charset="0"/>
              <a:buChar char="•"/>
            </a:pPr>
            <a:r>
              <a:rPr lang="en-US" sz="3600" b="0" i="0" dirty="0">
                <a:solidFill>
                  <a:srgbClr val="212121"/>
                </a:solidFill>
                <a:effectLst/>
                <a:latin typeface="Times New Roman" panose="02020603050405020304" pitchFamily="18" charset="0"/>
                <a:cs typeface="Times New Roman" panose="02020603050405020304" pitchFamily="18" charset="0"/>
              </a:rPr>
              <a:t>You dream</a:t>
            </a:r>
          </a:p>
        </p:txBody>
      </p:sp>
    </p:spTree>
    <p:extLst>
      <p:ext uri="{BB962C8B-B14F-4D97-AF65-F5344CB8AC3E}">
        <p14:creationId xmlns:p14="http://schemas.microsoft.com/office/powerpoint/2010/main" val="30419364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4651A-8967-1CC0-B830-402DDB5830EA}"/>
              </a:ext>
            </a:extLst>
          </p:cNvPr>
          <p:cNvSpPr>
            <a:spLocks noGrp="1"/>
          </p:cNvSpPr>
          <p:nvPr>
            <p:ph type="title"/>
          </p:nvPr>
        </p:nvSpPr>
        <p:spPr>
          <a:xfrm>
            <a:off x="1451579" y="804519"/>
            <a:ext cx="9709757" cy="1049235"/>
          </a:xfrm>
        </p:spPr>
        <p:txBody>
          <a:bodyPr/>
          <a:lstStyle/>
          <a:p>
            <a:r>
              <a:rPr lang="en-US" dirty="0">
                <a:solidFill>
                  <a:srgbClr val="FF0000"/>
                </a:solidFill>
                <a:latin typeface="Arial Black" panose="020B0A04020102020204" pitchFamily="34" charset="0"/>
              </a:rPr>
              <a:t>STEPS TO GETTING A GOOD NIGHT SLEEP</a:t>
            </a:r>
            <a:br>
              <a:rPr lang="en-US" dirty="0">
                <a:solidFill>
                  <a:srgbClr val="FF0000"/>
                </a:solidFill>
                <a:latin typeface="Arial Black" panose="020B0A04020102020204" pitchFamily="34" charset="0"/>
              </a:rPr>
            </a:br>
            <a:endParaRPr lang="en-US" dirty="0">
              <a:solidFill>
                <a:srgbClr val="FF0000"/>
              </a:solidFill>
              <a:latin typeface="Arial Black" panose="020B0A04020102020204" pitchFamily="34" charset="0"/>
            </a:endParaRPr>
          </a:p>
        </p:txBody>
      </p:sp>
      <p:sp>
        <p:nvSpPr>
          <p:cNvPr id="4" name="TextBox 3">
            <a:extLst>
              <a:ext uri="{FF2B5EF4-FFF2-40B4-BE49-F238E27FC236}">
                <a16:creationId xmlns:a16="http://schemas.microsoft.com/office/drawing/2014/main" id="{06B76051-B9DC-A982-185C-185D6CA42673}"/>
              </a:ext>
            </a:extLst>
          </p:cNvPr>
          <p:cNvSpPr txBox="1"/>
          <p:nvPr/>
        </p:nvSpPr>
        <p:spPr>
          <a:xfrm>
            <a:off x="0" y="1771395"/>
            <a:ext cx="12192000" cy="4461286"/>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750" b="1" dirty="0">
                <a:solidFill>
                  <a:srgbClr val="7030A0"/>
                </a:solidFill>
              </a:rPr>
              <a:t>Learn to value sleep</a:t>
            </a:r>
            <a:r>
              <a:rPr lang="en-US" sz="2750" dirty="0"/>
              <a:t>. We never accomplish what we do not value</a:t>
            </a:r>
          </a:p>
          <a:p>
            <a:pPr marL="457200" indent="-457200">
              <a:lnSpc>
                <a:spcPct val="150000"/>
              </a:lnSpc>
              <a:buFont typeface="Arial" panose="020B0604020202020204" pitchFamily="34" charset="0"/>
              <a:buChar char="•"/>
            </a:pPr>
            <a:r>
              <a:rPr lang="en-US" sz="2750" b="1" dirty="0"/>
              <a:t>Establish a regular bedtime ritual</a:t>
            </a:r>
            <a:r>
              <a:rPr lang="en-US" sz="2750" dirty="0"/>
              <a:t> to let your mind and mind and body know that you are preparing to sleep.</a:t>
            </a:r>
          </a:p>
          <a:p>
            <a:pPr marL="457200" indent="-457200">
              <a:lnSpc>
                <a:spcPct val="150000"/>
              </a:lnSpc>
              <a:buFont typeface="Arial" panose="020B0604020202020204" pitchFamily="34" charset="0"/>
              <a:buChar char="•"/>
            </a:pPr>
            <a:r>
              <a:rPr lang="en-US" sz="2750" dirty="0"/>
              <a:t>Exercise appropriately every day at least four to five hours prior to retiring.</a:t>
            </a:r>
          </a:p>
          <a:p>
            <a:pPr marL="457200" indent="-457200">
              <a:lnSpc>
                <a:spcPct val="150000"/>
              </a:lnSpc>
              <a:buFont typeface="Arial" panose="020B0604020202020204" pitchFamily="34" charset="0"/>
              <a:buChar char="•"/>
            </a:pPr>
            <a:r>
              <a:rPr lang="en-US" sz="2750" b="1" dirty="0">
                <a:solidFill>
                  <a:srgbClr val="7030A0"/>
                </a:solidFill>
              </a:rPr>
              <a:t>Establish regular time </a:t>
            </a:r>
            <a:r>
              <a:rPr lang="en-US" sz="2750" dirty="0"/>
              <a:t>for rising and retiring and stick to them every day even on weekends</a:t>
            </a:r>
          </a:p>
          <a:p>
            <a:pPr marL="457200" indent="-457200">
              <a:lnSpc>
                <a:spcPct val="150000"/>
              </a:lnSpc>
              <a:buFont typeface="Arial" panose="020B0604020202020204" pitchFamily="34" charset="0"/>
              <a:buChar char="•"/>
            </a:pPr>
            <a:r>
              <a:rPr lang="en-US" sz="2750" b="1" dirty="0">
                <a:solidFill>
                  <a:srgbClr val="7030A0"/>
                </a:solidFill>
              </a:rPr>
              <a:t>Eat lightly </a:t>
            </a:r>
            <a:r>
              <a:rPr lang="en-US" sz="2750" dirty="0"/>
              <a:t>in the veining (arranging) several hours prior to bedtime.</a:t>
            </a:r>
          </a:p>
        </p:txBody>
      </p:sp>
    </p:spTree>
    <p:extLst>
      <p:ext uri="{BB962C8B-B14F-4D97-AF65-F5344CB8AC3E}">
        <p14:creationId xmlns:p14="http://schemas.microsoft.com/office/powerpoint/2010/main" val="12236438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74B3C-12B2-1716-82D4-305A9E132765}"/>
              </a:ext>
            </a:extLst>
          </p:cNvPr>
          <p:cNvSpPr>
            <a:spLocks noGrp="1"/>
          </p:cNvSpPr>
          <p:nvPr>
            <p:ph type="title"/>
          </p:nvPr>
        </p:nvSpPr>
        <p:spPr/>
        <p:txBody>
          <a:bodyPr/>
          <a:lstStyle/>
          <a:p>
            <a:r>
              <a:rPr lang="en-US" dirty="0"/>
              <a:t>Cont’d...</a:t>
            </a:r>
          </a:p>
        </p:txBody>
      </p:sp>
      <p:sp>
        <p:nvSpPr>
          <p:cNvPr id="4" name="TextBox 3">
            <a:extLst>
              <a:ext uri="{FF2B5EF4-FFF2-40B4-BE49-F238E27FC236}">
                <a16:creationId xmlns:a16="http://schemas.microsoft.com/office/drawing/2014/main" id="{4BEBD769-0B67-D1F8-540A-E388CD78E36A}"/>
              </a:ext>
            </a:extLst>
          </p:cNvPr>
          <p:cNvSpPr txBox="1"/>
          <p:nvPr/>
        </p:nvSpPr>
        <p:spPr>
          <a:xfrm>
            <a:off x="161827" y="1725008"/>
            <a:ext cx="11868346" cy="4524315"/>
          </a:xfrm>
          <a:prstGeom prst="rect">
            <a:avLst/>
          </a:prstGeom>
          <a:noFill/>
        </p:spPr>
        <p:txBody>
          <a:bodyPr wrap="square">
            <a:spAutoFit/>
          </a:bodyPr>
          <a:lstStyle/>
          <a:p>
            <a:pPr marL="342900" indent="-342900">
              <a:buFont typeface="Arial" panose="020B0604020202020204" pitchFamily="34" charset="0"/>
              <a:buChar char="•"/>
            </a:pPr>
            <a:r>
              <a:rPr lang="en-US" sz="3200" dirty="0"/>
              <a:t>Avoid </a:t>
            </a:r>
            <a:r>
              <a:rPr lang="en-US" sz="3200" b="1" dirty="0">
                <a:solidFill>
                  <a:srgbClr val="7030A0"/>
                </a:solidFill>
              </a:rPr>
              <a:t>watching exciting or depressing tv programs or movies engaging in stressful events </a:t>
            </a:r>
            <a:r>
              <a:rPr lang="en-US" sz="3200" dirty="0"/>
              <a:t>such as arguments or making momentous decision soon before bedtime.</a:t>
            </a:r>
          </a:p>
          <a:p>
            <a:pPr marL="342900" indent="-342900">
              <a:buFont typeface="Arial" panose="020B0604020202020204" pitchFamily="34" charset="0"/>
              <a:buChar char="•"/>
            </a:pPr>
            <a:r>
              <a:rPr lang="en-US" sz="3200" dirty="0"/>
              <a:t>Avoid the use of </a:t>
            </a:r>
            <a:r>
              <a:rPr lang="en-US" sz="3200" b="1" dirty="0">
                <a:solidFill>
                  <a:srgbClr val="7030A0"/>
                </a:solidFill>
              </a:rPr>
              <a:t>sleeping medication </a:t>
            </a:r>
            <a:r>
              <a:rPr lang="en-US" sz="3200" dirty="0"/>
              <a:t>like caffeine and alcohol which disrupt normal sleep architecture.</a:t>
            </a:r>
          </a:p>
          <a:p>
            <a:pPr marL="342900" indent="-342900">
              <a:buFont typeface="Arial" panose="020B0604020202020204" pitchFamily="34" charset="0"/>
              <a:buChar char="•"/>
            </a:pPr>
            <a:r>
              <a:rPr lang="en-US" sz="3200" dirty="0"/>
              <a:t>See your </a:t>
            </a:r>
            <a:r>
              <a:rPr lang="en-US" sz="3200" b="1" dirty="0">
                <a:solidFill>
                  <a:srgbClr val="7030A0"/>
                </a:solidFill>
              </a:rPr>
              <a:t>personal physician </a:t>
            </a:r>
            <a:r>
              <a:rPr lang="en-US" sz="3200" dirty="0"/>
              <a:t>if you suspect a sleep disorder or other medical condition.</a:t>
            </a:r>
          </a:p>
          <a:p>
            <a:r>
              <a:rPr lang="en-US" sz="3200" b="1" dirty="0">
                <a:solidFill>
                  <a:srgbClr val="FF0000"/>
                </a:solidFill>
              </a:rPr>
              <a:t>Put your trust in God give him your problem and anxieties</a:t>
            </a:r>
            <a:r>
              <a:rPr lang="en-US" sz="3200" dirty="0"/>
              <a:t>.</a:t>
            </a:r>
          </a:p>
          <a:p>
            <a:pPr marL="457200" indent="-457200">
              <a:buFont typeface="Arial" panose="020B0604020202020204" pitchFamily="34" charset="0"/>
              <a:buChar char="•"/>
            </a:pPr>
            <a:r>
              <a:rPr lang="en-US" sz="3200" b="1" dirty="0">
                <a:solidFill>
                  <a:srgbClr val="0070C0"/>
                </a:solidFill>
              </a:rPr>
              <a:t>Remember</a:t>
            </a:r>
            <a:r>
              <a:rPr lang="en-US" sz="3200" dirty="0"/>
              <a:t>: Tonight’s sleep builds tomorrow’s energy!</a:t>
            </a:r>
          </a:p>
        </p:txBody>
      </p:sp>
    </p:spTree>
    <p:extLst>
      <p:ext uri="{BB962C8B-B14F-4D97-AF65-F5344CB8AC3E}">
        <p14:creationId xmlns:p14="http://schemas.microsoft.com/office/powerpoint/2010/main" val="22801618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9EE2C-22C8-0BC7-0411-7BA8F0652A2E}"/>
              </a:ext>
            </a:extLst>
          </p:cNvPr>
          <p:cNvSpPr>
            <a:spLocks noGrp="1"/>
          </p:cNvSpPr>
          <p:nvPr>
            <p:ph type="title"/>
          </p:nvPr>
        </p:nvSpPr>
        <p:spPr/>
        <p:txBody>
          <a:bodyPr/>
          <a:lstStyle/>
          <a:p>
            <a:r>
              <a:rPr lang="en-US" sz="4000" dirty="0">
                <a:solidFill>
                  <a:srgbClr val="FF0000"/>
                </a:solidFill>
                <a:latin typeface="Arial Black" panose="020B0A04020102020204" pitchFamily="34" charset="0"/>
              </a:rPr>
              <a:t>WEEKLY AND ANNUAL REST</a:t>
            </a:r>
            <a:r>
              <a:rPr lang="en-US" dirty="0"/>
              <a:t>.</a:t>
            </a:r>
          </a:p>
        </p:txBody>
      </p:sp>
      <p:sp>
        <p:nvSpPr>
          <p:cNvPr id="4" name="TextBox 3">
            <a:extLst>
              <a:ext uri="{FF2B5EF4-FFF2-40B4-BE49-F238E27FC236}">
                <a16:creationId xmlns:a16="http://schemas.microsoft.com/office/drawing/2014/main" id="{B814DB89-1316-6314-BE13-B3413DF3752F}"/>
              </a:ext>
            </a:extLst>
          </p:cNvPr>
          <p:cNvSpPr txBox="1"/>
          <p:nvPr/>
        </p:nvSpPr>
        <p:spPr>
          <a:xfrm>
            <a:off x="149362" y="1922225"/>
            <a:ext cx="11813252" cy="4031873"/>
          </a:xfrm>
          <a:prstGeom prst="rect">
            <a:avLst/>
          </a:prstGeom>
          <a:noFill/>
        </p:spPr>
        <p:txBody>
          <a:bodyPr wrap="square">
            <a:spAutoFit/>
          </a:bodyPr>
          <a:lstStyle/>
          <a:p>
            <a:pPr marL="285750" indent="-285750">
              <a:buFont typeface="Arial" panose="020B0604020202020204" pitchFamily="34" charset="0"/>
              <a:buChar char="•"/>
            </a:pPr>
            <a:r>
              <a:rPr lang="en-US" sz="3200" dirty="0"/>
              <a:t>As humans we all have our limitations.</a:t>
            </a:r>
          </a:p>
          <a:p>
            <a:pPr marL="285750" indent="-285750">
              <a:buFont typeface="Arial" panose="020B0604020202020204" pitchFamily="34" charset="0"/>
              <a:buChar char="•"/>
            </a:pPr>
            <a:r>
              <a:rPr lang="en-US" sz="3200" dirty="0"/>
              <a:t>We cannot walk around the clock or without regular time of rest and maintain a healthy, happy and productive life.</a:t>
            </a:r>
          </a:p>
          <a:p>
            <a:pPr marL="285750" indent="-285750">
              <a:buFont typeface="Arial" panose="020B0604020202020204" pitchFamily="34" charset="0"/>
              <a:buChar char="•"/>
            </a:pPr>
            <a:r>
              <a:rPr lang="en-US" sz="3200" dirty="0"/>
              <a:t>We need daily rest as much as we need weekly and annual breath to provide the mental and the emotional recuperation necessary for creativity and positive family relationships.</a:t>
            </a:r>
          </a:p>
          <a:p>
            <a:pPr marL="285750" indent="-285750">
              <a:buFont typeface="Arial" panose="020B0604020202020204" pitchFamily="34" charset="0"/>
              <a:buChar char="•"/>
            </a:pPr>
            <a:r>
              <a:rPr lang="en-US" sz="3200" dirty="0"/>
              <a:t>Optimal physical mental, emotional and spiritual health require adequate rest.</a:t>
            </a:r>
          </a:p>
        </p:txBody>
      </p:sp>
    </p:spTree>
    <p:extLst>
      <p:ext uri="{BB962C8B-B14F-4D97-AF65-F5344CB8AC3E}">
        <p14:creationId xmlns:p14="http://schemas.microsoft.com/office/powerpoint/2010/main" val="29675720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1506F-88FC-8CC8-19FC-F784C559D9BB}"/>
              </a:ext>
            </a:extLst>
          </p:cNvPr>
          <p:cNvSpPr>
            <a:spLocks noGrp="1"/>
          </p:cNvSpPr>
          <p:nvPr>
            <p:ph type="title"/>
          </p:nvPr>
        </p:nvSpPr>
        <p:spPr/>
        <p:txBody>
          <a:bodyPr>
            <a:normAutofit/>
          </a:bodyPr>
          <a:lstStyle/>
          <a:p>
            <a:pPr algn="ctr"/>
            <a:r>
              <a:rPr lang="en-US" sz="4000" b="1" dirty="0">
                <a:solidFill>
                  <a:srgbClr val="FF0000"/>
                </a:solidFill>
                <a:latin typeface="Arial Black" panose="020B0A04020102020204" pitchFamily="34" charset="0"/>
              </a:rPr>
              <a:t>Air</a:t>
            </a:r>
          </a:p>
        </p:txBody>
      </p:sp>
      <p:sp>
        <p:nvSpPr>
          <p:cNvPr id="4" name="TextBox 3">
            <a:extLst>
              <a:ext uri="{FF2B5EF4-FFF2-40B4-BE49-F238E27FC236}">
                <a16:creationId xmlns:a16="http://schemas.microsoft.com/office/drawing/2014/main" id="{734B0C43-0016-FA21-E811-18D6FDA7FD5A}"/>
              </a:ext>
            </a:extLst>
          </p:cNvPr>
          <p:cNvSpPr txBox="1"/>
          <p:nvPr/>
        </p:nvSpPr>
        <p:spPr>
          <a:xfrm>
            <a:off x="149361" y="1956310"/>
            <a:ext cx="11869813" cy="3416320"/>
          </a:xfrm>
          <a:prstGeom prst="rect">
            <a:avLst/>
          </a:prstGeom>
          <a:noFill/>
        </p:spPr>
        <p:txBody>
          <a:bodyPr wrap="square">
            <a:spAutoFit/>
          </a:bodyPr>
          <a:lstStyle/>
          <a:p>
            <a:pPr marL="285750" indent="-285750">
              <a:buFont typeface="Arial" panose="020B0604020202020204" pitchFamily="34" charset="0"/>
              <a:buChar char="•"/>
            </a:pPr>
            <a:r>
              <a:rPr lang="en-US" sz="3600" b="1" i="0" dirty="0">
                <a:effectLst/>
                <a:latin typeface="Verdana" panose="020B0604030504040204" pitchFamily="34" charset="0"/>
              </a:rPr>
              <a:t>Genesis 2:7; </a:t>
            </a:r>
            <a:r>
              <a:rPr lang="en-US" sz="3600" b="0" i="0" dirty="0">
                <a:effectLst/>
                <a:latin typeface="Roboto" panose="02000000000000000000" pitchFamily="2" charset="0"/>
              </a:rPr>
              <a:t>Then the LORD God formed the man from the dust of the ground. </a:t>
            </a:r>
          </a:p>
          <a:p>
            <a:pPr marL="285750" indent="-285750">
              <a:buFont typeface="Arial" panose="020B0604020202020204" pitchFamily="34" charset="0"/>
              <a:buChar char="•"/>
            </a:pPr>
            <a:r>
              <a:rPr lang="en-US" sz="3600" b="0" i="0" dirty="0">
                <a:effectLst/>
                <a:latin typeface="Roboto" panose="02000000000000000000" pitchFamily="2" charset="0"/>
              </a:rPr>
              <a:t>He </a:t>
            </a:r>
            <a:r>
              <a:rPr lang="en-US" sz="3600" b="1" i="0" dirty="0">
                <a:solidFill>
                  <a:schemeClr val="accent2">
                    <a:lumMod val="50000"/>
                  </a:schemeClr>
                </a:solidFill>
                <a:effectLst/>
                <a:latin typeface="Roboto" panose="02000000000000000000" pitchFamily="2" charset="0"/>
              </a:rPr>
              <a:t>breathed the breath of life </a:t>
            </a:r>
            <a:r>
              <a:rPr lang="en-US" sz="3600" b="0" i="0" dirty="0">
                <a:effectLst/>
                <a:latin typeface="Roboto" panose="02000000000000000000" pitchFamily="2" charset="0"/>
              </a:rPr>
              <a:t>into the man’s nostrils, and the man became a living person.</a:t>
            </a:r>
          </a:p>
          <a:p>
            <a:pPr marL="285750" indent="-285750">
              <a:buFont typeface="Arial" panose="020B0604020202020204" pitchFamily="34" charset="0"/>
              <a:buChar char="•"/>
            </a:pPr>
            <a:r>
              <a:rPr lang="en-US" sz="3600" b="1" dirty="0"/>
              <a:t>Clean air </a:t>
            </a:r>
            <a:r>
              <a:rPr lang="en-US" sz="3600" dirty="0"/>
              <a:t>is essential and constitutes the physical breath of life.</a:t>
            </a:r>
          </a:p>
        </p:txBody>
      </p:sp>
    </p:spTree>
    <p:extLst>
      <p:ext uri="{BB962C8B-B14F-4D97-AF65-F5344CB8AC3E}">
        <p14:creationId xmlns:p14="http://schemas.microsoft.com/office/powerpoint/2010/main" val="17664528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0E7DD-A96E-8D2F-328F-41D021B0277E}"/>
              </a:ext>
            </a:extLst>
          </p:cNvPr>
          <p:cNvSpPr>
            <a:spLocks noGrp="1"/>
          </p:cNvSpPr>
          <p:nvPr>
            <p:ph type="title"/>
          </p:nvPr>
        </p:nvSpPr>
        <p:spPr/>
        <p:txBody>
          <a:bodyPr>
            <a:normAutofit/>
          </a:bodyPr>
          <a:lstStyle/>
          <a:p>
            <a:pPr algn="ctr"/>
            <a:r>
              <a:rPr lang="en-US" sz="4000" b="1" dirty="0">
                <a:solidFill>
                  <a:srgbClr val="FF0000"/>
                </a:solidFill>
              </a:rPr>
              <a:t>How does air work?</a:t>
            </a:r>
          </a:p>
        </p:txBody>
      </p:sp>
      <p:sp>
        <p:nvSpPr>
          <p:cNvPr id="4" name="TextBox 3">
            <a:extLst>
              <a:ext uri="{FF2B5EF4-FFF2-40B4-BE49-F238E27FC236}">
                <a16:creationId xmlns:a16="http://schemas.microsoft.com/office/drawing/2014/main" id="{8C49E090-19B0-96D9-4ADC-BEF22B0FF7BE}"/>
              </a:ext>
            </a:extLst>
          </p:cNvPr>
          <p:cNvSpPr txBox="1"/>
          <p:nvPr/>
        </p:nvSpPr>
        <p:spPr>
          <a:xfrm>
            <a:off x="256199" y="1813690"/>
            <a:ext cx="11935801" cy="4524315"/>
          </a:xfrm>
          <a:prstGeom prst="rect">
            <a:avLst/>
          </a:prstGeom>
          <a:noFill/>
        </p:spPr>
        <p:txBody>
          <a:bodyPr wrap="square">
            <a:spAutoFit/>
          </a:bodyPr>
          <a:lstStyle/>
          <a:p>
            <a:pPr marL="457200" indent="-457200">
              <a:buFont typeface="Arial" panose="020B0604020202020204" pitchFamily="34" charset="0"/>
              <a:buChar char="•"/>
            </a:pPr>
            <a:r>
              <a:rPr lang="en-US" sz="3200" dirty="0"/>
              <a:t>Atmospheric air comprises a mixture of gases: oxygen (O2), carbon dioxide (CO2), nitrogen (N2), inert (inactive) constituents such as argon and helium. </a:t>
            </a:r>
          </a:p>
          <a:p>
            <a:pPr marL="457200" indent="-457200">
              <a:buFont typeface="Arial" panose="020B0604020202020204" pitchFamily="34" charset="0"/>
              <a:buChar char="•"/>
            </a:pPr>
            <a:r>
              <a:rPr lang="en-US" sz="3200" b="1" dirty="0">
                <a:solidFill>
                  <a:srgbClr val="00B0F0"/>
                </a:solidFill>
              </a:rPr>
              <a:t>Oxygen</a:t>
            </a:r>
            <a:r>
              <a:rPr lang="en-US" sz="3200" dirty="0"/>
              <a:t> is the </a:t>
            </a:r>
            <a:r>
              <a:rPr lang="en-US" sz="3200" b="1" dirty="0">
                <a:solidFill>
                  <a:srgbClr val="00B050"/>
                </a:solidFill>
              </a:rPr>
              <a:t>vital component of air that sustains life</a:t>
            </a:r>
            <a:r>
              <a:rPr lang="en-US" sz="3200" dirty="0"/>
              <a:t>. </a:t>
            </a:r>
          </a:p>
          <a:p>
            <a:pPr marL="457200" indent="-457200">
              <a:buFont typeface="Arial" panose="020B0604020202020204" pitchFamily="34" charset="0"/>
              <a:buChar char="•"/>
            </a:pPr>
            <a:r>
              <a:rPr lang="en-US" sz="3200" b="1" dirty="0">
                <a:solidFill>
                  <a:srgbClr val="00B0F0"/>
                </a:solidFill>
              </a:rPr>
              <a:t>Breathing</a:t>
            </a:r>
            <a:r>
              <a:rPr lang="en-US" sz="3200" dirty="0"/>
              <a:t> is the process that </a:t>
            </a:r>
            <a:r>
              <a:rPr lang="en-US" sz="3200" b="1" dirty="0"/>
              <a:t>moves the air in and out </a:t>
            </a:r>
            <a:r>
              <a:rPr lang="en-US" sz="3200" dirty="0"/>
              <a:t>of the lungs and continues the cycle of taking in oxygen and releasing carbon dioxide. </a:t>
            </a:r>
          </a:p>
          <a:p>
            <a:pPr marL="457200" indent="-457200">
              <a:buFont typeface="Arial" panose="020B0604020202020204" pitchFamily="34" charset="0"/>
              <a:buChar char="•"/>
            </a:pPr>
            <a:r>
              <a:rPr lang="en-US" sz="3200" dirty="0"/>
              <a:t>This process takes in and exchanges approximately 20,000 liters of air daily.</a:t>
            </a:r>
          </a:p>
        </p:txBody>
      </p:sp>
    </p:spTree>
    <p:extLst>
      <p:ext uri="{BB962C8B-B14F-4D97-AF65-F5344CB8AC3E}">
        <p14:creationId xmlns:p14="http://schemas.microsoft.com/office/powerpoint/2010/main" val="16094977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C07C1-DD02-29AE-0404-3F755DD0EF85}"/>
              </a:ext>
            </a:extLst>
          </p:cNvPr>
          <p:cNvSpPr>
            <a:spLocks noGrp="1"/>
          </p:cNvSpPr>
          <p:nvPr>
            <p:ph type="title"/>
          </p:nvPr>
        </p:nvSpPr>
        <p:spPr/>
        <p:txBody>
          <a:bodyPr/>
          <a:lstStyle/>
          <a:p>
            <a:pPr algn="ctr"/>
            <a:r>
              <a:rPr lang="en-US" dirty="0"/>
              <a:t>Cont’d...</a:t>
            </a:r>
          </a:p>
        </p:txBody>
      </p:sp>
      <p:sp>
        <p:nvSpPr>
          <p:cNvPr id="4" name="TextBox 3">
            <a:extLst>
              <a:ext uri="{FF2B5EF4-FFF2-40B4-BE49-F238E27FC236}">
                <a16:creationId xmlns:a16="http://schemas.microsoft.com/office/drawing/2014/main" id="{75BE430E-695C-2604-66D9-658E8C17890D}"/>
              </a:ext>
            </a:extLst>
          </p:cNvPr>
          <p:cNvSpPr txBox="1"/>
          <p:nvPr/>
        </p:nvSpPr>
        <p:spPr>
          <a:xfrm>
            <a:off x="113122" y="1727910"/>
            <a:ext cx="11981468" cy="3970318"/>
          </a:xfrm>
          <a:prstGeom prst="rect">
            <a:avLst/>
          </a:prstGeom>
          <a:noFill/>
        </p:spPr>
        <p:txBody>
          <a:bodyPr wrap="square">
            <a:spAutoFit/>
          </a:bodyPr>
          <a:lstStyle/>
          <a:p>
            <a:pPr marL="571500" indent="-571500">
              <a:buFont typeface="Arial" panose="020B0604020202020204" pitchFamily="34" charset="0"/>
              <a:buChar char="•"/>
            </a:pPr>
            <a:r>
              <a:rPr lang="en-US" sz="3600" dirty="0"/>
              <a:t>The body carries approximately </a:t>
            </a:r>
            <a:r>
              <a:rPr lang="en-US" sz="3600" b="1" dirty="0">
                <a:solidFill>
                  <a:srgbClr val="7030A0"/>
                </a:solidFill>
              </a:rPr>
              <a:t>two quarts of oxygen in the lungs</a:t>
            </a:r>
            <a:r>
              <a:rPr lang="en-US" sz="3600" dirty="0"/>
              <a:t>, </a:t>
            </a:r>
            <a:r>
              <a:rPr lang="en-US" sz="3600" b="1" dirty="0">
                <a:solidFill>
                  <a:srgbClr val="FF0000"/>
                </a:solidFill>
              </a:rPr>
              <a:t>blood</a:t>
            </a:r>
            <a:r>
              <a:rPr lang="en-US" sz="3600" dirty="0"/>
              <a:t>, and other tissues at any given time. </a:t>
            </a:r>
          </a:p>
          <a:p>
            <a:pPr marL="571500" indent="-571500">
              <a:buFont typeface="Arial" panose="020B0604020202020204" pitchFamily="34" charset="0"/>
              <a:buChar char="•"/>
            </a:pPr>
            <a:r>
              <a:rPr lang="en-US" sz="3600" dirty="0"/>
              <a:t>Once oxygen enters the lungs, it goes into the bloodstream by a process called </a:t>
            </a:r>
            <a:r>
              <a:rPr lang="en-US" sz="3600" b="1" dirty="0"/>
              <a:t>diffusion</a:t>
            </a:r>
            <a:r>
              <a:rPr lang="en-US" sz="3600" dirty="0"/>
              <a:t>. </a:t>
            </a:r>
          </a:p>
          <a:p>
            <a:pPr marL="571500" indent="-571500">
              <a:buFont typeface="Arial" panose="020B0604020202020204" pitchFamily="34" charset="0"/>
              <a:buChar char="•"/>
            </a:pPr>
            <a:r>
              <a:rPr lang="en-US" sz="3600" dirty="0"/>
              <a:t>The heart and circulatory system then </a:t>
            </a:r>
            <a:r>
              <a:rPr lang="en-US" sz="3600" b="1" dirty="0">
                <a:solidFill>
                  <a:schemeClr val="accent1"/>
                </a:solidFill>
              </a:rPr>
              <a:t>pump the blood to every tissue of the body</a:t>
            </a:r>
            <a:r>
              <a:rPr lang="en-US" sz="3600" dirty="0"/>
              <a:t>, delivering life-giving oxygen to the tissues and cells. </a:t>
            </a:r>
          </a:p>
        </p:txBody>
      </p:sp>
    </p:spTree>
    <p:extLst>
      <p:ext uri="{BB962C8B-B14F-4D97-AF65-F5344CB8AC3E}">
        <p14:creationId xmlns:p14="http://schemas.microsoft.com/office/powerpoint/2010/main" val="30820276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A3CA7-2530-855A-1A22-AB321193112C}"/>
              </a:ext>
            </a:extLst>
          </p:cNvPr>
          <p:cNvSpPr>
            <a:spLocks noGrp="1"/>
          </p:cNvSpPr>
          <p:nvPr>
            <p:ph type="title"/>
          </p:nvPr>
        </p:nvSpPr>
        <p:spPr/>
        <p:txBody>
          <a:bodyPr/>
          <a:lstStyle/>
          <a:p>
            <a:pPr algn="ctr"/>
            <a:r>
              <a:rPr lang="en-US" dirty="0"/>
              <a:t>Cont’d...</a:t>
            </a:r>
          </a:p>
        </p:txBody>
      </p:sp>
      <p:sp>
        <p:nvSpPr>
          <p:cNvPr id="4" name="TextBox 3">
            <a:extLst>
              <a:ext uri="{FF2B5EF4-FFF2-40B4-BE49-F238E27FC236}">
                <a16:creationId xmlns:a16="http://schemas.microsoft.com/office/drawing/2014/main" id="{FABA26A7-EAC2-DFE4-874D-DDE73C8B884B}"/>
              </a:ext>
            </a:extLst>
          </p:cNvPr>
          <p:cNvSpPr txBox="1"/>
          <p:nvPr/>
        </p:nvSpPr>
        <p:spPr>
          <a:xfrm>
            <a:off x="273770" y="1853754"/>
            <a:ext cx="11644459" cy="4401205"/>
          </a:xfrm>
          <a:prstGeom prst="rect">
            <a:avLst/>
          </a:prstGeom>
          <a:noFill/>
        </p:spPr>
        <p:txBody>
          <a:bodyPr wrap="square">
            <a:spAutoFit/>
          </a:bodyPr>
          <a:lstStyle/>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a:t>
            </a:r>
            <a:r>
              <a:rPr lang="en-US" sz="2800" b="1" dirty="0">
                <a:solidFill>
                  <a:srgbClr val="7030A0"/>
                </a:solidFill>
                <a:latin typeface="Times New Roman" panose="02020603050405020304" pitchFamily="18" charset="0"/>
                <a:cs typeface="Times New Roman" panose="02020603050405020304" pitchFamily="18" charset="0"/>
              </a:rPr>
              <a:t>waste carbon dioxide </a:t>
            </a:r>
            <a:r>
              <a:rPr lang="en-US" sz="2800" dirty="0">
                <a:latin typeface="Times New Roman" panose="02020603050405020304" pitchFamily="18" charset="0"/>
                <a:cs typeface="Times New Roman" panose="02020603050405020304" pitchFamily="18" charset="0"/>
              </a:rPr>
              <a:t>is released into the air sacs and expelled from the lungs.</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oxygen is carried </a:t>
            </a:r>
            <a:r>
              <a:rPr lang="en-US" sz="2800" dirty="0">
                <a:latin typeface="Times New Roman" panose="02020603050405020304" pitchFamily="18" charset="0"/>
                <a:cs typeface="Times New Roman" panose="02020603050405020304" pitchFamily="18" charset="0"/>
              </a:rPr>
              <a:t>by millions of red blood cells, which nourish all the body tissues and cells. </a:t>
            </a:r>
          </a:p>
          <a:p>
            <a:pPr marL="285750" indent="-285750">
              <a:buFont typeface="Arial" panose="020B0604020202020204" pitchFamily="34" charset="0"/>
              <a:buChar char="•"/>
            </a:pPr>
            <a:r>
              <a:rPr lang="en-US" sz="2800" b="1" dirty="0">
                <a:solidFill>
                  <a:srgbClr val="7030A0"/>
                </a:solidFill>
                <a:latin typeface="Times New Roman" panose="02020603050405020304" pitchFamily="18" charset="0"/>
                <a:cs typeface="Times New Roman" panose="02020603050405020304" pitchFamily="18" charset="0"/>
              </a:rPr>
              <a:t>If one does not inhale fresh air, the level of carbon dioxide builds up in the blood</a:t>
            </a:r>
            <a:r>
              <a:rPr lang="en-US" sz="2800" dirty="0">
                <a:latin typeface="Times New Roman" panose="02020603050405020304" pitchFamily="18" charset="0"/>
                <a:cs typeface="Times New Roman" panose="02020603050405020304" pitchFamily="18" charset="0"/>
              </a:rPr>
              <a:t>, </a:t>
            </a:r>
            <a:r>
              <a:rPr lang="en-US" sz="2800" b="1" dirty="0">
                <a:solidFill>
                  <a:srgbClr val="0070C0"/>
                </a:solidFill>
                <a:latin typeface="Times New Roman" panose="02020603050405020304" pitchFamily="18" charset="0"/>
                <a:cs typeface="Times New Roman" panose="02020603050405020304" pitchFamily="18" charset="0"/>
              </a:rPr>
              <a:t>resulting in the feeling of tremendous “air hunger” forcing one to breathe</a:t>
            </a:r>
            <a:r>
              <a:rPr lang="en-US" sz="28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800" b="1" dirty="0">
                <a:solidFill>
                  <a:schemeClr val="accent1"/>
                </a:solidFill>
                <a:latin typeface="Times New Roman" panose="02020603050405020304" pitchFamily="18" charset="0"/>
                <a:cs typeface="Times New Roman" panose="02020603050405020304" pitchFamily="18" charset="0"/>
              </a:rPr>
              <a:t>Brain cells begin to die </a:t>
            </a:r>
            <a:r>
              <a:rPr lang="en-US" sz="2800" dirty="0">
                <a:latin typeface="Times New Roman" panose="02020603050405020304" pitchFamily="18" charset="0"/>
                <a:cs typeface="Times New Roman" panose="02020603050405020304" pitchFamily="18" charset="0"/>
              </a:rPr>
              <a:t>within </a:t>
            </a:r>
            <a:r>
              <a:rPr lang="en-US" sz="2800" b="1" dirty="0">
                <a:solidFill>
                  <a:srgbClr val="00B050"/>
                </a:solidFill>
                <a:latin typeface="Times New Roman" panose="02020603050405020304" pitchFamily="18" charset="0"/>
                <a:cs typeface="Times New Roman" panose="02020603050405020304" pitchFamily="18" charset="0"/>
              </a:rPr>
              <a:t>four minutes of oxygen deprivation</a:t>
            </a:r>
            <a:r>
              <a:rPr lang="en-US" sz="28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t>
            </a:r>
            <a:r>
              <a:rPr lang="en-US" sz="2800" b="1" dirty="0">
                <a:solidFill>
                  <a:srgbClr val="FF0000"/>
                </a:solidFill>
                <a:latin typeface="Times New Roman" panose="02020603050405020304" pitchFamily="18" charset="0"/>
                <a:cs typeface="Times New Roman" panose="02020603050405020304" pitchFamily="18" charset="0"/>
              </a:rPr>
              <a:t>It’s a matter of life and breath</a:t>
            </a:r>
            <a:r>
              <a:rPr lang="en-US" sz="2800" dirty="0">
                <a:latin typeface="Times New Roman" panose="02020603050405020304" pitchFamily="18" charset="0"/>
                <a:cs typeface="Times New Roman" panose="02020603050405020304" pitchFamily="18" charset="0"/>
              </a:rPr>
              <a:t>.” We need oxygen for life, and pure fresh air for health.</a:t>
            </a:r>
          </a:p>
        </p:txBody>
      </p:sp>
    </p:spTree>
    <p:extLst>
      <p:ext uri="{BB962C8B-B14F-4D97-AF65-F5344CB8AC3E}">
        <p14:creationId xmlns:p14="http://schemas.microsoft.com/office/powerpoint/2010/main" val="12853653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3991E-F107-2595-BDB9-370764DBF63B}"/>
              </a:ext>
            </a:extLst>
          </p:cNvPr>
          <p:cNvSpPr>
            <a:spLocks noGrp="1"/>
          </p:cNvSpPr>
          <p:nvPr>
            <p:ph type="title"/>
          </p:nvPr>
        </p:nvSpPr>
        <p:spPr>
          <a:xfrm>
            <a:off x="1451579" y="804519"/>
            <a:ext cx="9747464" cy="1049235"/>
          </a:xfrm>
        </p:spPr>
        <p:txBody>
          <a:bodyPr>
            <a:noAutofit/>
          </a:bodyPr>
          <a:lstStyle/>
          <a:p>
            <a:r>
              <a:rPr lang="en-US" sz="3600" b="1" dirty="0">
                <a:solidFill>
                  <a:srgbClr val="FF0000"/>
                </a:solidFill>
              </a:rPr>
              <a:t>How does exercise change things</a:t>
            </a:r>
          </a:p>
        </p:txBody>
      </p:sp>
      <p:sp>
        <p:nvSpPr>
          <p:cNvPr id="4" name="TextBox 3">
            <a:extLst>
              <a:ext uri="{FF2B5EF4-FFF2-40B4-BE49-F238E27FC236}">
                <a16:creationId xmlns:a16="http://schemas.microsoft.com/office/drawing/2014/main" id="{39F8F043-F1F5-F903-B1ED-83114E214948}"/>
              </a:ext>
            </a:extLst>
          </p:cNvPr>
          <p:cNvSpPr txBox="1"/>
          <p:nvPr/>
        </p:nvSpPr>
        <p:spPr>
          <a:xfrm>
            <a:off x="108801" y="1748921"/>
            <a:ext cx="11974398" cy="4524315"/>
          </a:xfrm>
          <a:prstGeom prst="rect">
            <a:avLst/>
          </a:prstGeom>
          <a:noFill/>
        </p:spPr>
        <p:txBody>
          <a:bodyPr wrap="square">
            <a:spAutoFit/>
          </a:bodyPr>
          <a:lstStyle/>
          <a:p>
            <a:pPr marL="285750" indent="-285750">
              <a:buFont typeface="Arial" panose="020B0604020202020204" pitchFamily="34" charset="0"/>
              <a:buChar char="•"/>
            </a:pPr>
            <a:r>
              <a:rPr lang="en-US" sz="3200" dirty="0"/>
              <a:t>During </a:t>
            </a:r>
            <a:r>
              <a:rPr lang="en-US" sz="3200" dirty="0">
                <a:solidFill>
                  <a:srgbClr val="00B050"/>
                </a:solidFill>
              </a:rPr>
              <a:t>rest, the breathing rate is lower because the carbon dioxide production is lower.</a:t>
            </a:r>
            <a:r>
              <a:rPr lang="en-US" sz="3200" dirty="0"/>
              <a:t> Control mechanisms, however, ensure adequate breathing to provide appropriate amounts of oxygen to all body cells. </a:t>
            </a:r>
          </a:p>
          <a:p>
            <a:pPr marL="285750" indent="-285750">
              <a:buFont typeface="Arial" panose="020B0604020202020204" pitchFamily="34" charset="0"/>
              <a:buChar char="•"/>
            </a:pPr>
            <a:r>
              <a:rPr lang="en-US" sz="3200" dirty="0"/>
              <a:t>In addition to removing carbon dioxide from the body, </a:t>
            </a:r>
            <a:r>
              <a:rPr lang="en-US" sz="3200" dirty="0">
                <a:solidFill>
                  <a:srgbClr val="00B050"/>
                </a:solidFill>
              </a:rPr>
              <a:t>breathing results in a loss of water </a:t>
            </a:r>
            <a:r>
              <a:rPr lang="en-US" sz="3200" dirty="0"/>
              <a:t>from the body in the form of </a:t>
            </a:r>
            <a:r>
              <a:rPr lang="en-US" sz="3200" b="1" dirty="0">
                <a:solidFill>
                  <a:srgbClr val="7030A0"/>
                </a:solidFill>
              </a:rPr>
              <a:t>water vapor</a:t>
            </a:r>
            <a:r>
              <a:rPr lang="en-US" sz="3200" dirty="0"/>
              <a:t>. </a:t>
            </a:r>
          </a:p>
          <a:p>
            <a:pPr marL="285750" indent="-285750">
              <a:buFont typeface="Arial" panose="020B0604020202020204" pitchFamily="34" charset="0"/>
              <a:buChar char="•"/>
            </a:pPr>
            <a:r>
              <a:rPr lang="en-US" sz="3200" dirty="0"/>
              <a:t>This is one of the forms of “</a:t>
            </a:r>
            <a:r>
              <a:rPr lang="en-US" sz="3200" b="1" dirty="0">
                <a:solidFill>
                  <a:srgbClr val="7030A0"/>
                </a:solidFill>
              </a:rPr>
              <a:t>invisible” water loss</a:t>
            </a:r>
            <a:r>
              <a:rPr lang="en-US" sz="3200" dirty="0"/>
              <a:t>, so named because it is not seen or obvious. </a:t>
            </a:r>
          </a:p>
          <a:p>
            <a:pPr marL="285750" indent="-285750">
              <a:buFont typeface="Arial" panose="020B0604020202020204" pitchFamily="34" charset="0"/>
              <a:buChar char="•"/>
            </a:pPr>
            <a:r>
              <a:rPr lang="en-US" sz="3200" b="1" dirty="0">
                <a:solidFill>
                  <a:srgbClr val="0070C0"/>
                </a:solidFill>
              </a:rPr>
              <a:t>Prolonged, rapid, deep breathing </a:t>
            </a:r>
            <a:r>
              <a:rPr lang="en-US" sz="3200" dirty="0"/>
              <a:t>can aggravate dehydration; this </a:t>
            </a:r>
            <a:r>
              <a:rPr lang="en-US" sz="3200" dirty="0">
                <a:solidFill>
                  <a:srgbClr val="FF0000"/>
                </a:solidFill>
              </a:rPr>
              <a:t>may occur in prolonged exercise, heat exhaustion, and disease states</a:t>
            </a:r>
            <a:r>
              <a:rPr lang="en-US" sz="3200" dirty="0"/>
              <a:t>.</a:t>
            </a:r>
          </a:p>
        </p:txBody>
      </p:sp>
    </p:spTree>
    <p:extLst>
      <p:ext uri="{BB962C8B-B14F-4D97-AF65-F5344CB8AC3E}">
        <p14:creationId xmlns:p14="http://schemas.microsoft.com/office/powerpoint/2010/main" val="40352546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53266-C0D6-75C9-383E-2F721C5D0781}"/>
              </a:ext>
            </a:extLst>
          </p:cNvPr>
          <p:cNvSpPr>
            <a:spLocks noGrp="1"/>
          </p:cNvSpPr>
          <p:nvPr>
            <p:ph type="title"/>
          </p:nvPr>
        </p:nvSpPr>
        <p:spPr/>
        <p:txBody>
          <a:bodyPr/>
          <a:lstStyle/>
          <a:p>
            <a:pPr algn="ctr"/>
            <a:r>
              <a:rPr lang="en-US" b="1" dirty="0">
                <a:solidFill>
                  <a:srgbClr val="FF0000"/>
                </a:solidFill>
              </a:rPr>
              <a:t>Do not skimp (hesitate) on quality</a:t>
            </a:r>
            <a:br>
              <a:rPr lang="en-US" b="1" dirty="0">
                <a:solidFill>
                  <a:srgbClr val="FF0000"/>
                </a:solidFill>
              </a:rPr>
            </a:br>
            <a:endParaRPr lang="en-US" b="1" dirty="0">
              <a:solidFill>
                <a:srgbClr val="FF0000"/>
              </a:solidFill>
            </a:endParaRPr>
          </a:p>
        </p:txBody>
      </p:sp>
      <p:sp>
        <p:nvSpPr>
          <p:cNvPr id="4" name="TextBox 3">
            <a:extLst>
              <a:ext uri="{FF2B5EF4-FFF2-40B4-BE49-F238E27FC236}">
                <a16:creationId xmlns:a16="http://schemas.microsoft.com/office/drawing/2014/main" id="{F222C824-4A93-4DF6-BAC0-67676ABFFA41}"/>
              </a:ext>
            </a:extLst>
          </p:cNvPr>
          <p:cNvSpPr txBox="1"/>
          <p:nvPr/>
        </p:nvSpPr>
        <p:spPr>
          <a:xfrm>
            <a:off x="94268" y="1727910"/>
            <a:ext cx="11915480" cy="4524315"/>
          </a:xfrm>
          <a:prstGeom prst="rect">
            <a:avLst/>
          </a:prstGeom>
          <a:noFill/>
        </p:spPr>
        <p:txBody>
          <a:bodyPr wrap="square">
            <a:spAutoFit/>
          </a:bodyPr>
          <a:lstStyle/>
          <a:p>
            <a:pPr marL="571500" indent="-571500">
              <a:buFont typeface="Arial" panose="020B0604020202020204" pitchFamily="34" charset="0"/>
              <a:buChar char="•"/>
            </a:pPr>
            <a:r>
              <a:rPr lang="en-US" sz="3200" b="1" dirty="0">
                <a:solidFill>
                  <a:srgbClr val="00B050"/>
                </a:solidFill>
              </a:rPr>
              <a:t>High quality fresh air is pure and clean</a:t>
            </a:r>
            <a:r>
              <a:rPr lang="en-US" sz="3200" dirty="0"/>
              <a:t>. </a:t>
            </a:r>
          </a:p>
          <a:p>
            <a:pPr marL="571500" indent="-571500">
              <a:buFont typeface="Arial" panose="020B0604020202020204" pitchFamily="34" charset="0"/>
              <a:buChar char="•"/>
            </a:pPr>
            <a:r>
              <a:rPr lang="en-US" sz="3200" dirty="0"/>
              <a:t>The life-giving oxygen molecules should be </a:t>
            </a:r>
            <a:r>
              <a:rPr lang="en-US" sz="3200" b="1" dirty="0">
                <a:solidFill>
                  <a:srgbClr val="FF0000"/>
                </a:solidFill>
              </a:rPr>
              <a:t>unpolluted</a:t>
            </a:r>
            <a:r>
              <a:rPr lang="en-US" sz="3200" dirty="0"/>
              <a:t>. </a:t>
            </a:r>
          </a:p>
          <a:p>
            <a:pPr marL="571500" indent="-571500">
              <a:buFont typeface="Arial" panose="020B0604020202020204" pitchFamily="34" charset="0"/>
              <a:buChar char="•"/>
            </a:pPr>
            <a:r>
              <a:rPr lang="en-US" sz="3200" b="1" dirty="0">
                <a:solidFill>
                  <a:srgbClr val="FF0000"/>
                </a:solidFill>
              </a:rPr>
              <a:t>Deep breathing of fresh air </a:t>
            </a:r>
            <a:r>
              <a:rPr lang="en-US" sz="3200" dirty="0"/>
              <a:t>imparts an improved sense of well- being. It increases the rate and quality of growth in plants and animals. </a:t>
            </a:r>
          </a:p>
          <a:p>
            <a:pPr marL="571500" indent="-571500">
              <a:buFont typeface="Arial" panose="020B0604020202020204" pitchFamily="34" charset="0"/>
              <a:buChar char="•"/>
            </a:pPr>
            <a:r>
              <a:rPr lang="en-US" sz="3200" b="1" dirty="0">
                <a:solidFill>
                  <a:srgbClr val="7030A0"/>
                </a:solidFill>
              </a:rPr>
              <a:t>It improves the function of the lung’s protective cilia</a:t>
            </a:r>
            <a:r>
              <a:rPr lang="en-US" sz="3200" dirty="0"/>
              <a:t>. </a:t>
            </a:r>
          </a:p>
          <a:p>
            <a:pPr marL="571500" indent="-571500">
              <a:buFont typeface="Arial" panose="020B0604020202020204" pitchFamily="34" charset="0"/>
              <a:buChar char="•"/>
            </a:pPr>
            <a:r>
              <a:rPr lang="en-US" sz="3200" dirty="0"/>
              <a:t>These are the microscopic, fine, hair-like structures that help to keep dust and fine particles as well as irritants from entering the lungs.</a:t>
            </a:r>
          </a:p>
        </p:txBody>
      </p:sp>
    </p:spTree>
    <p:extLst>
      <p:ext uri="{BB962C8B-B14F-4D97-AF65-F5344CB8AC3E}">
        <p14:creationId xmlns:p14="http://schemas.microsoft.com/office/powerpoint/2010/main" val="10700986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80786-4F81-346B-B93B-D25EF14A18DD}"/>
              </a:ext>
            </a:extLst>
          </p:cNvPr>
          <p:cNvSpPr>
            <a:spLocks noGrp="1"/>
          </p:cNvSpPr>
          <p:nvPr>
            <p:ph type="title"/>
          </p:nvPr>
        </p:nvSpPr>
        <p:spPr/>
        <p:txBody>
          <a:bodyPr/>
          <a:lstStyle/>
          <a:p>
            <a:pPr algn="ctr"/>
            <a:r>
              <a:rPr lang="en-US" dirty="0"/>
              <a:t>Cont’d...</a:t>
            </a:r>
          </a:p>
        </p:txBody>
      </p:sp>
      <p:sp>
        <p:nvSpPr>
          <p:cNvPr id="4" name="TextBox 3">
            <a:extLst>
              <a:ext uri="{FF2B5EF4-FFF2-40B4-BE49-F238E27FC236}">
                <a16:creationId xmlns:a16="http://schemas.microsoft.com/office/drawing/2014/main" id="{EA0D5D4D-A65C-693E-FA18-D877C4AA6ABB}"/>
              </a:ext>
            </a:extLst>
          </p:cNvPr>
          <p:cNvSpPr txBox="1"/>
          <p:nvPr/>
        </p:nvSpPr>
        <p:spPr>
          <a:xfrm>
            <a:off x="245097" y="2281908"/>
            <a:ext cx="11745798" cy="3970318"/>
          </a:xfrm>
          <a:prstGeom prst="rect">
            <a:avLst/>
          </a:prstGeom>
          <a:noFill/>
        </p:spPr>
        <p:txBody>
          <a:bodyPr wrap="square">
            <a:spAutoFit/>
          </a:bodyPr>
          <a:lstStyle/>
          <a:p>
            <a:pPr marL="571500" indent="-571500">
              <a:buFont typeface="Arial" panose="020B0604020202020204" pitchFamily="34" charset="0"/>
              <a:buChar char="•"/>
            </a:pPr>
            <a:r>
              <a:rPr lang="en-US" sz="3600" b="1" dirty="0">
                <a:solidFill>
                  <a:srgbClr val="7030A0"/>
                </a:solidFill>
              </a:rPr>
              <a:t>Good oxygenation lowers the body temperature </a:t>
            </a:r>
            <a:r>
              <a:rPr lang="en-US" sz="3600" dirty="0"/>
              <a:t>and resting heart rate, and </a:t>
            </a:r>
            <a:r>
              <a:rPr lang="en-US" sz="3600" b="1" dirty="0"/>
              <a:t>decreases the survival of certain bacteria</a:t>
            </a:r>
            <a:r>
              <a:rPr lang="en-US" sz="3600" dirty="0"/>
              <a:t> and viruses found in the air. </a:t>
            </a:r>
          </a:p>
          <a:p>
            <a:pPr marL="571500" indent="-571500">
              <a:buFont typeface="Arial" panose="020B0604020202020204" pitchFamily="34" charset="0"/>
              <a:buChar char="•"/>
            </a:pPr>
            <a:r>
              <a:rPr lang="en-US" sz="3600" b="1" dirty="0">
                <a:solidFill>
                  <a:schemeClr val="accent1"/>
                </a:solidFill>
              </a:rPr>
              <a:t>Fresh air is often destroyed and polluted</a:t>
            </a:r>
            <a:r>
              <a:rPr lang="en-US" sz="3600" dirty="0"/>
              <a:t>. This can occur through </a:t>
            </a:r>
            <a:r>
              <a:rPr lang="en-US" sz="3600" b="1" dirty="0"/>
              <a:t>inadequate ventilation of dwellings</a:t>
            </a:r>
            <a:r>
              <a:rPr lang="en-US" sz="3600" dirty="0"/>
              <a:t>, especially where </a:t>
            </a:r>
            <a:r>
              <a:rPr lang="en-US" sz="3600" b="1" dirty="0">
                <a:solidFill>
                  <a:schemeClr val="accent1"/>
                </a:solidFill>
              </a:rPr>
              <a:t>open cooking fires and stoves </a:t>
            </a:r>
            <a:r>
              <a:rPr lang="en-US" sz="3600" dirty="0"/>
              <a:t>are used.</a:t>
            </a:r>
          </a:p>
        </p:txBody>
      </p:sp>
    </p:spTree>
    <p:extLst>
      <p:ext uri="{BB962C8B-B14F-4D97-AF65-F5344CB8AC3E}">
        <p14:creationId xmlns:p14="http://schemas.microsoft.com/office/powerpoint/2010/main" val="37531136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5E2A6-27DE-527C-67B3-1F026BEEF7DE}"/>
              </a:ext>
            </a:extLst>
          </p:cNvPr>
          <p:cNvSpPr>
            <a:spLocks noGrp="1"/>
          </p:cNvSpPr>
          <p:nvPr>
            <p:ph type="title"/>
          </p:nvPr>
        </p:nvSpPr>
        <p:spPr/>
        <p:txBody>
          <a:bodyPr>
            <a:noAutofit/>
          </a:bodyPr>
          <a:lstStyle/>
          <a:p>
            <a:r>
              <a:rPr lang="en-US" sz="4000" dirty="0">
                <a:solidFill>
                  <a:srgbClr val="FF0000"/>
                </a:solidFill>
                <a:latin typeface="Arial Black" panose="020B0A04020102020204" pitchFamily="34" charset="0"/>
              </a:rPr>
              <a:t>Protecting our interest</a:t>
            </a:r>
            <a:br>
              <a:rPr lang="en-US" sz="4000" dirty="0">
                <a:solidFill>
                  <a:srgbClr val="FF0000"/>
                </a:solidFill>
                <a:latin typeface="Arial Black" panose="020B0A04020102020204" pitchFamily="34" charset="0"/>
              </a:rPr>
            </a:br>
            <a:endParaRPr lang="en-US" sz="4000" dirty="0">
              <a:solidFill>
                <a:srgbClr val="FF0000"/>
              </a:solidFill>
              <a:latin typeface="Arial Black" panose="020B0A04020102020204" pitchFamily="34" charset="0"/>
            </a:endParaRPr>
          </a:p>
        </p:txBody>
      </p:sp>
      <p:sp>
        <p:nvSpPr>
          <p:cNvPr id="4" name="TextBox 3">
            <a:extLst>
              <a:ext uri="{FF2B5EF4-FFF2-40B4-BE49-F238E27FC236}">
                <a16:creationId xmlns:a16="http://schemas.microsoft.com/office/drawing/2014/main" id="{C16AB476-7671-3BF5-015E-A6AD2E35B264}"/>
              </a:ext>
            </a:extLst>
          </p:cNvPr>
          <p:cNvSpPr txBox="1"/>
          <p:nvPr/>
        </p:nvSpPr>
        <p:spPr>
          <a:xfrm>
            <a:off x="0" y="1674971"/>
            <a:ext cx="11943761" cy="4524315"/>
          </a:xfrm>
          <a:prstGeom prst="rect">
            <a:avLst/>
          </a:prstGeom>
          <a:noFill/>
        </p:spPr>
        <p:txBody>
          <a:bodyPr wrap="square">
            <a:spAutoFit/>
          </a:bodyPr>
          <a:lstStyle/>
          <a:p>
            <a:pPr marL="571500" indent="-571500">
              <a:buFont typeface="Arial" panose="020B0604020202020204" pitchFamily="34" charset="0"/>
              <a:buChar char="•"/>
            </a:pPr>
            <a:r>
              <a:rPr lang="en-US" sz="3600" dirty="0"/>
              <a:t>The air also </a:t>
            </a:r>
            <a:r>
              <a:rPr lang="en-US" sz="3600" dirty="0">
                <a:latin typeface="Aharoni" panose="02010803020104030203" pitchFamily="2" charset="-79"/>
                <a:cs typeface="Aharoni" panose="02010803020104030203" pitchFamily="2" charset="-79"/>
              </a:rPr>
              <a:t>has many protective qualities</a:t>
            </a:r>
            <a:r>
              <a:rPr lang="en-US" sz="3600" dirty="0"/>
              <a:t>. On a global level the air and its suspended water vapor </a:t>
            </a:r>
            <a:r>
              <a:rPr lang="en-US" sz="3600" dirty="0">
                <a:solidFill>
                  <a:schemeClr val="accent1"/>
                </a:solidFill>
                <a:latin typeface="Aharoni" panose="02010803020104030203" pitchFamily="2" charset="-79"/>
                <a:cs typeface="Aharoni" panose="02010803020104030203" pitchFamily="2" charset="-79"/>
              </a:rPr>
              <a:t>protect the earth and its inhabitants from solar radiation </a:t>
            </a:r>
            <a:r>
              <a:rPr lang="en-US" sz="3600" dirty="0"/>
              <a:t>and the cold vacuum of outer space. </a:t>
            </a:r>
          </a:p>
          <a:p>
            <a:pPr marL="571500" indent="-571500">
              <a:buFont typeface="Arial" panose="020B0604020202020204" pitchFamily="34" charset="0"/>
              <a:buChar char="•"/>
            </a:pPr>
            <a:r>
              <a:rPr lang="en-US" sz="3600" dirty="0"/>
              <a:t>The air recycles water and many chemicals to moderate the climate. </a:t>
            </a:r>
          </a:p>
          <a:p>
            <a:pPr marL="571500" indent="-571500">
              <a:buFont typeface="Arial" panose="020B0604020202020204" pitchFamily="34" charset="0"/>
              <a:buChar char="•"/>
            </a:pPr>
            <a:r>
              <a:rPr lang="en-US" sz="3600" dirty="0"/>
              <a:t>Within this atmospheric envelope, life is found over a very wide range of altitudes and temperatures.</a:t>
            </a:r>
          </a:p>
        </p:txBody>
      </p:sp>
    </p:spTree>
    <p:extLst>
      <p:ext uri="{BB962C8B-B14F-4D97-AF65-F5344CB8AC3E}">
        <p14:creationId xmlns:p14="http://schemas.microsoft.com/office/powerpoint/2010/main" val="34102796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57025-EBAB-E770-1BF5-FB65221D28DE}"/>
              </a:ext>
            </a:extLst>
          </p:cNvPr>
          <p:cNvSpPr>
            <a:spLocks noGrp="1"/>
          </p:cNvSpPr>
          <p:nvPr>
            <p:ph type="title"/>
          </p:nvPr>
        </p:nvSpPr>
        <p:spPr/>
        <p:txBody>
          <a:bodyPr>
            <a:normAutofit/>
          </a:bodyPr>
          <a:lstStyle/>
          <a:p>
            <a:pPr algn="ctr"/>
            <a:r>
              <a:rPr lang="en-US" sz="4000" b="1" i="0" dirty="0">
                <a:solidFill>
                  <a:srgbClr val="FF0000"/>
                </a:solidFill>
                <a:effectLst/>
                <a:latin typeface="Arial Black" panose="020B0A04020102020204" pitchFamily="34" charset="0"/>
              </a:rPr>
              <a:t>Air pollution</a:t>
            </a:r>
            <a:endParaRPr lang="en-US" sz="4000" b="1" dirty="0">
              <a:solidFill>
                <a:srgbClr val="FF0000"/>
              </a:solidFill>
              <a:latin typeface="Arial Black" panose="020B0A04020102020204" pitchFamily="34" charset="0"/>
            </a:endParaRPr>
          </a:p>
        </p:txBody>
      </p:sp>
      <p:sp>
        <p:nvSpPr>
          <p:cNvPr id="4" name="TextBox 3">
            <a:extLst>
              <a:ext uri="{FF2B5EF4-FFF2-40B4-BE49-F238E27FC236}">
                <a16:creationId xmlns:a16="http://schemas.microsoft.com/office/drawing/2014/main" id="{EFF9E1C8-956D-D2EA-59E0-7E908D94DF4E}"/>
              </a:ext>
            </a:extLst>
          </p:cNvPr>
          <p:cNvSpPr txBox="1"/>
          <p:nvPr/>
        </p:nvSpPr>
        <p:spPr>
          <a:xfrm>
            <a:off x="229385" y="1853754"/>
            <a:ext cx="11962615" cy="4401205"/>
          </a:xfrm>
          <a:prstGeom prst="rect">
            <a:avLst/>
          </a:prstGeom>
          <a:noFill/>
        </p:spPr>
        <p:txBody>
          <a:bodyPr wrap="square">
            <a:spAutoFit/>
          </a:bodyPr>
          <a:lstStyle/>
          <a:p>
            <a:pPr marL="571500" indent="-571500">
              <a:buFont typeface="Arial" panose="020B0604020202020204" pitchFamily="34" charset="0"/>
              <a:buChar char="•"/>
            </a:pPr>
            <a:r>
              <a:rPr lang="en-US" sz="4000" b="0" i="0" dirty="0">
                <a:effectLst/>
                <a:latin typeface="Söhne"/>
              </a:rPr>
              <a:t>Air pollution refers to the </a:t>
            </a:r>
            <a:r>
              <a:rPr lang="en-US" sz="4000" b="1" i="0" dirty="0">
                <a:solidFill>
                  <a:srgbClr val="7030A0"/>
                </a:solidFill>
                <a:effectLst/>
                <a:latin typeface="Söhne"/>
              </a:rPr>
              <a:t>presence of harmful substances</a:t>
            </a:r>
            <a:r>
              <a:rPr lang="en-US" sz="4000" b="0" i="0" dirty="0">
                <a:effectLst/>
                <a:latin typeface="Söhne"/>
              </a:rPr>
              <a:t> in the Earth's atmosphere, which can have detrimental effects on human health, the environment, and the overall quality of life. </a:t>
            </a:r>
          </a:p>
          <a:p>
            <a:pPr marL="571500" indent="-571500">
              <a:buFont typeface="Arial" panose="020B0604020202020204" pitchFamily="34" charset="0"/>
              <a:buChar char="•"/>
            </a:pPr>
            <a:r>
              <a:rPr lang="en-US" sz="4000" b="0" i="0" dirty="0">
                <a:effectLst/>
                <a:latin typeface="Söhne"/>
              </a:rPr>
              <a:t>These substances, known as </a:t>
            </a:r>
            <a:r>
              <a:rPr lang="en-US" sz="4000" b="1" i="0" dirty="0">
                <a:solidFill>
                  <a:srgbClr val="C00000"/>
                </a:solidFill>
                <a:effectLst/>
                <a:latin typeface="Söhne"/>
              </a:rPr>
              <a:t>air pollutants</a:t>
            </a:r>
            <a:r>
              <a:rPr lang="en-US" sz="4000" b="0" i="0" dirty="0">
                <a:effectLst/>
                <a:latin typeface="Söhne"/>
              </a:rPr>
              <a:t>, can be </a:t>
            </a:r>
            <a:r>
              <a:rPr lang="en-US" sz="4000" b="1" i="0" dirty="0">
                <a:solidFill>
                  <a:srgbClr val="0070C0"/>
                </a:solidFill>
                <a:effectLst/>
                <a:latin typeface="Söhne"/>
              </a:rPr>
              <a:t>natural or human-made</a:t>
            </a:r>
            <a:r>
              <a:rPr lang="en-US" sz="4000" b="0" i="0" dirty="0">
                <a:effectLst/>
                <a:latin typeface="Söhne"/>
              </a:rPr>
              <a:t> and are released into the air through various sources</a:t>
            </a:r>
            <a:endParaRPr lang="en-US" sz="4000" dirty="0"/>
          </a:p>
        </p:txBody>
      </p:sp>
    </p:spTree>
    <p:extLst>
      <p:ext uri="{BB962C8B-B14F-4D97-AF65-F5344CB8AC3E}">
        <p14:creationId xmlns:p14="http://schemas.microsoft.com/office/powerpoint/2010/main" val="34396145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D0645-4A1D-0A62-DF58-B51ACD0AC4F1}"/>
              </a:ext>
            </a:extLst>
          </p:cNvPr>
          <p:cNvSpPr>
            <a:spLocks noGrp="1"/>
          </p:cNvSpPr>
          <p:nvPr>
            <p:ph type="title"/>
          </p:nvPr>
        </p:nvSpPr>
        <p:spPr/>
        <p:txBody>
          <a:bodyPr/>
          <a:lstStyle/>
          <a:p>
            <a:pPr algn="ctr"/>
            <a:r>
              <a:rPr lang="en-US" dirty="0"/>
              <a:t>Cont’d...</a:t>
            </a:r>
          </a:p>
        </p:txBody>
      </p:sp>
      <p:sp>
        <p:nvSpPr>
          <p:cNvPr id="4" name="TextBox 3">
            <a:extLst>
              <a:ext uri="{FF2B5EF4-FFF2-40B4-BE49-F238E27FC236}">
                <a16:creationId xmlns:a16="http://schemas.microsoft.com/office/drawing/2014/main" id="{0062BF80-276C-CA34-0392-F59F7E97175C}"/>
              </a:ext>
            </a:extLst>
          </p:cNvPr>
          <p:cNvSpPr txBox="1"/>
          <p:nvPr/>
        </p:nvSpPr>
        <p:spPr>
          <a:xfrm>
            <a:off x="123386" y="1744282"/>
            <a:ext cx="11945228" cy="4524315"/>
          </a:xfrm>
          <a:prstGeom prst="rect">
            <a:avLst/>
          </a:prstGeom>
          <a:noFill/>
        </p:spPr>
        <p:txBody>
          <a:bodyPr wrap="square">
            <a:spAutoFit/>
          </a:bodyPr>
          <a:lstStyle/>
          <a:p>
            <a:pPr marL="457200" indent="-457200">
              <a:buFont typeface="Arial" panose="020B0604020202020204" pitchFamily="34" charset="0"/>
              <a:buChar char="•"/>
            </a:pPr>
            <a:r>
              <a:rPr lang="en-US" sz="3200" dirty="0"/>
              <a:t>The WHO estimates that more than 2million people die every year from breathing in tiny pollutant particles present in indoor and outdoor air pollution.</a:t>
            </a:r>
          </a:p>
          <a:p>
            <a:pPr marL="457200" indent="-457200">
              <a:buFont typeface="Arial" panose="020B0604020202020204" pitchFamily="34" charset="0"/>
              <a:buChar char="•"/>
            </a:pPr>
            <a:r>
              <a:rPr lang="en-US" sz="3200" dirty="0"/>
              <a:t>The tiny particles can penetrate the lungs and may enter the blood stream causing heart diseases, lung cancer, asthma, and acute lower respiratory infections.</a:t>
            </a:r>
          </a:p>
          <a:p>
            <a:pPr marL="457200" indent="-457200">
              <a:buFont typeface="Arial" panose="020B0604020202020204" pitchFamily="34" charset="0"/>
              <a:buChar char="•"/>
            </a:pPr>
            <a:r>
              <a:rPr lang="en-US" sz="3200" dirty="0"/>
              <a:t>Some six million people, mostly children, die each year from acute respiratory infections, complicated by indoor pollution often originating from unvented or poorly vented cooking facilities.</a:t>
            </a:r>
          </a:p>
        </p:txBody>
      </p:sp>
    </p:spTree>
    <p:extLst>
      <p:ext uri="{BB962C8B-B14F-4D97-AF65-F5344CB8AC3E}">
        <p14:creationId xmlns:p14="http://schemas.microsoft.com/office/powerpoint/2010/main" val="12663476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028-84FB-ED70-1FA1-1457B4E1E13E}"/>
              </a:ext>
            </a:extLst>
          </p:cNvPr>
          <p:cNvSpPr>
            <a:spLocks noGrp="1"/>
          </p:cNvSpPr>
          <p:nvPr>
            <p:ph type="title"/>
          </p:nvPr>
        </p:nvSpPr>
        <p:spPr/>
        <p:txBody>
          <a:bodyPr/>
          <a:lstStyle/>
          <a:p>
            <a:pPr algn="ctr"/>
            <a:r>
              <a:rPr lang="en-US" dirty="0"/>
              <a:t>Cont’d...</a:t>
            </a:r>
          </a:p>
        </p:txBody>
      </p:sp>
      <p:sp>
        <p:nvSpPr>
          <p:cNvPr id="4" name="TextBox 3">
            <a:extLst>
              <a:ext uri="{FF2B5EF4-FFF2-40B4-BE49-F238E27FC236}">
                <a16:creationId xmlns:a16="http://schemas.microsoft.com/office/drawing/2014/main" id="{0C4FE927-4F1C-6F3B-3644-0E20CDF5B265}"/>
              </a:ext>
            </a:extLst>
          </p:cNvPr>
          <p:cNvSpPr txBox="1"/>
          <p:nvPr/>
        </p:nvSpPr>
        <p:spPr>
          <a:xfrm>
            <a:off x="149362" y="1853754"/>
            <a:ext cx="11907520" cy="3785652"/>
          </a:xfrm>
          <a:prstGeom prst="rect">
            <a:avLst/>
          </a:prstGeom>
          <a:noFill/>
        </p:spPr>
        <p:txBody>
          <a:bodyPr wrap="square">
            <a:spAutoFit/>
          </a:bodyPr>
          <a:lstStyle/>
          <a:p>
            <a:pPr marL="571500" indent="-571500">
              <a:buFont typeface="Arial" panose="020B0604020202020204" pitchFamily="34" charset="0"/>
              <a:buChar char="•"/>
            </a:pPr>
            <a:r>
              <a:rPr lang="en-US" sz="4000" dirty="0"/>
              <a:t>Children are victims of </a:t>
            </a:r>
            <a:r>
              <a:rPr lang="en-US" sz="4000" b="1" dirty="0">
                <a:solidFill>
                  <a:srgbClr val="FF0000"/>
                </a:solidFill>
              </a:rPr>
              <a:t>secondhand smoke </a:t>
            </a:r>
            <a:r>
              <a:rPr lang="en-US" sz="4000" dirty="0"/>
              <a:t>in homes where parents and other family member smoke. </a:t>
            </a:r>
          </a:p>
          <a:p>
            <a:pPr marL="571500" indent="-571500">
              <a:buFont typeface="Arial" panose="020B0604020202020204" pitchFamily="34" charset="0"/>
              <a:buChar char="•"/>
            </a:pPr>
            <a:r>
              <a:rPr lang="en-US" sz="4000" dirty="0"/>
              <a:t>Smoke pollution in the work place increases the </a:t>
            </a:r>
            <a:r>
              <a:rPr lang="en-US" sz="4000" b="1" dirty="0"/>
              <a:t>risk of non smokers developing </a:t>
            </a:r>
            <a:r>
              <a:rPr lang="en-US" sz="4000" b="1" dirty="0">
                <a:solidFill>
                  <a:srgbClr val="FF0000"/>
                </a:solidFill>
              </a:rPr>
              <a:t>lung cancer</a:t>
            </a:r>
            <a:r>
              <a:rPr lang="en-US" sz="4000" dirty="0"/>
              <a:t>.</a:t>
            </a:r>
          </a:p>
          <a:p>
            <a:pPr marL="571500" indent="-571500">
              <a:buFont typeface="Arial" panose="020B0604020202020204" pitchFamily="34" charset="0"/>
              <a:buChar char="•"/>
            </a:pPr>
            <a:endParaRPr lang="en-US" sz="4000" dirty="0"/>
          </a:p>
        </p:txBody>
      </p:sp>
    </p:spTree>
    <p:extLst>
      <p:ext uri="{BB962C8B-B14F-4D97-AF65-F5344CB8AC3E}">
        <p14:creationId xmlns:p14="http://schemas.microsoft.com/office/powerpoint/2010/main" val="22578244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4B2D9-BADA-7117-2B9F-8BBCA1DEBDD3}"/>
              </a:ext>
            </a:extLst>
          </p:cNvPr>
          <p:cNvSpPr>
            <a:spLocks noGrp="1"/>
          </p:cNvSpPr>
          <p:nvPr>
            <p:ph type="title"/>
          </p:nvPr>
        </p:nvSpPr>
        <p:spPr/>
        <p:txBody>
          <a:bodyPr>
            <a:normAutofit/>
          </a:bodyPr>
          <a:lstStyle/>
          <a:p>
            <a:pPr algn="ctr"/>
            <a:r>
              <a:rPr lang="en-US" sz="4000" b="1" dirty="0">
                <a:solidFill>
                  <a:srgbClr val="FF0000"/>
                </a:solidFill>
              </a:rPr>
              <a:t>In the beginning</a:t>
            </a:r>
          </a:p>
        </p:txBody>
      </p:sp>
      <p:sp>
        <p:nvSpPr>
          <p:cNvPr id="4" name="TextBox 3">
            <a:extLst>
              <a:ext uri="{FF2B5EF4-FFF2-40B4-BE49-F238E27FC236}">
                <a16:creationId xmlns:a16="http://schemas.microsoft.com/office/drawing/2014/main" id="{4FC069D5-5719-240F-DBC9-54487C9483F2}"/>
              </a:ext>
            </a:extLst>
          </p:cNvPr>
          <p:cNvSpPr txBox="1"/>
          <p:nvPr/>
        </p:nvSpPr>
        <p:spPr>
          <a:xfrm>
            <a:off x="0" y="1975163"/>
            <a:ext cx="11915480" cy="4031873"/>
          </a:xfrm>
          <a:prstGeom prst="rect">
            <a:avLst/>
          </a:prstGeom>
          <a:noFill/>
        </p:spPr>
        <p:txBody>
          <a:bodyPr wrap="square">
            <a:spAutoFit/>
          </a:bodyPr>
          <a:lstStyle/>
          <a:p>
            <a:pPr marL="457200" indent="-457200">
              <a:buFont typeface="Arial" panose="020B0604020202020204" pitchFamily="34" charset="0"/>
              <a:buChar char="•"/>
            </a:pPr>
            <a:r>
              <a:rPr lang="en-US" sz="3200" b="1" dirty="0"/>
              <a:t>God has created the earth </a:t>
            </a:r>
            <a:r>
              <a:rPr lang="en-US" sz="3200" dirty="0"/>
              <a:t>along with the surroundings and the atmosphere with the air we breath. </a:t>
            </a:r>
          </a:p>
          <a:p>
            <a:pPr marL="457200" indent="-457200">
              <a:buFont typeface="Arial" panose="020B0604020202020204" pitchFamily="34" charset="0"/>
              <a:buChar char="•"/>
            </a:pPr>
            <a:r>
              <a:rPr lang="en-US" sz="3200" dirty="0"/>
              <a:t>Indeed </a:t>
            </a:r>
            <a:r>
              <a:rPr lang="en-US" sz="3200" b="1" dirty="0">
                <a:solidFill>
                  <a:srgbClr val="7030A0"/>
                </a:solidFill>
              </a:rPr>
              <a:t>Lord God our creator made a man of the dust of the ground, and breathed into his nostrils the breath of life</a:t>
            </a:r>
            <a:r>
              <a:rPr lang="en-US" sz="3200" dirty="0"/>
              <a:t>; and man became a living being (Gen. 2:7). </a:t>
            </a:r>
          </a:p>
          <a:p>
            <a:pPr marL="457200" indent="-457200">
              <a:buFont typeface="Arial" panose="020B0604020202020204" pitchFamily="34" charset="0"/>
              <a:buChar char="•"/>
            </a:pPr>
            <a:r>
              <a:rPr lang="en-US" sz="3200" dirty="0"/>
              <a:t>We need to breath deeply, exercise well, enjoy the beauty of the great outdoors, and </a:t>
            </a:r>
            <a:r>
              <a:rPr lang="en-US" sz="3200" b="1" dirty="0"/>
              <a:t>never forget the indwelling presence of God, the breath of Life</a:t>
            </a:r>
            <a:r>
              <a:rPr lang="en-US" sz="3200" dirty="0"/>
              <a:t>.  </a:t>
            </a:r>
          </a:p>
        </p:txBody>
      </p:sp>
    </p:spTree>
    <p:extLst>
      <p:ext uri="{BB962C8B-B14F-4D97-AF65-F5344CB8AC3E}">
        <p14:creationId xmlns:p14="http://schemas.microsoft.com/office/powerpoint/2010/main" val="12865938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EA337-F303-7B64-5ABE-39513ADB1FF9}"/>
              </a:ext>
            </a:extLst>
          </p:cNvPr>
          <p:cNvSpPr>
            <a:spLocks noGrp="1"/>
          </p:cNvSpPr>
          <p:nvPr>
            <p:ph type="title"/>
          </p:nvPr>
        </p:nvSpPr>
        <p:spPr/>
        <p:txBody>
          <a:bodyPr>
            <a:normAutofit/>
          </a:bodyPr>
          <a:lstStyle/>
          <a:p>
            <a:pPr algn="ctr"/>
            <a:r>
              <a:rPr lang="en-US" sz="4000" dirty="0">
                <a:solidFill>
                  <a:srgbClr val="FF0000"/>
                </a:solidFill>
                <a:latin typeface="Arial Black" panose="020B0A04020102020204" pitchFamily="34" charset="0"/>
              </a:rPr>
              <a:t>temperance</a:t>
            </a:r>
          </a:p>
        </p:txBody>
      </p:sp>
      <p:sp>
        <p:nvSpPr>
          <p:cNvPr id="4" name="TextBox 3">
            <a:extLst>
              <a:ext uri="{FF2B5EF4-FFF2-40B4-BE49-F238E27FC236}">
                <a16:creationId xmlns:a16="http://schemas.microsoft.com/office/drawing/2014/main" id="{CA624169-D7CF-2789-5E7E-58420FA21F21}"/>
              </a:ext>
            </a:extLst>
          </p:cNvPr>
          <p:cNvSpPr txBox="1"/>
          <p:nvPr/>
        </p:nvSpPr>
        <p:spPr>
          <a:xfrm>
            <a:off x="151666" y="1721779"/>
            <a:ext cx="11888667" cy="4524315"/>
          </a:xfrm>
          <a:prstGeom prst="rect">
            <a:avLst/>
          </a:prstGeom>
          <a:noFill/>
        </p:spPr>
        <p:txBody>
          <a:bodyPr wrap="square">
            <a:spAutoFit/>
          </a:bodyPr>
          <a:lstStyle/>
          <a:p>
            <a:pPr marL="285750" indent="-285750">
              <a:buFont typeface="Arial" panose="020B0604020202020204" pitchFamily="34" charset="0"/>
              <a:buChar char="•"/>
            </a:pPr>
            <a:r>
              <a:rPr lang="en-US" sz="3200" b="0" i="0" dirty="0">
                <a:effectLst/>
                <a:latin typeface="Söhne"/>
              </a:rPr>
              <a:t>Temperance is a concept that refers to the </a:t>
            </a:r>
            <a:r>
              <a:rPr lang="en-US" sz="3200" b="1" i="0" dirty="0">
                <a:solidFill>
                  <a:srgbClr val="7030A0"/>
                </a:solidFill>
                <a:effectLst/>
                <a:latin typeface="Söhne"/>
              </a:rPr>
              <a:t>moderation</a:t>
            </a:r>
            <a:r>
              <a:rPr lang="en-US" sz="3200" b="0" i="0" dirty="0">
                <a:effectLst/>
                <a:latin typeface="Söhne"/>
              </a:rPr>
              <a:t>, self-restraint (</a:t>
            </a:r>
            <a:r>
              <a:rPr lang="en-US" sz="3200" b="1" i="0" dirty="0">
                <a:effectLst/>
                <a:latin typeface="Söhne"/>
              </a:rPr>
              <a:t>self-control, self-discipline</a:t>
            </a:r>
            <a:r>
              <a:rPr lang="en-US" sz="3200" b="0" i="0" dirty="0">
                <a:effectLst/>
                <a:latin typeface="Söhne"/>
              </a:rPr>
              <a:t>), and </a:t>
            </a:r>
            <a:r>
              <a:rPr lang="en-US" sz="3200" b="1" i="0" dirty="0">
                <a:solidFill>
                  <a:srgbClr val="7030A0"/>
                </a:solidFill>
                <a:effectLst/>
                <a:latin typeface="Söhne"/>
              </a:rPr>
              <a:t>balance in one's actions</a:t>
            </a:r>
            <a:r>
              <a:rPr lang="en-US" sz="3200" b="0" i="0" dirty="0">
                <a:effectLst/>
                <a:latin typeface="Söhne"/>
              </a:rPr>
              <a:t>, emotions, or </a:t>
            </a:r>
            <a:r>
              <a:rPr lang="en-US" sz="3200" b="1" i="0" dirty="0">
                <a:effectLst/>
                <a:latin typeface="Söhne"/>
              </a:rPr>
              <a:t>desires</a:t>
            </a:r>
            <a:r>
              <a:rPr lang="en-US" sz="3200" b="0" i="0" dirty="0">
                <a:effectLst/>
                <a:latin typeface="Söhne"/>
              </a:rPr>
              <a:t>. </a:t>
            </a:r>
          </a:p>
          <a:p>
            <a:pPr marL="285750" indent="-285750">
              <a:buFont typeface="Arial" panose="020B0604020202020204" pitchFamily="34" charset="0"/>
              <a:buChar char="•"/>
            </a:pPr>
            <a:r>
              <a:rPr lang="en-US" sz="3200" b="0" i="0" dirty="0">
                <a:effectLst/>
                <a:latin typeface="Söhne"/>
              </a:rPr>
              <a:t>It is often associated with the idea of </a:t>
            </a:r>
            <a:r>
              <a:rPr lang="en-US" sz="3200" b="1" i="0" dirty="0">
                <a:solidFill>
                  <a:schemeClr val="accent1"/>
                </a:solidFill>
                <a:effectLst/>
                <a:latin typeface="Söhne"/>
              </a:rPr>
              <a:t>exercising control over oneself and avoiding extremes</a:t>
            </a:r>
            <a:r>
              <a:rPr lang="en-US" sz="3200" b="0" i="0" dirty="0">
                <a:effectLst/>
                <a:latin typeface="Söhne"/>
              </a:rPr>
              <a:t>.</a:t>
            </a:r>
          </a:p>
          <a:p>
            <a:pPr marL="285750" indent="-285750">
              <a:buFont typeface="Arial" panose="020B0604020202020204" pitchFamily="34" charset="0"/>
              <a:buChar char="•"/>
            </a:pPr>
            <a:r>
              <a:rPr lang="en-US" sz="3200" b="0" i="0" dirty="0">
                <a:effectLst/>
                <a:latin typeface="Söhne"/>
              </a:rPr>
              <a:t>It is seen as a means of achieving inner harmony and </a:t>
            </a:r>
            <a:r>
              <a:rPr lang="en-US" sz="3200" b="1" i="0" dirty="0">
                <a:effectLst/>
                <a:latin typeface="Söhne"/>
              </a:rPr>
              <a:t>avoiding excesses that can lead to negative consequences</a:t>
            </a:r>
            <a:r>
              <a:rPr lang="en-US" sz="3200" b="0" i="0" dirty="0">
                <a:effectLst/>
                <a:latin typeface="Söhne"/>
              </a:rPr>
              <a:t>. By practicing temperance, individuals strive to find a balance between their desires and their actions, avoiding both indulgence and deprivation.</a:t>
            </a:r>
            <a:endParaRPr lang="en-US" sz="3200" dirty="0"/>
          </a:p>
        </p:txBody>
      </p:sp>
    </p:spTree>
    <p:extLst>
      <p:ext uri="{BB962C8B-B14F-4D97-AF65-F5344CB8AC3E}">
        <p14:creationId xmlns:p14="http://schemas.microsoft.com/office/powerpoint/2010/main" val="30260606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CF45B-3389-7E03-01BC-B3B0D05C7355}"/>
              </a:ext>
            </a:extLst>
          </p:cNvPr>
          <p:cNvSpPr>
            <a:spLocks noGrp="1"/>
          </p:cNvSpPr>
          <p:nvPr>
            <p:ph type="title"/>
          </p:nvPr>
        </p:nvSpPr>
        <p:spPr/>
        <p:txBody>
          <a:bodyPr/>
          <a:lstStyle/>
          <a:p>
            <a:pPr algn="ctr"/>
            <a:r>
              <a:rPr lang="en-US" dirty="0"/>
              <a:t>Cont’d...</a:t>
            </a:r>
          </a:p>
        </p:txBody>
      </p:sp>
      <p:sp>
        <p:nvSpPr>
          <p:cNvPr id="4" name="TextBox 3">
            <a:extLst>
              <a:ext uri="{FF2B5EF4-FFF2-40B4-BE49-F238E27FC236}">
                <a16:creationId xmlns:a16="http://schemas.microsoft.com/office/drawing/2014/main" id="{C17C73D3-355C-6ADE-85E8-5BE507E697BF}"/>
              </a:ext>
            </a:extLst>
          </p:cNvPr>
          <p:cNvSpPr txBox="1"/>
          <p:nvPr/>
        </p:nvSpPr>
        <p:spPr>
          <a:xfrm>
            <a:off x="131974" y="1853754"/>
            <a:ext cx="11915481" cy="3785652"/>
          </a:xfrm>
          <a:prstGeom prst="rect">
            <a:avLst/>
          </a:prstGeom>
          <a:noFill/>
        </p:spPr>
        <p:txBody>
          <a:bodyPr wrap="square">
            <a:spAutoFit/>
          </a:bodyPr>
          <a:lstStyle/>
          <a:p>
            <a:pPr marL="571500" indent="-571500">
              <a:buFont typeface="Arial" panose="020B0604020202020204" pitchFamily="34" charset="0"/>
              <a:buChar char="•"/>
            </a:pPr>
            <a:r>
              <a:rPr lang="en-US" sz="4000" dirty="0"/>
              <a:t> Some people </a:t>
            </a:r>
            <a:r>
              <a:rPr lang="en-US" sz="4000" b="1" dirty="0">
                <a:solidFill>
                  <a:schemeClr val="accent1"/>
                </a:solidFill>
              </a:rPr>
              <a:t>lose their jobs, financial security, many friends</a:t>
            </a:r>
            <a:r>
              <a:rPr lang="en-US" sz="4000" dirty="0"/>
              <a:t> with whom you play with and drink because of  </a:t>
            </a:r>
            <a:r>
              <a:rPr lang="en-US" sz="4000" b="1" dirty="0">
                <a:solidFill>
                  <a:srgbClr val="FF0000"/>
                </a:solidFill>
              </a:rPr>
              <a:t>drunkenness</a:t>
            </a:r>
            <a:r>
              <a:rPr lang="en-US" sz="4000" dirty="0"/>
              <a:t>.</a:t>
            </a:r>
          </a:p>
          <a:p>
            <a:pPr marL="571500" indent="-571500">
              <a:buFont typeface="Arial" panose="020B0604020202020204" pitchFamily="34" charset="0"/>
              <a:buChar char="•"/>
            </a:pPr>
            <a:r>
              <a:rPr lang="en-US" sz="4000" dirty="0"/>
              <a:t>Not only alcohol but cigarettes as well as it can provoke a </a:t>
            </a:r>
            <a:r>
              <a:rPr lang="en-US" sz="4000" b="1" dirty="0">
                <a:solidFill>
                  <a:srgbClr val="FF0000"/>
                </a:solidFill>
              </a:rPr>
              <a:t>lung cancer </a:t>
            </a:r>
            <a:r>
              <a:rPr lang="en-US" sz="4000" dirty="0"/>
              <a:t>after all consequences is where people start stopping. </a:t>
            </a:r>
          </a:p>
        </p:txBody>
      </p:sp>
    </p:spTree>
    <p:extLst>
      <p:ext uri="{BB962C8B-B14F-4D97-AF65-F5344CB8AC3E}">
        <p14:creationId xmlns:p14="http://schemas.microsoft.com/office/powerpoint/2010/main" val="33345528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617CC-AE2E-C842-D738-05E343ABCA99}"/>
              </a:ext>
            </a:extLst>
          </p:cNvPr>
          <p:cNvSpPr>
            <a:spLocks noGrp="1"/>
          </p:cNvSpPr>
          <p:nvPr>
            <p:ph type="title"/>
          </p:nvPr>
        </p:nvSpPr>
        <p:spPr/>
        <p:txBody>
          <a:bodyPr>
            <a:normAutofit/>
          </a:bodyPr>
          <a:lstStyle/>
          <a:p>
            <a:pPr algn="ctr"/>
            <a:r>
              <a:rPr lang="en-US" sz="4000" b="1" dirty="0">
                <a:solidFill>
                  <a:srgbClr val="FF0000"/>
                </a:solidFill>
                <a:latin typeface="Arial Black" panose="020B0A04020102020204" pitchFamily="34" charset="0"/>
              </a:rPr>
              <a:t>The meaning of temperance</a:t>
            </a:r>
          </a:p>
        </p:txBody>
      </p:sp>
      <p:sp>
        <p:nvSpPr>
          <p:cNvPr id="4" name="TextBox 3">
            <a:extLst>
              <a:ext uri="{FF2B5EF4-FFF2-40B4-BE49-F238E27FC236}">
                <a16:creationId xmlns:a16="http://schemas.microsoft.com/office/drawing/2014/main" id="{40BCE14F-B7D1-5C6C-9B20-99408871FE99}"/>
              </a:ext>
            </a:extLst>
          </p:cNvPr>
          <p:cNvSpPr txBox="1"/>
          <p:nvPr/>
        </p:nvSpPr>
        <p:spPr>
          <a:xfrm>
            <a:off x="289874" y="2012871"/>
            <a:ext cx="11578472" cy="3539430"/>
          </a:xfrm>
          <a:prstGeom prst="rect">
            <a:avLst/>
          </a:prstGeom>
          <a:noFill/>
        </p:spPr>
        <p:txBody>
          <a:bodyPr wrap="square">
            <a:spAutoFit/>
          </a:bodyPr>
          <a:lstStyle/>
          <a:p>
            <a:pPr marL="457200" indent="-457200">
              <a:buFont typeface="Arial" panose="020B0604020202020204" pitchFamily="34" charset="0"/>
              <a:buChar char="•"/>
            </a:pPr>
            <a:r>
              <a:rPr lang="en-US" sz="3200" dirty="0"/>
              <a:t>Temperance means different things to different people. To </a:t>
            </a:r>
            <a:r>
              <a:rPr lang="en-US" sz="3200" b="1" dirty="0">
                <a:solidFill>
                  <a:srgbClr val="7030A0"/>
                </a:solidFill>
              </a:rPr>
              <a:t>achieve true balance in life we need to address all aspects of living </a:t>
            </a:r>
            <a:r>
              <a:rPr lang="en-US" sz="3200" dirty="0"/>
              <a:t>; balance in all things is needed. </a:t>
            </a:r>
          </a:p>
          <a:p>
            <a:pPr marL="457200" indent="-457200">
              <a:buFont typeface="Arial" panose="020B0604020202020204" pitchFamily="34" charset="0"/>
              <a:buChar char="•"/>
            </a:pPr>
            <a:r>
              <a:rPr lang="en-US" sz="3200" dirty="0"/>
              <a:t>People continue with their </a:t>
            </a:r>
            <a:r>
              <a:rPr lang="en-US" sz="3200" b="1" dirty="0">
                <a:solidFill>
                  <a:schemeClr val="accent1"/>
                </a:solidFill>
              </a:rPr>
              <a:t>habit of taking tobacco </a:t>
            </a:r>
            <a:r>
              <a:rPr lang="en-US" sz="3200" dirty="0"/>
              <a:t>and it is legally with few restrictions, therefore it becomes like a culture in some societies worldwide despite the fact that they are the leading and </a:t>
            </a:r>
            <a:r>
              <a:rPr lang="en-US" sz="3200" b="1" dirty="0">
                <a:solidFill>
                  <a:srgbClr val="FF0000"/>
                </a:solidFill>
              </a:rPr>
              <a:t>third leading causes of preventable deaths</a:t>
            </a:r>
            <a:r>
              <a:rPr lang="en-US" sz="3200" dirty="0"/>
              <a:t>.</a:t>
            </a:r>
          </a:p>
        </p:txBody>
      </p:sp>
    </p:spTree>
    <p:extLst>
      <p:ext uri="{BB962C8B-B14F-4D97-AF65-F5344CB8AC3E}">
        <p14:creationId xmlns:p14="http://schemas.microsoft.com/office/powerpoint/2010/main" val="1061421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5EB3A-EB40-CB7E-5E36-B7CD73D3E977}"/>
              </a:ext>
            </a:extLst>
          </p:cNvPr>
          <p:cNvSpPr>
            <a:spLocks noGrp="1"/>
          </p:cNvSpPr>
          <p:nvPr>
            <p:ph type="title"/>
          </p:nvPr>
        </p:nvSpPr>
        <p:spPr>
          <a:xfrm>
            <a:off x="763571" y="804519"/>
            <a:ext cx="11001081" cy="1049235"/>
          </a:xfrm>
        </p:spPr>
        <p:txBody>
          <a:bodyPr/>
          <a:lstStyle/>
          <a:p>
            <a:r>
              <a:rPr lang="en-US" b="1" dirty="0">
                <a:solidFill>
                  <a:srgbClr val="FF0000"/>
                </a:solidFill>
                <a:latin typeface="Arial Black" panose="020B0A04020102020204" pitchFamily="34" charset="0"/>
              </a:rPr>
              <a:t>Alcohol consumption and global health</a:t>
            </a:r>
          </a:p>
        </p:txBody>
      </p:sp>
      <p:sp>
        <p:nvSpPr>
          <p:cNvPr id="4" name="TextBox 3">
            <a:extLst>
              <a:ext uri="{FF2B5EF4-FFF2-40B4-BE49-F238E27FC236}">
                <a16:creationId xmlns:a16="http://schemas.microsoft.com/office/drawing/2014/main" id="{344063FB-5FCA-DBEF-3F11-66A0185D7B94}"/>
              </a:ext>
            </a:extLst>
          </p:cNvPr>
          <p:cNvSpPr txBox="1"/>
          <p:nvPr/>
        </p:nvSpPr>
        <p:spPr>
          <a:xfrm>
            <a:off x="0" y="1853754"/>
            <a:ext cx="12192000" cy="4401205"/>
          </a:xfrm>
          <a:prstGeom prst="rect">
            <a:avLst/>
          </a:prstGeom>
          <a:noFill/>
        </p:spPr>
        <p:txBody>
          <a:bodyPr wrap="square">
            <a:spAutoFit/>
          </a:bodyPr>
          <a:lstStyle/>
          <a:p>
            <a:r>
              <a:rPr lang="en-US" sz="2800" dirty="0"/>
              <a:t>Alcohol consumption vary widely between countries, depending on cultural traditions. </a:t>
            </a:r>
            <a:r>
              <a:rPr lang="en-US" sz="2800" b="1" dirty="0">
                <a:solidFill>
                  <a:srgbClr val="7030A0"/>
                </a:solidFill>
              </a:rPr>
              <a:t>Alcohol like tobacco is being exported</a:t>
            </a:r>
            <a:r>
              <a:rPr lang="en-US" sz="2800" dirty="0"/>
              <a:t> to </a:t>
            </a:r>
            <a:r>
              <a:rPr lang="en-US" sz="2800" dirty="0">
                <a:solidFill>
                  <a:srgbClr val="00B050"/>
                </a:solidFill>
              </a:rPr>
              <a:t>developing countries</a:t>
            </a:r>
            <a:r>
              <a:rPr lang="en-US" sz="2800" dirty="0"/>
              <a:t>, </a:t>
            </a:r>
            <a:r>
              <a:rPr lang="en-US" sz="2800" dirty="0">
                <a:solidFill>
                  <a:srgbClr val="0070C0"/>
                </a:solidFill>
              </a:rPr>
              <a:t>adding huge burden to already inadequate health systems </a:t>
            </a:r>
            <a:r>
              <a:rPr lang="en-US" sz="2800" dirty="0"/>
              <a:t>according to WHO, 2011. </a:t>
            </a:r>
          </a:p>
          <a:p>
            <a:pPr marL="285750" indent="-285750">
              <a:buFont typeface="Arial" panose="020B0604020202020204" pitchFamily="34" charset="0"/>
              <a:buChar char="•"/>
            </a:pPr>
            <a:r>
              <a:rPr lang="en-US" sz="2800" dirty="0"/>
              <a:t>Approximately 2.5 million people die from alcohol related causes each year.</a:t>
            </a:r>
          </a:p>
          <a:p>
            <a:pPr marL="285750" indent="-285750">
              <a:buFont typeface="Arial" panose="020B0604020202020204" pitchFamily="34" charset="0"/>
              <a:buChar char="•"/>
            </a:pPr>
            <a:r>
              <a:rPr lang="en-US" sz="2800" dirty="0"/>
              <a:t>Fifty five percent of adults have consumed alcohol</a:t>
            </a:r>
          </a:p>
          <a:p>
            <a:pPr marL="285750" indent="-285750">
              <a:buFont typeface="Arial" panose="020B0604020202020204" pitchFamily="34" charset="0"/>
              <a:buChar char="•"/>
            </a:pPr>
            <a:r>
              <a:rPr lang="en-US" sz="2800" dirty="0"/>
              <a:t>4% of all deaths are related to alcohol true injuries, cancer, cardiovascular diseases and liver cirrhosis. </a:t>
            </a:r>
          </a:p>
          <a:p>
            <a:pPr marL="285750" indent="-285750">
              <a:buFont typeface="Arial" panose="020B0604020202020204" pitchFamily="34" charset="0"/>
              <a:buChar char="•"/>
            </a:pPr>
            <a:r>
              <a:rPr lang="en-US" sz="2800" dirty="0"/>
              <a:t>Globally 6.2% of male deaths are related to alcohol and 1.1% of female deaths.</a:t>
            </a:r>
          </a:p>
          <a:p>
            <a:pPr marL="285750" indent="-285750">
              <a:buFont typeface="Arial" panose="020B0604020202020204" pitchFamily="34" charset="0"/>
              <a:buChar char="•"/>
            </a:pPr>
            <a:r>
              <a:rPr lang="en-US" sz="2800" dirty="0"/>
              <a:t>One in five men in Russia federation and neighboring countries die from alcohol related causes.</a:t>
            </a:r>
          </a:p>
        </p:txBody>
      </p:sp>
    </p:spTree>
    <p:extLst>
      <p:ext uri="{BB962C8B-B14F-4D97-AF65-F5344CB8AC3E}">
        <p14:creationId xmlns:p14="http://schemas.microsoft.com/office/powerpoint/2010/main" val="26417599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FE42-0052-7382-B760-0D1632121771}"/>
              </a:ext>
            </a:extLst>
          </p:cNvPr>
          <p:cNvSpPr>
            <a:spLocks noGrp="1"/>
          </p:cNvSpPr>
          <p:nvPr>
            <p:ph type="title"/>
          </p:nvPr>
        </p:nvSpPr>
        <p:spPr/>
        <p:txBody>
          <a:bodyPr>
            <a:normAutofit/>
          </a:bodyPr>
          <a:lstStyle/>
          <a:p>
            <a:pPr algn="ctr"/>
            <a:r>
              <a:rPr lang="en-US" sz="4000" dirty="0">
                <a:solidFill>
                  <a:srgbClr val="FF0000"/>
                </a:solidFill>
                <a:latin typeface="Arial Black" panose="020B0A04020102020204" pitchFamily="34" charset="0"/>
              </a:rPr>
              <a:t>Risks of Alcohol addiction</a:t>
            </a:r>
          </a:p>
        </p:txBody>
      </p:sp>
      <p:sp>
        <p:nvSpPr>
          <p:cNvPr id="4" name="TextBox 3">
            <a:extLst>
              <a:ext uri="{FF2B5EF4-FFF2-40B4-BE49-F238E27FC236}">
                <a16:creationId xmlns:a16="http://schemas.microsoft.com/office/drawing/2014/main" id="{2781ABC3-09CC-AAD4-EBF4-7F2A9B5A2914}"/>
              </a:ext>
            </a:extLst>
          </p:cNvPr>
          <p:cNvSpPr txBox="1"/>
          <p:nvPr/>
        </p:nvSpPr>
        <p:spPr>
          <a:xfrm>
            <a:off x="0" y="1853754"/>
            <a:ext cx="12102444" cy="4401205"/>
          </a:xfrm>
          <a:prstGeom prst="rect">
            <a:avLst/>
          </a:prstGeom>
          <a:noFill/>
        </p:spPr>
        <p:txBody>
          <a:bodyPr wrap="square">
            <a:spAutoFit/>
          </a:bodyPr>
          <a:lstStyle/>
          <a:p>
            <a:pPr marL="457200" indent="-457200">
              <a:buFont typeface="Arial" panose="020B0604020202020204" pitchFamily="34" charset="0"/>
              <a:buChar char="•"/>
            </a:pPr>
            <a:r>
              <a:rPr lang="en-US" sz="2800" dirty="0"/>
              <a:t>Alcohol is a known addictive substance the likelihood of becoming an alcoholic depends on numerous factors. </a:t>
            </a:r>
            <a:r>
              <a:rPr lang="en-US" sz="2800" b="1" dirty="0">
                <a:solidFill>
                  <a:srgbClr val="FF0000"/>
                </a:solidFill>
              </a:rPr>
              <a:t>The chance of alcoholic developing over a lifetime is 13%</a:t>
            </a:r>
            <a:r>
              <a:rPr lang="en-US" sz="2800" dirty="0"/>
              <a:t>.  </a:t>
            </a:r>
          </a:p>
          <a:p>
            <a:pPr marL="457200" indent="-457200">
              <a:buFont typeface="Arial" panose="020B0604020202020204" pitchFamily="34" charset="0"/>
              <a:buChar char="•"/>
            </a:pPr>
            <a:r>
              <a:rPr lang="en-US" sz="2800" dirty="0"/>
              <a:t>In case of the existing drinkers in the family such as </a:t>
            </a:r>
            <a:r>
              <a:rPr lang="en-US" sz="2800" b="1" dirty="0">
                <a:solidFill>
                  <a:srgbClr val="7030A0"/>
                </a:solidFill>
              </a:rPr>
              <a:t>uncle, father, mother, aunt, grandparent, the </a:t>
            </a:r>
            <a:r>
              <a:rPr lang="en-US" sz="2800" b="1" dirty="0">
                <a:solidFill>
                  <a:srgbClr val="0070C0"/>
                </a:solidFill>
              </a:rPr>
              <a:t>percentage doubles</a:t>
            </a:r>
            <a:r>
              <a:rPr lang="en-US" sz="2800" dirty="0"/>
              <a:t>.</a:t>
            </a:r>
          </a:p>
          <a:p>
            <a:pPr marL="457200" indent="-457200">
              <a:buFont typeface="Arial" panose="020B0604020202020204" pitchFamily="34" charset="0"/>
              <a:buChar char="•"/>
            </a:pPr>
            <a:r>
              <a:rPr lang="en-US" sz="2800" dirty="0"/>
              <a:t>If the experimentation </a:t>
            </a:r>
            <a:r>
              <a:rPr lang="en-US" sz="2800" b="1" dirty="0"/>
              <a:t>begins under the age of 14 years</a:t>
            </a:r>
            <a:r>
              <a:rPr lang="en-US" sz="2800" dirty="0"/>
              <a:t>, the % chance of </a:t>
            </a:r>
            <a:r>
              <a:rPr lang="en-US" sz="2800" b="1" dirty="0"/>
              <a:t>dependance increase </a:t>
            </a:r>
            <a:r>
              <a:rPr lang="en-US" sz="2800" dirty="0"/>
              <a:t>to 40%-plus.  This demonstrates the importance of </a:t>
            </a:r>
            <a:r>
              <a:rPr lang="en-US" sz="2800" b="1" dirty="0">
                <a:solidFill>
                  <a:srgbClr val="C00000"/>
                </a:solidFill>
              </a:rPr>
              <a:t>alcohol education from an early age</a:t>
            </a:r>
            <a:r>
              <a:rPr lang="en-US" sz="2800" dirty="0"/>
              <a:t>. </a:t>
            </a:r>
          </a:p>
          <a:p>
            <a:pPr marL="457200" indent="-457200">
              <a:buFont typeface="Arial" panose="020B0604020202020204" pitchFamily="34" charset="0"/>
              <a:buChar char="•"/>
            </a:pPr>
            <a:r>
              <a:rPr lang="en-US" sz="2800" b="1" dirty="0"/>
              <a:t>Social support</a:t>
            </a:r>
            <a:r>
              <a:rPr lang="en-US" sz="2800" dirty="0"/>
              <a:t> develops resilience, enabling youth to cope with difficult decisions and choices despite </a:t>
            </a:r>
            <a:r>
              <a:rPr lang="en-US" sz="2800" b="1" dirty="0">
                <a:solidFill>
                  <a:srgbClr val="00B050"/>
                </a:solidFill>
              </a:rPr>
              <a:t>peer pressure</a:t>
            </a:r>
            <a:r>
              <a:rPr lang="en-US" sz="2800" dirty="0"/>
              <a:t>.</a:t>
            </a:r>
          </a:p>
        </p:txBody>
      </p:sp>
    </p:spTree>
    <p:extLst>
      <p:ext uri="{BB962C8B-B14F-4D97-AF65-F5344CB8AC3E}">
        <p14:creationId xmlns:p14="http://schemas.microsoft.com/office/powerpoint/2010/main" val="12888776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66815-7CE8-FBB8-3819-D3C6587FD0D7}"/>
              </a:ext>
            </a:extLst>
          </p:cNvPr>
          <p:cNvSpPr>
            <a:spLocks noGrp="1"/>
          </p:cNvSpPr>
          <p:nvPr>
            <p:ph type="title"/>
          </p:nvPr>
        </p:nvSpPr>
        <p:spPr/>
        <p:txBody>
          <a:bodyPr>
            <a:normAutofit/>
          </a:bodyPr>
          <a:lstStyle/>
          <a:p>
            <a:pPr algn="ctr"/>
            <a:r>
              <a:rPr lang="en-US" sz="4000" b="1" dirty="0">
                <a:solidFill>
                  <a:srgbClr val="FF0000"/>
                </a:solidFill>
                <a:latin typeface="Arial Black" panose="020B0A04020102020204" pitchFamily="34" charset="0"/>
              </a:rPr>
              <a:t>Alcohol and cancer </a:t>
            </a:r>
          </a:p>
        </p:txBody>
      </p:sp>
      <p:sp>
        <p:nvSpPr>
          <p:cNvPr id="4" name="TextBox 3">
            <a:extLst>
              <a:ext uri="{FF2B5EF4-FFF2-40B4-BE49-F238E27FC236}">
                <a16:creationId xmlns:a16="http://schemas.microsoft.com/office/drawing/2014/main" id="{BA657F17-1A9F-DFD9-3776-5FD1DEA6D2BB}"/>
              </a:ext>
            </a:extLst>
          </p:cNvPr>
          <p:cNvSpPr txBox="1"/>
          <p:nvPr/>
        </p:nvSpPr>
        <p:spPr>
          <a:xfrm>
            <a:off x="149361" y="1853754"/>
            <a:ext cx="11869813" cy="3539430"/>
          </a:xfrm>
          <a:prstGeom prst="rect">
            <a:avLst/>
          </a:prstGeom>
          <a:noFill/>
        </p:spPr>
        <p:txBody>
          <a:bodyPr wrap="square">
            <a:spAutoFit/>
          </a:bodyPr>
          <a:lstStyle/>
          <a:p>
            <a:pPr marL="285750" indent="-285750">
              <a:buFont typeface="Arial" panose="020B0604020202020204" pitchFamily="34" charset="0"/>
              <a:buChar char="•"/>
            </a:pPr>
            <a:r>
              <a:rPr lang="en-US" sz="3200" b="1" dirty="0">
                <a:solidFill>
                  <a:srgbClr val="00B050"/>
                </a:solidFill>
              </a:rPr>
              <a:t>Cancer is one of the leading cause </a:t>
            </a:r>
            <a:r>
              <a:rPr lang="en-US" sz="3200" dirty="0"/>
              <a:t>of death globally.  There are many examples of the </a:t>
            </a:r>
            <a:r>
              <a:rPr lang="en-US" sz="3200" b="1" dirty="0">
                <a:solidFill>
                  <a:schemeClr val="accent1"/>
                </a:solidFill>
              </a:rPr>
              <a:t>relationship between drinking alcohol and cancer</a:t>
            </a:r>
            <a:r>
              <a:rPr lang="en-US" sz="3200" dirty="0"/>
              <a:t>. </a:t>
            </a:r>
          </a:p>
          <a:p>
            <a:pPr marL="285750" indent="-285750">
              <a:buFont typeface="Arial" panose="020B0604020202020204" pitchFamily="34" charset="0"/>
              <a:buChar char="•"/>
            </a:pPr>
            <a:r>
              <a:rPr lang="en-US" sz="3200" dirty="0"/>
              <a:t>In Europe cancer </a:t>
            </a:r>
            <a:r>
              <a:rPr lang="en-US" sz="3200" b="1" dirty="0">
                <a:solidFill>
                  <a:schemeClr val="accent2"/>
                </a:solidFill>
              </a:rPr>
              <a:t>is the second most common cause of death</a:t>
            </a:r>
            <a:r>
              <a:rPr lang="en-US" sz="3200" dirty="0"/>
              <a:t>, with 2.5million cancer deaths per year and </a:t>
            </a:r>
            <a:r>
              <a:rPr lang="en-US" sz="3200" b="1" dirty="0"/>
              <a:t>people do not believe that there is a connection between alcohol and cancer</a:t>
            </a:r>
            <a:r>
              <a:rPr lang="en-US" sz="3200" dirty="0"/>
              <a:t>. </a:t>
            </a:r>
          </a:p>
          <a:p>
            <a:pPr marL="285750" indent="-285750">
              <a:buFont typeface="Arial" panose="020B0604020202020204" pitchFamily="34" charset="0"/>
              <a:buChar char="•"/>
            </a:pPr>
            <a:r>
              <a:rPr lang="en-US" sz="3200" b="1" dirty="0">
                <a:solidFill>
                  <a:srgbClr val="0070C0"/>
                </a:solidFill>
              </a:rPr>
              <a:t>Thus being ignorant does not spare us the consequences.</a:t>
            </a:r>
          </a:p>
        </p:txBody>
      </p:sp>
    </p:spTree>
    <p:extLst>
      <p:ext uri="{BB962C8B-B14F-4D97-AF65-F5344CB8AC3E}">
        <p14:creationId xmlns:p14="http://schemas.microsoft.com/office/powerpoint/2010/main" val="4544995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DB101-A688-3BAD-627C-2F97CC34203C}"/>
              </a:ext>
            </a:extLst>
          </p:cNvPr>
          <p:cNvSpPr>
            <a:spLocks noGrp="1"/>
          </p:cNvSpPr>
          <p:nvPr>
            <p:ph type="title"/>
          </p:nvPr>
        </p:nvSpPr>
        <p:spPr/>
        <p:txBody>
          <a:bodyPr>
            <a:normAutofit/>
          </a:bodyPr>
          <a:lstStyle/>
          <a:p>
            <a:pPr algn="ctr"/>
            <a:r>
              <a:rPr lang="en-US" sz="4000" dirty="0">
                <a:solidFill>
                  <a:srgbClr val="FF0000"/>
                </a:solidFill>
                <a:latin typeface="Arial Black" panose="020B0A04020102020204" pitchFamily="34" charset="0"/>
              </a:rPr>
              <a:t>Alcohol and society</a:t>
            </a:r>
          </a:p>
        </p:txBody>
      </p:sp>
      <p:sp>
        <p:nvSpPr>
          <p:cNvPr id="4" name="TextBox 3">
            <a:extLst>
              <a:ext uri="{FF2B5EF4-FFF2-40B4-BE49-F238E27FC236}">
                <a16:creationId xmlns:a16="http://schemas.microsoft.com/office/drawing/2014/main" id="{0B262431-51E3-8C13-2675-885B74587A66}"/>
              </a:ext>
            </a:extLst>
          </p:cNvPr>
          <p:cNvSpPr txBox="1"/>
          <p:nvPr/>
        </p:nvSpPr>
        <p:spPr>
          <a:xfrm>
            <a:off x="151666" y="1724261"/>
            <a:ext cx="12040334" cy="4524315"/>
          </a:xfrm>
          <a:prstGeom prst="rect">
            <a:avLst/>
          </a:prstGeom>
          <a:noFill/>
        </p:spPr>
        <p:txBody>
          <a:bodyPr wrap="square">
            <a:spAutoFit/>
          </a:bodyPr>
          <a:lstStyle/>
          <a:p>
            <a:pPr marL="457200" indent="-457200">
              <a:buFont typeface="Arial" panose="020B0604020202020204" pitchFamily="34" charset="0"/>
              <a:buChar char="•"/>
            </a:pPr>
            <a:r>
              <a:rPr lang="en-GB" sz="3200" dirty="0">
                <a:effectLst/>
                <a:latin typeface="Times New Roman" panose="02020603050405020304" pitchFamily="18" charset="0"/>
                <a:ea typeface="Times New Roman" panose="02020603050405020304" pitchFamily="18" charset="0"/>
              </a:rPr>
              <a:t>It is known that </a:t>
            </a:r>
            <a:r>
              <a:rPr lang="en-GB" sz="3200" b="1" dirty="0">
                <a:solidFill>
                  <a:srgbClr val="7030A0"/>
                </a:solidFill>
                <a:effectLst/>
                <a:latin typeface="Times New Roman" panose="02020603050405020304" pitchFamily="18" charset="0"/>
                <a:ea typeface="Times New Roman" panose="02020603050405020304" pitchFamily="18" charset="0"/>
              </a:rPr>
              <a:t>alcohol use is associated (often causal) with accidents of all kinds, such as road fatalities, as well as domestic violence, murder, rape</a:t>
            </a:r>
            <a:r>
              <a:rPr lang="en-GB" sz="3200" dirty="0">
                <a:effectLst/>
                <a:latin typeface="Times New Roman" panose="02020603050405020304" pitchFamily="18" charset="0"/>
                <a:ea typeface="Times New Roman" panose="02020603050405020304" pitchFamily="18" charset="0"/>
              </a:rPr>
              <a:t>, and other criminal activities. </a:t>
            </a:r>
          </a:p>
          <a:p>
            <a:pPr marL="457200" indent="-457200">
              <a:buFont typeface="Arial" panose="020B0604020202020204" pitchFamily="34" charset="0"/>
              <a:buChar char="•"/>
            </a:pPr>
            <a:r>
              <a:rPr lang="en-US" sz="3200" dirty="0"/>
              <a:t>Heroin, crack, cocaine and methamphetamine were the most harmful drugs to individuals.</a:t>
            </a:r>
          </a:p>
          <a:p>
            <a:pPr marL="457200" indent="-457200">
              <a:buFont typeface="Arial" panose="020B0604020202020204" pitchFamily="34" charset="0"/>
              <a:buChar char="•"/>
            </a:pPr>
            <a:r>
              <a:rPr lang="en-US" sz="3200" dirty="0"/>
              <a:t>Alcohol is also the leading </a:t>
            </a:r>
            <a:r>
              <a:rPr lang="en-US" sz="3200" dirty="0">
                <a:solidFill>
                  <a:srgbClr val="FF0000"/>
                </a:solidFill>
              </a:rPr>
              <a:t>cause of preventable mental retardation</a:t>
            </a:r>
            <a:r>
              <a:rPr lang="en-US" sz="3200" dirty="0"/>
              <a:t> in the world. This is because alcohol readily </a:t>
            </a:r>
            <a:r>
              <a:rPr lang="en-US" sz="3200" b="1" dirty="0">
                <a:solidFill>
                  <a:srgbClr val="7030A0"/>
                </a:solidFill>
              </a:rPr>
              <a:t>crosses the placenta and damages </a:t>
            </a:r>
            <a:r>
              <a:rPr lang="en-US" sz="3200" dirty="0"/>
              <a:t>the developing brain of the </a:t>
            </a:r>
            <a:r>
              <a:rPr lang="en-US" sz="3200" b="1" dirty="0"/>
              <a:t>unborn baby</a:t>
            </a:r>
            <a:r>
              <a:rPr lang="en-US" sz="3200" dirty="0"/>
              <a:t>.  </a:t>
            </a:r>
          </a:p>
          <a:p>
            <a:pPr marL="457200" indent="-457200">
              <a:buFont typeface="Arial" panose="020B0604020202020204" pitchFamily="34" charset="0"/>
              <a:buChar char="•"/>
            </a:pPr>
            <a:r>
              <a:rPr lang="en-US" sz="3200" dirty="0"/>
              <a:t>Again, there is </a:t>
            </a:r>
            <a:r>
              <a:rPr lang="en-US" sz="3200" dirty="0">
                <a:solidFill>
                  <a:srgbClr val="FF0000"/>
                </a:solidFill>
              </a:rPr>
              <a:t>no safe level of alcohol consumption </a:t>
            </a:r>
            <a:r>
              <a:rPr lang="en-US" sz="3200" dirty="0"/>
              <a:t>during </a:t>
            </a:r>
            <a:r>
              <a:rPr lang="en-US" sz="3200" dirty="0">
                <a:solidFill>
                  <a:srgbClr val="0070C0"/>
                </a:solidFill>
              </a:rPr>
              <a:t>pregnancy</a:t>
            </a:r>
            <a:r>
              <a:rPr lang="en-US" sz="3200" dirty="0"/>
              <a:t>.</a:t>
            </a:r>
          </a:p>
        </p:txBody>
      </p:sp>
    </p:spTree>
    <p:extLst>
      <p:ext uri="{BB962C8B-B14F-4D97-AF65-F5344CB8AC3E}">
        <p14:creationId xmlns:p14="http://schemas.microsoft.com/office/powerpoint/2010/main" val="3927977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07D41-A1F8-0FB1-47EF-798E27719280}"/>
              </a:ext>
            </a:extLst>
          </p:cNvPr>
          <p:cNvSpPr>
            <a:spLocks noGrp="1"/>
          </p:cNvSpPr>
          <p:nvPr>
            <p:ph type="title"/>
          </p:nvPr>
        </p:nvSpPr>
        <p:spPr/>
        <p:txBody>
          <a:bodyPr>
            <a:normAutofit/>
          </a:bodyPr>
          <a:lstStyle/>
          <a:p>
            <a:r>
              <a:rPr lang="en-US" sz="4000" dirty="0">
                <a:solidFill>
                  <a:srgbClr val="FF0000"/>
                </a:solidFill>
                <a:latin typeface="Arial Black" panose="020B0A04020102020204" pitchFamily="34" charset="0"/>
              </a:rPr>
              <a:t>Alcohol and heart health</a:t>
            </a:r>
          </a:p>
        </p:txBody>
      </p:sp>
      <p:sp>
        <p:nvSpPr>
          <p:cNvPr id="4" name="TextBox 3">
            <a:extLst>
              <a:ext uri="{FF2B5EF4-FFF2-40B4-BE49-F238E27FC236}">
                <a16:creationId xmlns:a16="http://schemas.microsoft.com/office/drawing/2014/main" id="{9E0367ED-7F3F-26EC-9966-C783C4B02081}"/>
              </a:ext>
            </a:extLst>
          </p:cNvPr>
          <p:cNvSpPr txBox="1"/>
          <p:nvPr/>
        </p:nvSpPr>
        <p:spPr>
          <a:xfrm>
            <a:off x="201105" y="1853754"/>
            <a:ext cx="11990895" cy="3416320"/>
          </a:xfrm>
          <a:prstGeom prst="rect">
            <a:avLst/>
          </a:prstGeom>
          <a:noFill/>
        </p:spPr>
        <p:txBody>
          <a:bodyPr wrap="square">
            <a:spAutoFit/>
          </a:bodyPr>
          <a:lstStyle/>
          <a:p>
            <a:pPr marL="285750" indent="-285750">
              <a:buFont typeface="Arial" panose="020B0604020202020204" pitchFamily="34" charset="0"/>
              <a:buChar char="•"/>
            </a:pPr>
            <a:r>
              <a:rPr lang="en-US" sz="3600" b="0" i="0" dirty="0">
                <a:solidFill>
                  <a:srgbClr val="374151"/>
                </a:solidFill>
                <a:effectLst/>
                <a:latin typeface="Söhne"/>
              </a:rPr>
              <a:t>Alcohol and its </a:t>
            </a:r>
            <a:r>
              <a:rPr lang="en-US" sz="3600" b="1" i="0" dirty="0">
                <a:solidFill>
                  <a:srgbClr val="7030A0"/>
                </a:solidFill>
                <a:effectLst/>
                <a:latin typeface="Söhne"/>
              </a:rPr>
              <a:t>relationship with heart health </a:t>
            </a:r>
            <a:r>
              <a:rPr lang="en-US" sz="3600" b="0" i="0" dirty="0">
                <a:solidFill>
                  <a:srgbClr val="374151"/>
                </a:solidFill>
                <a:effectLst/>
                <a:latin typeface="Söhne"/>
              </a:rPr>
              <a:t>is a topic that has been studied extensively over the years. </a:t>
            </a:r>
          </a:p>
          <a:p>
            <a:pPr marL="285750" indent="-285750">
              <a:buFont typeface="Arial" panose="020B0604020202020204" pitchFamily="34" charset="0"/>
              <a:buChar char="•"/>
            </a:pPr>
            <a:r>
              <a:rPr lang="en-US" sz="3600" b="0" i="0" dirty="0">
                <a:solidFill>
                  <a:srgbClr val="374151"/>
                </a:solidFill>
                <a:effectLst/>
                <a:latin typeface="Söhne"/>
              </a:rPr>
              <a:t>The effects of alcohol on the cardiovascular system can be complex and depend on several factors, including </a:t>
            </a:r>
            <a:r>
              <a:rPr lang="en-US" sz="3600" b="1" i="0" dirty="0">
                <a:solidFill>
                  <a:schemeClr val="accent1"/>
                </a:solidFill>
                <a:effectLst/>
                <a:latin typeface="Söhne"/>
              </a:rPr>
              <a:t>the amount of alcohol consumed</a:t>
            </a:r>
            <a:r>
              <a:rPr lang="en-US" sz="3600" b="0" i="0" dirty="0">
                <a:solidFill>
                  <a:srgbClr val="374151"/>
                </a:solidFill>
                <a:effectLst/>
                <a:latin typeface="Söhne"/>
              </a:rPr>
              <a:t>, </a:t>
            </a:r>
            <a:r>
              <a:rPr lang="en-US" sz="3600" b="1" i="0" dirty="0">
                <a:solidFill>
                  <a:srgbClr val="374151"/>
                </a:solidFill>
                <a:effectLst/>
                <a:latin typeface="Söhne"/>
              </a:rPr>
              <a:t>individual health status</a:t>
            </a:r>
            <a:r>
              <a:rPr lang="en-US" sz="3600" b="0" i="0" dirty="0">
                <a:solidFill>
                  <a:srgbClr val="374151"/>
                </a:solidFill>
                <a:effectLst/>
                <a:latin typeface="Söhne"/>
              </a:rPr>
              <a:t>, and other lifestyle factors.</a:t>
            </a:r>
            <a:endParaRPr lang="en-US" sz="3600" dirty="0"/>
          </a:p>
        </p:txBody>
      </p:sp>
    </p:spTree>
    <p:extLst>
      <p:ext uri="{BB962C8B-B14F-4D97-AF65-F5344CB8AC3E}">
        <p14:creationId xmlns:p14="http://schemas.microsoft.com/office/powerpoint/2010/main" val="33467512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B78C7-3695-E01E-EC24-214F47A83520}"/>
              </a:ext>
            </a:extLst>
          </p:cNvPr>
          <p:cNvSpPr>
            <a:spLocks noGrp="1"/>
          </p:cNvSpPr>
          <p:nvPr>
            <p:ph type="title"/>
          </p:nvPr>
        </p:nvSpPr>
        <p:spPr/>
        <p:txBody>
          <a:bodyPr/>
          <a:lstStyle/>
          <a:p>
            <a:pPr algn="ctr"/>
            <a:r>
              <a:rPr lang="en-US"/>
              <a:t>Cont’d...</a:t>
            </a:r>
          </a:p>
        </p:txBody>
      </p:sp>
      <p:sp>
        <p:nvSpPr>
          <p:cNvPr id="4" name="TextBox 3">
            <a:extLst>
              <a:ext uri="{FF2B5EF4-FFF2-40B4-BE49-F238E27FC236}">
                <a16:creationId xmlns:a16="http://schemas.microsoft.com/office/drawing/2014/main" id="{03FDE72A-C8E4-6DA6-0BD6-D2B710A6EE60}"/>
              </a:ext>
            </a:extLst>
          </p:cNvPr>
          <p:cNvSpPr txBox="1"/>
          <p:nvPr/>
        </p:nvSpPr>
        <p:spPr>
          <a:xfrm>
            <a:off x="76986" y="1782287"/>
            <a:ext cx="12038028" cy="4401205"/>
          </a:xfrm>
          <a:prstGeom prst="rect">
            <a:avLst/>
          </a:prstGeom>
          <a:noFill/>
        </p:spPr>
        <p:txBody>
          <a:bodyPr wrap="square">
            <a:spAutoFit/>
          </a:bodyPr>
          <a:lstStyle/>
          <a:p>
            <a:pPr marL="457200" indent="-457200">
              <a:buFont typeface="Arial" panose="020B0604020202020204" pitchFamily="34" charset="0"/>
              <a:buChar char="•"/>
            </a:pPr>
            <a:r>
              <a:rPr lang="en-US" sz="2800" b="1" i="0" dirty="0">
                <a:solidFill>
                  <a:srgbClr val="7030A0"/>
                </a:solidFill>
                <a:effectLst/>
                <a:latin typeface="Söhne"/>
              </a:rPr>
              <a:t>Moderate Alcohol Consumption</a:t>
            </a:r>
            <a:r>
              <a:rPr lang="en-US" sz="2800" b="0" i="0" dirty="0">
                <a:solidFill>
                  <a:srgbClr val="374151"/>
                </a:solidFill>
                <a:effectLst/>
                <a:latin typeface="Söhne"/>
              </a:rPr>
              <a:t>: some researchers confirm that moderate alcohol consumption has been associated with a </a:t>
            </a:r>
            <a:r>
              <a:rPr lang="en-US" sz="2800" b="1" i="0" dirty="0">
                <a:solidFill>
                  <a:srgbClr val="FF0000"/>
                </a:solidFill>
                <a:effectLst/>
                <a:latin typeface="Söhne"/>
              </a:rPr>
              <a:t>reduced risk of certain cardiovascular conditions</a:t>
            </a:r>
            <a:r>
              <a:rPr lang="en-US" sz="2800" b="0" i="0" dirty="0">
                <a:solidFill>
                  <a:srgbClr val="374151"/>
                </a:solidFill>
                <a:effectLst/>
                <a:latin typeface="Söhne"/>
              </a:rPr>
              <a:t>, particularly coronary heart disease. </a:t>
            </a:r>
          </a:p>
          <a:p>
            <a:pPr marL="457200" indent="-457200">
              <a:buFont typeface="Arial" panose="020B0604020202020204" pitchFamily="34" charset="0"/>
              <a:buChar char="•"/>
            </a:pPr>
            <a:r>
              <a:rPr lang="en-US" sz="2800" b="0" i="0" dirty="0">
                <a:solidFill>
                  <a:srgbClr val="374151"/>
                </a:solidFill>
                <a:effectLst/>
                <a:latin typeface="Söhne"/>
              </a:rPr>
              <a:t>They again suggested that moderate alcohol intake may have protective effects on the heart</a:t>
            </a:r>
          </a:p>
          <a:p>
            <a:pPr marL="457200" indent="-457200">
              <a:buFont typeface="Arial" panose="020B0604020202020204" pitchFamily="34" charset="0"/>
              <a:buChar char="•"/>
            </a:pPr>
            <a:r>
              <a:rPr lang="en-US" sz="2800" b="1" i="0" dirty="0">
                <a:solidFill>
                  <a:srgbClr val="7030A0"/>
                </a:solidFill>
                <a:effectLst/>
                <a:latin typeface="Söhne"/>
              </a:rPr>
              <a:t>Risks of Excessive Drinking</a:t>
            </a:r>
            <a:r>
              <a:rPr lang="en-US" sz="2800" b="0" i="0" dirty="0">
                <a:solidFill>
                  <a:srgbClr val="374151"/>
                </a:solidFill>
                <a:effectLst/>
                <a:latin typeface="Söhne"/>
              </a:rPr>
              <a:t>: While moderate alcohol consumption may have some </a:t>
            </a:r>
            <a:r>
              <a:rPr lang="en-US" sz="2800" b="1" i="0" dirty="0">
                <a:solidFill>
                  <a:srgbClr val="374151"/>
                </a:solidFill>
                <a:effectLst/>
                <a:latin typeface="Söhne"/>
              </a:rPr>
              <a:t>potential benefits</a:t>
            </a:r>
            <a:r>
              <a:rPr lang="en-US" sz="2800" b="0" i="0" dirty="0">
                <a:solidFill>
                  <a:srgbClr val="374151"/>
                </a:solidFill>
                <a:effectLst/>
                <a:latin typeface="Söhne"/>
              </a:rPr>
              <a:t>, </a:t>
            </a:r>
            <a:r>
              <a:rPr lang="en-US" sz="2800" b="1" i="0" dirty="0">
                <a:solidFill>
                  <a:srgbClr val="0070C0"/>
                </a:solidFill>
                <a:effectLst/>
                <a:latin typeface="Söhne"/>
              </a:rPr>
              <a:t>excessive drinking or heavy alcohol consumption can be detrimental to heart health</a:t>
            </a:r>
            <a:r>
              <a:rPr lang="en-US" sz="2800" b="0" i="0" dirty="0">
                <a:solidFill>
                  <a:srgbClr val="374151"/>
                </a:solidFill>
                <a:effectLst/>
                <a:latin typeface="Söhne"/>
              </a:rPr>
              <a:t>. </a:t>
            </a:r>
          </a:p>
          <a:p>
            <a:pPr marL="457200" indent="-457200">
              <a:buFont typeface="Arial" panose="020B0604020202020204" pitchFamily="34" charset="0"/>
              <a:buChar char="•"/>
            </a:pPr>
            <a:r>
              <a:rPr lang="en-US" sz="2800" b="1" i="0" dirty="0">
                <a:solidFill>
                  <a:srgbClr val="00B050"/>
                </a:solidFill>
                <a:effectLst/>
                <a:latin typeface="Söhne"/>
              </a:rPr>
              <a:t>Heavy drinking </a:t>
            </a:r>
            <a:r>
              <a:rPr lang="en-US" sz="2800" b="0" i="0" dirty="0">
                <a:solidFill>
                  <a:srgbClr val="374151"/>
                </a:solidFill>
                <a:effectLst/>
                <a:latin typeface="Söhne"/>
              </a:rPr>
              <a:t>is associated with an </a:t>
            </a:r>
            <a:r>
              <a:rPr lang="en-US" sz="2800" b="1" i="0" dirty="0">
                <a:solidFill>
                  <a:srgbClr val="FF0000"/>
                </a:solidFill>
                <a:effectLst/>
                <a:latin typeface="Söhne"/>
              </a:rPr>
              <a:t>increased risk of high blood pressure, heart failure, stroke, and irregular heart rhythms</a:t>
            </a:r>
            <a:r>
              <a:rPr lang="en-US" sz="2800" b="0" i="0" dirty="0">
                <a:solidFill>
                  <a:srgbClr val="374151"/>
                </a:solidFill>
                <a:effectLst/>
                <a:latin typeface="Söhne"/>
              </a:rPr>
              <a:t>.</a:t>
            </a:r>
          </a:p>
        </p:txBody>
      </p:sp>
    </p:spTree>
    <p:extLst>
      <p:ext uri="{BB962C8B-B14F-4D97-AF65-F5344CB8AC3E}">
        <p14:creationId xmlns:p14="http://schemas.microsoft.com/office/powerpoint/2010/main" val="553698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14F81-9392-F34B-6F71-5804DA7BE098}"/>
              </a:ext>
            </a:extLst>
          </p:cNvPr>
          <p:cNvSpPr>
            <a:spLocks noGrp="1"/>
          </p:cNvSpPr>
          <p:nvPr>
            <p:ph type="title"/>
          </p:nvPr>
        </p:nvSpPr>
        <p:spPr/>
        <p:txBody>
          <a:bodyPr/>
          <a:lstStyle/>
          <a:p>
            <a:pPr algn="ctr"/>
            <a:r>
              <a:rPr lang="en-US" dirty="0"/>
              <a:t>Cont’d...</a:t>
            </a:r>
          </a:p>
        </p:txBody>
      </p:sp>
      <p:sp>
        <p:nvSpPr>
          <p:cNvPr id="4" name="TextBox 3">
            <a:extLst>
              <a:ext uri="{FF2B5EF4-FFF2-40B4-BE49-F238E27FC236}">
                <a16:creationId xmlns:a16="http://schemas.microsoft.com/office/drawing/2014/main" id="{0DEF7FB3-57E4-09D5-B4C4-33913671454A}"/>
              </a:ext>
            </a:extLst>
          </p:cNvPr>
          <p:cNvSpPr txBox="1"/>
          <p:nvPr/>
        </p:nvSpPr>
        <p:spPr>
          <a:xfrm>
            <a:off x="128099" y="1621733"/>
            <a:ext cx="11935802" cy="461074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4000" dirty="0">
                <a:solidFill>
                  <a:srgbClr val="374151"/>
                </a:solidFill>
                <a:latin typeface="Söhne"/>
              </a:rPr>
              <a:t>In summary, taking into account the </a:t>
            </a:r>
            <a:r>
              <a:rPr lang="en-US" sz="4000" b="1" dirty="0">
                <a:solidFill>
                  <a:srgbClr val="FF0000"/>
                </a:solidFill>
                <a:latin typeface="Söhne"/>
              </a:rPr>
              <a:t>significant health risks related to alcohol use it does not make sense to promote its use for heart</a:t>
            </a:r>
            <a:r>
              <a:rPr lang="en-US" sz="4000" dirty="0">
                <a:solidFill>
                  <a:srgbClr val="374151"/>
                </a:solidFill>
                <a:latin typeface="Söhne"/>
              </a:rPr>
              <a:t>, especially when there are proven and safe intervention such as </a:t>
            </a:r>
            <a:r>
              <a:rPr lang="en-US" sz="4000" b="1" dirty="0">
                <a:solidFill>
                  <a:srgbClr val="374151"/>
                </a:solidFill>
                <a:latin typeface="Söhne"/>
              </a:rPr>
              <a:t>daily exercise </a:t>
            </a:r>
            <a:r>
              <a:rPr lang="en-US" sz="4000" dirty="0">
                <a:solidFill>
                  <a:srgbClr val="374151"/>
                </a:solidFill>
                <a:latin typeface="Söhne"/>
              </a:rPr>
              <a:t>and </a:t>
            </a:r>
            <a:r>
              <a:rPr lang="en-US" sz="4000" b="1" dirty="0">
                <a:solidFill>
                  <a:srgbClr val="7030A0"/>
                </a:solidFill>
                <a:latin typeface="Söhne"/>
              </a:rPr>
              <a:t>healthful diet</a:t>
            </a:r>
            <a:r>
              <a:rPr lang="en-US" sz="4000" dirty="0">
                <a:solidFill>
                  <a:srgbClr val="374151"/>
                </a:solidFill>
                <a:latin typeface="Söhne"/>
              </a:rPr>
              <a:t>.</a:t>
            </a:r>
            <a:endParaRPr lang="en-US" sz="4000" dirty="0"/>
          </a:p>
        </p:txBody>
      </p:sp>
    </p:spTree>
    <p:extLst>
      <p:ext uri="{BB962C8B-B14F-4D97-AF65-F5344CB8AC3E}">
        <p14:creationId xmlns:p14="http://schemas.microsoft.com/office/powerpoint/2010/main" val="41186020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39896-E0FA-0666-DB7D-C1A62B696380}"/>
              </a:ext>
            </a:extLst>
          </p:cNvPr>
          <p:cNvSpPr>
            <a:spLocks noGrp="1"/>
          </p:cNvSpPr>
          <p:nvPr>
            <p:ph type="title"/>
          </p:nvPr>
        </p:nvSpPr>
        <p:spPr/>
        <p:txBody>
          <a:bodyPr>
            <a:normAutofit/>
          </a:bodyPr>
          <a:lstStyle/>
          <a:p>
            <a:pPr algn="ctr"/>
            <a:r>
              <a:rPr lang="en-US" sz="4000" dirty="0">
                <a:solidFill>
                  <a:srgbClr val="FF0000"/>
                </a:solidFill>
                <a:latin typeface="Arial Black" panose="020B0A04020102020204" pitchFamily="34" charset="0"/>
              </a:rPr>
              <a:t>Killer tobacco</a:t>
            </a:r>
          </a:p>
        </p:txBody>
      </p:sp>
      <p:sp>
        <p:nvSpPr>
          <p:cNvPr id="4" name="TextBox 3">
            <a:extLst>
              <a:ext uri="{FF2B5EF4-FFF2-40B4-BE49-F238E27FC236}">
                <a16:creationId xmlns:a16="http://schemas.microsoft.com/office/drawing/2014/main" id="{0866162C-7DB5-A270-4F6E-76E7E35FC8BC}"/>
              </a:ext>
            </a:extLst>
          </p:cNvPr>
          <p:cNvSpPr txBox="1"/>
          <p:nvPr/>
        </p:nvSpPr>
        <p:spPr>
          <a:xfrm>
            <a:off x="0" y="1768913"/>
            <a:ext cx="12047456" cy="4524315"/>
          </a:xfrm>
          <a:prstGeom prst="rect">
            <a:avLst/>
          </a:prstGeom>
          <a:noFill/>
        </p:spPr>
        <p:txBody>
          <a:bodyPr wrap="square">
            <a:spAutoFit/>
          </a:bodyPr>
          <a:lstStyle/>
          <a:p>
            <a:pPr marL="285750" indent="-285750">
              <a:buFont typeface="Arial" panose="020B0604020202020204" pitchFamily="34" charset="0"/>
              <a:buChar char="•"/>
            </a:pPr>
            <a:r>
              <a:rPr lang="en-US" sz="3200" b="0" i="0" dirty="0">
                <a:solidFill>
                  <a:srgbClr val="374151"/>
                </a:solidFill>
                <a:effectLst/>
                <a:latin typeface="Söhne"/>
              </a:rPr>
              <a:t>Tobacco use is a </a:t>
            </a:r>
            <a:r>
              <a:rPr lang="en-US" sz="3200" b="1" i="0" dirty="0">
                <a:solidFill>
                  <a:schemeClr val="accent1"/>
                </a:solidFill>
                <a:effectLst/>
                <a:latin typeface="Söhne"/>
              </a:rPr>
              <a:t>significant public health concern</a:t>
            </a:r>
            <a:r>
              <a:rPr lang="en-US" sz="3200" b="0" i="0" dirty="0">
                <a:solidFill>
                  <a:srgbClr val="374151"/>
                </a:solidFill>
                <a:effectLst/>
                <a:latin typeface="Söhne"/>
              </a:rPr>
              <a:t>, and it is widely known to be </a:t>
            </a:r>
            <a:r>
              <a:rPr lang="en-US" sz="3200" b="1" i="0" dirty="0">
                <a:solidFill>
                  <a:srgbClr val="7030A0"/>
                </a:solidFill>
                <a:effectLst/>
                <a:latin typeface="Söhne"/>
              </a:rPr>
              <a:t>harmful to human health</a:t>
            </a:r>
            <a:r>
              <a:rPr lang="en-US" sz="3200" b="0" i="0" dirty="0">
                <a:solidFill>
                  <a:srgbClr val="374151"/>
                </a:solidFill>
                <a:effectLst/>
                <a:latin typeface="Söhne"/>
              </a:rPr>
              <a:t>. </a:t>
            </a:r>
          </a:p>
          <a:p>
            <a:pPr marL="285750" indent="-285750">
              <a:buFont typeface="Arial" panose="020B0604020202020204" pitchFamily="34" charset="0"/>
              <a:buChar char="•"/>
            </a:pPr>
            <a:r>
              <a:rPr lang="en-US" sz="3200" b="0" i="0" dirty="0">
                <a:solidFill>
                  <a:srgbClr val="374151"/>
                </a:solidFill>
                <a:effectLst/>
                <a:latin typeface="Söhne"/>
              </a:rPr>
              <a:t>Smoking tobacco, in particular, is a </a:t>
            </a:r>
            <a:r>
              <a:rPr lang="en-US" sz="3200" b="1" i="0" dirty="0">
                <a:solidFill>
                  <a:srgbClr val="7030A0"/>
                </a:solidFill>
                <a:effectLst/>
                <a:latin typeface="Söhne"/>
              </a:rPr>
              <a:t>leading cause of preventable diseases and premature death </a:t>
            </a:r>
            <a:r>
              <a:rPr lang="en-US" sz="3200" b="0" i="0" dirty="0">
                <a:solidFill>
                  <a:srgbClr val="374151"/>
                </a:solidFill>
                <a:effectLst/>
                <a:latin typeface="Söhne"/>
              </a:rPr>
              <a:t>worldwide.</a:t>
            </a:r>
          </a:p>
          <a:p>
            <a:pPr marL="285750" indent="-285750">
              <a:buFont typeface="Arial" panose="020B0604020202020204" pitchFamily="34" charset="0"/>
              <a:buChar char="•"/>
            </a:pPr>
            <a:r>
              <a:rPr lang="en-US" sz="3200" b="1" i="0" dirty="0">
                <a:solidFill>
                  <a:srgbClr val="FF0000"/>
                </a:solidFill>
                <a:effectLst/>
                <a:latin typeface="Söhne"/>
              </a:rPr>
              <a:t>Health Risks</a:t>
            </a:r>
            <a:r>
              <a:rPr lang="en-US" sz="3200" b="0" i="0" dirty="0">
                <a:solidFill>
                  <a:srgbClr val="374151"/>
                </a:solidFill>
                <a:effectLst/>
                <a:latin typeface="Söhne"/>
              </a:rPr>
              <a:t>: Tobacco use is strongly linked to numerous </a:t>
            </a:r>
            <a:r>
              <a:rPr lang="en-US" sz="3200" b="1" i="0" dirty="0">
                <a:solidFill>
                  <a:srgbClr val="374151"/>
                </a:solidFill>
                <a:effectLst/>
                <a:latin typeface="Söhne"/>
              </a:rPr>
              <a:t>health risks</a:t>
            </a:r>
            <a:r>
              <a:rPr lang="en-US" sz="3200" b="0" i="0" dirty="0">
                <a:solidFill>
                  <a:srgbClr val="374151"/>
                </a:solidFill>
                <a:effectLst/>
                <a:latin typeface="Söhne"/>
              </a:rPr>
              <a:t>, including several types of cancer (</a:t>
            </a:r>
            <a:r>
              <a:rPr lang="en-US" sz="3200" b="1" i="0" dirty="0">
                <a:solidFill>
                  <a:srgbClr val="0070C0"/>
                </a:solidFill>
                <a:effectLst/>
                <a:latin typeface="Söhne"/>
              </a:rPr>
              <a:t>such as lung, throat, mouth, and pancreatic cancer</a:t>
            </a:r>
            <a:r>
              <a:rPr lang="en-US" sz="3200" b="0" i="0" dirty="0">
                <a:solidFill>
                  <a:srgbClr val="374151"/>
                </a:solidFill>
                <a:effectLst/>
                <a:latin typeface="Söhne"/>
              </a:rPr>
              <a:t>), </a:t>
            </a:r>
            <a:r>
              <a:rPr lang="en-US" sz="3200" b="1" i="0" dirty="0">
                <a:solidFill>
                  <a:srgbClr val="374151"/>
                </a:solidFill>
                <a:effectLst/>
                <a:latin typeface="Söhne"/>
              </a:rPr>
              <a:t>cardiovascular diseases </a:t>
            </a:r>
            <a:r>
              <a:rPr lang="en-US" sz="3200" b="0" i="0" dirty="0">
                <a:solidFill>
                  <a:srgbClr val="374151"/>
                </a:solidFill>
                <a:effectLst/>
                <a:latin typeface="Söhne"/>
              </a:rPr>
              <a:t>(including heart disease and </a:t>
            </a:r>
            <a:r>
              <a:rPr lang="en-US" sz="3200" b="1" i="0" dirty="0">
                <a:solidFill>
                  <a:srgbClr val="374151"/>
                </a:solidFill>
                <a:effectLst/>
                <a:latin typeface="Söhne"/>
              </a:rPr>
              <a:t>stroke</a:t>
            </a:r>
            <a:r>
              <a:rPr lang="en-US" sz="3200" b="0" i="0" dirty="0">
                <a:solidFill>
                  <a:srgbClr val="374151"/>
                </a:solidFill>
                <a:effectLst/>
                <a:latin typeface="Söhne"/>
              </a:rPr>
              <a:t>), </a:t>
            </a:r>
            <a:r>
              <a:rPr lang="en-US" sz="3200" b="1" i="0" dirty="0">
                <a:solidFill>
                  <a:srgbClr val="C00000"/>
                </a:solidFill>
                <a:effectLst/>
                <a:latin typeface="Söhne"/>
              </a:rPr>
              <a:t>respiratory conditions </a:t>
            </a:r>
            <a:r>
              <a:rPr lang="en-US" sz="3200" b="0" i="0" dirty="0">
                <a:solidFill>
                  <a:srgbClr val="374151"/>
                </a:solidFill>
                <a:effectLst/>
                <a:latin typeface="Söhne"/>
              </a:rPr>
              <a:t>(such as chronic obstructive pulmonary disease - COPD), and other serious health problems.</a:t>
            </a:r>
            <a:endParaRPr lang="en-US" sz="3200" dirty="0"/>
          </a:p>
        </p:txBody>
      </p:sp>
    </p:spTree>
    <p:extLst>
      <p:ext uri="{BB962C8B-B14F-4D97-AF65-F5344CB8AC3E}">
        <p14:creationId xmlns:p14="http://schemas.microsoft.com/office/powerpoint/2010/main" val="30280621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AD00F-9462-4E91-2D8F-B19C78843A12}"/>
              </a:ext>
            </a:extLst>
          </p:cNvPr>
          <p:cNvSpPr>
            <a:spLocks noGrp="1"/>
          </p:cNvSpPr>
          <p:nvPr>
            <p:ph type="title"/>
          </p:nvPr>
        </p:nvSpPr>
        <p:spPr/>
        <p:txBody>
          <a:bodyPr>
            <a:normAutofit/>
          </a:bodyPr>
          <a:lstStyle/>
          <a:p>
            <a:r>
              <a:rPr lang="en-US" sz="4000" b="1" dirty="0">
                <a:solidFill>
                  <a:srgbClr val="FF0000"/>
                </a:solidFill>
                <a:latin typeface="Arial Black" panose="020B0A04020102020204" pitchFamily="34" charset="0"/>
              </a:rPr>
              <a:t>True balance in living</a:t>
            </a:r>
          </a:p>
        </p:txBody>
      </p:sp>
      <p:sp>
        <p:nvSpPr>
          <p:cNvPr id="4" name="TextBox 3">
            <a:extLst>
              <a:ext uri="{FF2B5EF4-FFF2-40B4-BE49-F238E27FC236}">
                <a16:creationId xmlns:a16="http://schemas.microsoft.com/office/drawing/2014/main" id="{45B06ADE-B7E3-019B-4386-54DAA06CD91D}"/>
              </a:ext>
            </a:extLst>
          </p:cNvPr>
          <p:cNvSpPr txBox="1"/>
          <p:nvPr/>
        </p:nvSpPr>
        <p:spPr>
          <a:xfrm>
            <a:off x="149361" y="1853754"/>
            <a:ext cx="11841533" cy="2554545"/>
          </a:xfrm>
          <a:prstGeom prst="rect">
            <a:avLst/>
          </a:prstGeom>
          <a:noFill/>
        </p:spPr>
        <p:txBody>
          <a:bodyPr wrap="square">
            <a:spAutoFit/>
          </a:bodyPr>
          <a:lstStyle/>
          <a:p>
            <a:pPr marL="571500" indent="-571500">
              <a:buFont typeface="Arial" panose="020B0604020202020204" pitchFamily="34" charset="0"/>
              <a:buChar char="•"/>
            </a:pPr>
            <a:r>
              <a:rPr lang="en-US" sz="4000" b="0" i="0" dirty="0">
                <a:solidFill>
                  <a:srgbClr val="374151"/>
                </a:solidFill>
                <a:effectLst/>
                <a:latin typeface="Söhne"/>
              </a:rPr>
              <a:t>True balance in living refers to </a:t>
            </a:r>
            <a:r>
              <a:rPr lang="en-US" sz="4000" b="1" i="0" dirty="0">
                <a:solidFill>
                  <a:srgbClr val="FF0000"/>
                </a:solidFill>
                <a:effectLst/>
                <a:latin typeface="Söhne"/>
              </a:rPr>
              <a:t>achieving a state of equilibrium and harmony </a:t>
            </a:r>
            <a:r>
              <a:rPr lang="en-US" sz="4000" b="0" i="0" dirty="0">
                <a:solidFill>
                  <a:srgbClr val="374151"/>
                </a:solidFill>
                <a:effectLst/>
                <a:latin typeface="Söhne"/>
              </a:rPr>
              <a:t>across different aspects of life, such as work, relationships, personal well-being, and leisure (enjoyment).</a:t>
            </a:r>
            <a:endParaRPr lang="en-US" sz="4000" dirty="0"/>
          </a:p>
        </p:txBody>
      </p:sp>
    </p:spTree>
    <p:extLst>
      <p:ext uri="{BB962C8B-B14F-4D97-AF65-F5344CB8AC3E}">
        <p14:creationId xmlns:p14="http://schemas.microsoft.com/office/powerpoint/2010/main" val="39468361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1FE92-1BCD-D236-3827-AE2A8F3C65FA}"/>
              </a:ext>
            </a:extLst>
          </p:cNvPr>
          <p:cNvSpPr>
            <a:spLocks noGrp="1"/>
          </p:cNvSpPr>
          <p:nvPr>
            <p:ph type="title"/>
          </p:nvPr>
        </p:nvSpPr>
        <p:spPr/>
        <p:txBody>
          <a:bodyPr/>
          <a:lstStyle/>
          <a:p>
            <a:pPr algn="ctr"/>
            <a:r>
              <a:rPr lang="en-US" dirty="0"/>
              <a:t>Cont’d...</a:t>
            </a:r>
          </a:p>
        </p:txBody>
      </p:sp>
      <p:sp>
        <p:nvSpPr>
          <p:cNvPr id="4" name="TextBox 3">
            <a:extLst>
              <a:ext uri="{FF2B5EF4-FFF2-40B4-BE49-F238E27FC236}">
                <a16:creationId xmlns:a16="http://schemas.microsoft.com/office/drawing/2014/main" id="{7D0B8DA7-034A-579F-9D65-3FA6D286E31E}"/>
              </a:ext>
            </a:extLst>
          </p:cNvPr>
          <p:cNvSpPr txBox="1"/>
          <p:nvPr/>
        </p:nvSpPr>
        <p:spPr>
          <a:xfrm>
            <a:off x="242740" y="1853754"/>
            <a:ext cx="11738728" cy="3170099"/>
          </a:xfrm>
          <a:prstGeom prst="rect">
            <a:avLst/>
          </a:prstGeom>
          <a:noFill/>
        </p:spPr>
        <p:txBody>
          <a:bodyPr wrap="square">
            <a:spAutoFit/>
          </a:bodyPr>
          <a:lstStyle/>
          <a:p>
            <a:pPr marL="571500" indent="-571500">
              <a:buFont typeface="Arial" panose="020B0604020202020204" pitchFamily="34" charset="0"/>
              <a:buChar char="•"/>
            </a:pPr>
            <a:r>
              <a:rPr lang="en-US" sz="4000" b="1" i="0" dirty="0">
                <a:solidFill>
                  <a:srgbClr val="FF0000"/>
                </a:solidFill>
                <a:effectLst/>
                <a:latin typeface="Söhne"/>
              </a:rPr>
              <a:t>Time Management</a:t>
            </a:r>
            <a:r>
              <a:rPr lang="en-US" sz="4000" b="0" i="0" dirty="0">
                <a:solidFill>
                  <a:srgbClr val="374151"/>
                </a:solidFill>
                <a:effectLst/>
                <a:latin typeface="Söhne"/>
              </a:rPr>
              <a:t>: Effectively </a:t>
            </a:r>
            <a:r>
              <a:rPr lang="en-US" sz="4000" b="1" i="0" dirty="0">
                <a:solidFill>
                  <a:srgbClr val="7030A0"/>
                </a:solidFill>
                <a:effectLst/>
                <a:latin typeface="Söhne"/>
              </a:rPr>
              <a:t>managing your time can contribute to a sense of balance</a:t>
            </a:r>
            <a:r>
              <a:rPr lang="en-US" sz="4000" b="0" i="0" dirty="0">
                <a:solidFill>
                  <a:srgbClr val="374151"/>
                </a:solidFill>
                <a:effectLst/>
                <a:latin typeface="Söhne"/>
              </a:rPr>
              <a:t>. </a:t>
            </a:r>
          </a:p>
          <a:p>
            <a:pPr marL="571500" indent="-571500">
              <a:buFont typeface="Arial" panose="020B0604020202020204" pitchFamily="34" charset="0"/>
              <a:buChar char="•"/>
            </a:pPr>
            <a:r>
              <a:rPr lang="en-US" sz="4000" b="1" i="0" dirty="0">
                <a:solidFill>
                  <a:srgbClr val="374151"/>
                </a:solidFill>
                <a:effectLst/>
                <a:latin typeface="Söhne"/>
              </a:rPr>
              <a:t>Prioritize tasks</a:t>
            </a:r>
            <a:r>
              <a:rPr lang="en-US" sz="4000" b="0" i="0" dirty="0">
                <a:solidFill>
                  <a:srgbClr val="374151"/>
                </a:solidFill>
                <a:effectLst/>
                <a:latin typeface="Söhne"/>
              </a:rPr>
              <a:t>, set realistic goals, and practice time-blocking techniques </a:t>
            </a:r>
            <a:r>
              <a:rPr lang="en-US" sz="4000" b="1" i="0" dirty="0">
                <a:solidFill>
                  <a:srgbClr val="374151"/>
                </a:solidFill>
                <a:effectLst/>
                <a:latin typeface="Söhne"/>
              </a:rPr>
              <a:t>to ensure a healthy distribution of your time and energy across different activities</a:t>
            </a:r>
            <a:r>
              <a:rPr lang="en-US" sz="4000" b="0" i="0" dirty="0">
                <a:solidFill>
                  <a:srgbClr val="374151"/>
                </a:solidFill>
                <a:effectLst/>
                <a:latin typeface="Söhne"/>
              </a:rPr>
              <a:t>. </a:t>
            </a:r>
          </a:p>
        </p:txBody>
      </p:sp>
    </p:spTree>
    <p:extLst>
      <p:ext uri="{BB962C8B-B14F-4D97-AF65-F5344CB8AC3E}">
        <p14:creationId xmlns:p14="http://schemas.microsoft.com/office/powerpoint/2010/main" val="163431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A0755-4680-0EE1-4FF2-225F5DC7F7AD}"/>
              </a:ext>
            </a:extLst>
          </p:cNvPr>
          <p:cNvSpPr>
            <a:spLocks noGrp="1"/>
          </p:cNvSpPr>
          <p:nvPr>
            <p:ph type="title"/>
          </p:nvPr>
        </p:nvSpPr>
        <p:spPr/>
        <p:txBody>
          <a:bodyPr/>
          <a:lstStyle/>
          <a:p>
            <a:pPr algn="ctr"/>
            <a:r>
              <a:rPr lang="en-US" dirty="0"/>
              <a:t>Cont’d...</a:t>
            </a:r>
          </a:p>
        </p:txBody>
      </p:sp>
      <p:sp>
        <p:nvSpPr>
          <p:cNvPr id="4" name="TextBox 3">
            <a:extLst>
              <a:ext uri="{FF2B5EF4-FFF2-40B4-BE49-F238E27FC236}">
                <a16:creationId xmlns:a16="http://schemas.microsoft.com/office/drawing/2014/main" id="{89AB2D8C-7283-2414-D9F7-F25BDBEC7880}"/>
              </a:ext>
            </a:extLst>
          </p:cNvPr>
          <p:cNvSpPr txBox="1"/>
          <p:nvPr/>
        </p:nvSpPr>
        <p:spPr>
          <a:xfrm>
            <a:off x="318154" y="1956310"/>
            <a:ext cx="11569045" cy="3970318"/>
          </a:xfrm>
          <a:prstGeom prst="rect">
            <a:avLst/>
          </a:prstGeom>
          <a:noFill/>
        </p:spPr>
        <p:txBody>
          <a:bodyPr wrap="square">
            <a:spAutoFit/>
          </a:bodyPr>
          <a:lstStyle/>
          <a:p>
            <a:pPr marL="285750" indent="-285750">
              <a:buFont typeface="Arial" panose="020B0604020202020204" pitchFamily="34" charset="0"/>
              <a:buChar char="•"/>
            </a:pPr>
            <a:r>
              <a:rPr lang="en-US" sz="3600" b="1" i="0" dirty="0">
                <a:solidFill>
                  <a:srgbClr val="7030A0"/>
                </a:solidFill>
                <a:effectLst/>
                <a:latin typeface="Söhne"/>
              </a:rPr>
              <a:t>Prioritization</a:t>
            </a:r>
            <a:r>
              <a:rPr lang="en-US" sz="3600" b="0" i="0" dirty="0">
                <a:solidFill>
                  <a:srgbClr val="374151"/>
                </a:solidFill>
                <a:effectLst/>
                <a:latin typeface="Söhne"/>
              </a:rPr>
              <a:t>: Identifying and prioritizing your values and goals can guide you in making decisions and allocating time and energy to the areas that matter most to you. </a:t>
            </a:r>
          </a:p>
          <a:p>
            <a:pPr marL="285750" indent="-285750">
              <a:buFont typeface="Arial" panose="020B0604020202020204" pitchFamily="34" charset="0"/>
              <a:buChar char="•"/>
            </a:pPr>
            <a:r>
              <a:rPr lang="en-US" sz="3600" b="1" i="0" dirty="0">
                <a:solidFill>
                  <a:srgbClr val="7030A0"/>
                </a:solidFill>
                <a:effectLst/>
                <a:latin typeface="Söhne"/>
              </a:rPr>
              <a:t>Flexibility and Adaptability</a:t>
            </a:r>
            <a:r>
              <a:rPr lang="en-US" sz="3600" b="0" i="0" dirty="0">
                <a:solidFill>
                  <a:srgbClr val="374151"/>
                </a:solidFill>
                <a:effectLst/>
                <a:latin typeface="Söhne"/>
              </a:rPr>
              <a:t>: </a:t>
            </a:r>
            <a:r>
              <a:rPr lang="en-US" sz="3600" b="1" i="0" dirty="0">
                <a:solidFill>
                  <a:srgbClr val="374151"/>
                </a:solidFill>
                <a:effectLst/>
                <a:latin typeface="Söhne"/>
              </a:rPr>
              <a:t>Life is dynamic, and circumstances may change</a:t>
            </a:r>
            <a:r>
              <a:rPr lang="en-US" sz="3600" b="0" i="0">
                <a:solidFill>
                  <a:srgbClr val="374151"/>
                </a:solidFill>
                <a:effectLst/>
                <a:latin typeface="Söhne"/>
              </a:rPr>
              <a:t>. </a:t>
            </a:r>
          </a:p>
          <a:p>
            <a:pPr marL="285750" indent="-285750">
              <a:buFont typeface="Arial" panose="020B0604020202020204" pitchFamily="34" charset="0"/>
              <a:buChar char="•"/>
            </a:pPr>
            <a:r>
              <a:rPr lang="en-US" sz="3600" b="0" i="0">
                <a:solidFill>
                  <a:srgbClr val="374151"/>
                </a:solidFill>
                <a:effectLst/>
                <a:latin typeface="Söhne"/>
              </a:rPr>
              <a:t>Cultivating </a:t>
            </a:r>
            <a:r>
              <a:rPr lang="en-US" sz="3600" b="0" i="0" dirty="0">
                <a:solidFill>
                  <a:srgbClr val="374151"/>
                </a:solidFill>
                <a:effectLst/>
                <a:latin typeface="Söhne"/>
              </a:rPr>
              <a:t>flexibility and adaptability can help you navigate unexpected challenges and transitions.</a:t>
            </a:r>
            <a:endParaRPr lang="en-US" sz="3600" dirty="0"/>
          </a:p>
        </p:txBody>
      </p:sp>
    </p:spTree>
    <p:extLst>
      <p:ext uri="{BB962C8B-B14F-4D97-AF65-F5344CB8AC3E}">
        <p14:creationId xmlns:p14="http://schemas.microsoft.com/office/powerpoint/2010/main" val="5218588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84C594-8186-31C7-7BF4-914C59ACA085}"/>
              </a:ext>
            </a:extLst>
          </p:cNvPr>
          <p:cNvPicPr>
            <a:picLocks noChangeAspect="1"/>
          </p:cNvPicPr>
          <p:nvPr/>
        </p:nvPicPr>
        <p:blipFill>
          <a:blip r:embed="rId2"/>
          <a:stretch>
            <a:fillRect/>
          </a:stretch>
        </p:blipFill>
        <p:spPr>
          <a:xfrm>
            <a:off x="0" y="-65988"/>
            <a:ext cx="12191999" cy="6923988"/>
          </a:xfrm>
          <a:prstGeom prst="rect">
            <a:avLst/>
          </a:prstGeom>
        </p:spPr>
      </p:pic>
    </p:spTree>
    <p:extLst>
      <p:ext uri="{BB962C8B-B14F-4D97-AF65-F5344CB8AC3E}">
        <p14:creationId xmlns:p14="http://schemas.microsoft.com/office/powerpoint/2010/main" val="278274714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1429</TotalTime>
  <Words>4372</Words>
  <Application>Microsoft Office PowerPoint</Application>
  <PresentationFormat>Widescreen</PresentationFormat>
  <Paragraphs>264</Paragraphs>
  <Slides>60</Slides>
  <Notes>0</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60</vt:i4>
      </vt:variant>
    </vt:vector>
  </HeadingPairs>
  <TitlesOfParts>
    <vt:vector size="79" baseType="lpstr">
      <vt:lpstr>Aharoni</vt:lpstr>
      <vt:lpstr>AktivGrotesk</vt:lpstr>
      <vt:lpstr>Arial</vt:lpstr>
      <vt:lpstr>Arial</vt:lpstr>
      <vt:lpstr>Arial Black</vt:lpstr>
      <vt:lpstr>Century Gothic</vt:lpstr>
      <vt:lpstr>docs-Calibri</vt:lpstr>
      <vt:lpstr>FS Albert Extra Bold</vt:lpstr>
      <vt:lpstr>Gill Sans MT</vt:lpstr>
      <vt:lpstr>Google Sans</vt:lpstr>
      <vt:lpstr>Merriweather</vt:lpstr>
      <vt:lpstr>Roboto</vt:lpstr>
      <vt:lpstr>Söhne</vt:lpstr>
      <vt:lpstr>system-ui</vt:lpstr>
      <vt:lpstr>Times New Roman</vt:lpstr>
      <vt:lpstr>ui-sans-serif</vt:lpstr>
      <vt:lpstr>Verdana</vt:lpstr>
      <vt:lpstr>Wingdings</vt:lpstr>
      <vt:lpstr>Gallery</vt:lpstr>
      <vt:lpstr>Belief </vt:lpstr>
      <vt:lpstr> belief (Hebrews 11:30)</vt:lpstr>
      <vt:lpstr>Cont’d...</vt:lpstr>
      <vt:lpstr> Power of belief</vt:lpstr>
      <vt:lpstr> Cont’d...</vt:lpstr>
      <vt:lpstr> Cont’d...</vt:lpstr>
      <vt:lpstr> Improved quality of life</vt:lpstr>
      <vt:lpstr> Cont’d...</vt:lpstr>
      <vt:lpstr> Cont’d...</vt:lpstr>
      <vt:lpstr> Stress issues</vt:lpstr>
      <vt:lpstr> Benefits of prayer</vt:lpstr>
      <vt:lpstr>Spiritual and moral values</vt:lpstr>
      <vt:lpstr>Peace of mind</vt:lpstr>
      <vt:lpstr>Cont’d...</vt:lpstr>
      <vt:lpstr>Rest</vt:lpstr>
      <vt:lpstr>Sleep deprivation:  </vt:lpstr>
      <vt:lpstr>Cont’d...</vt:lpstr>
      <vt:lpstr>sleep debt or sleep deficit</vt:lpstr>
      <vt:lpstr>Cont’d...</vt:lpstr>
      <vt:lpstr>PowerPoint Presentation</vt:lpstr>
      <vt:lpstr>How much sleep do we need</vt:lpstr>
      <vt:lpstr>Stages of sleep</vt:lpstr>
      <vt:lpstr>Cont’d...</vt:lpstr>
      <vt:lpstr>PowerPoint Presentation</vt:lpstr>
      <vt:lpstr>PowerPoint Presentation</vt:lpstr>
      <vt:lpstr>NREM Stage 1 </vt:lpstr>
      <vt:lpstr>NREM Stage 2 </vt:lpstr>
      <vt:lpstr>NREM Stage 3 </vt:lpstr>
      <vt:lpstr>Stage 4: REM Sleep </vt:lpstr>
      <vt:lpstr>Cont’d...</vt:lpstr>
      <vt:lpstr>STEPS TO GETTING A GOOD NIGHT SLEEP </vt:lpstr>
      <vt:lpstr>Cont’d...</vt:lpstr>
      <vt:lpstr>WEEKLY AND ANNUAL REST.</vt:lpstr>
      <vt:lpstr>Air</vt:lpstr>
      <vt:lpstr>How does air work?</vt:lpstr>
      <vt:lpstr>Cont’d...</vt:lpstr>
      <vt:lpstr>Cont’d...</vt:lpstr>
      <vt:lpstr>How does exercise change things</vt:lpstr>
      <vt:lpstr>Do not skimp (hesitate) on quality </vt:lpstr>
      <vt:lpstr>Cont’d...</vt:lpstr>
      <vt:lpstr>Protecting our interest </vt:lpstr>
      <vt:lpstr>Air pollution</vt:lpstr>
      <vt:lpstr>Cont’d...</vt:lpstr>
      <vt:lpstr>Cont’d...</vt:lpstr>
      <vt:lpstr>In the beginning</vt:lpstr>
      <vt:lpstr>temperance</vt:lpstr>
      <vt:lpstr>Cont’d...</vt:lpstr>
      <vt:lpstr>The meaning of temperance</vt:lpstr>
      <vt:lpstr>Alcohol consumption and global health</vt:lpstr>
      <vt:lpstr>Risks of Alcohol addiction</vt:lpstr>
      <vt:lpstr>Alcohol and cancer </vt:lpstr>
      <vt:lpstr>Alcohol and society</vt:lpstr>
      <vt:lpstr>Alcohol and heart health</vt:lpstr>
      <vt:lpstr>Cont’d...</vt:lpstr>
      <vt:lpstr>Cont’d...</vt:lpstr>
      <vt:lpstr>Killer tobacco</vt:lpstr>
      <vt:lpstr>True balance in living</vt:lpstr>
      <vt:lpstr>Cont’d...</vt:lpstr>
      <vt:lpstr>Cont’d...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Belief </dc:title>
  <dc:creator>Joseph Mucumbitsi</dc:creator>
  <cp:lastModifiedBy>Joseph Mucumbitsi</cp:lastModifiedBy>
  <cp:revision>26</cp:revision>
  <dcterms:created xsi:type="dcterms:W3CDTF">2023-07-06T14:17:28Z</dcterms:created>
  <dcterms:modified xsi:type="dcterms:W3CDTF">2025-06-28T16:27:41Z</dcterms:modified>
</cp:coreProperties>
</file>